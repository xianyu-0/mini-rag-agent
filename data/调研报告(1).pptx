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sldIdLst>
    <p:sldId id="283" r:id="rId3"/>
    <p:sldId id="285" r:id="rId4"/>
    <p:sldId id="264" r:id="rId5"/>
    <p:sldId id="257" r:id="rId6"/>
    <p:sldId id="258" r:id="rId8"/>
    <p:sldId id="259" r:id="rId9"/>
    <p:sldId id="260" r:id="rId10"/>
    <p:sldId id="266" r:id="rId11"/>
    <p:sldId id="262" r:id="rId12"/>
    <p:sldId id="286" r:id="rId13"/>
    <p:sldId id="276" r:id="rId14"/>
    <p:sldId id="277" r:id="rId15"/>
    <p:sldId id="278" r:id="rId16"/>
    <p:sldId id="279" r:id="rId17"/>
    <p:sldId id="280" r:id="rId18"/>
    <p:sldId id="281" r:id="rId19"/>
    <p:sldId id="282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3" userDrawn="1">
          <p15:clr>
            <a:srgbClr val="A4A3A4"/>
          </p15:clr>
        </p15:guide>
        <p15:guide id="2" pos="292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33"/>
        <p:guide pos="292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commentAuthors" Target="comment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现有服务运作：利益相关方关系图（矢量重构）。中心为幻衣服务系统（AI 虚拟试穿＋数据闭环），六方利益相关者围绕：消费者（提供自拍图与试穿行为数据脱敏，获得真实上身效果与尺码推荐）、体验设计师/企业（提供设计稿与商品图，获得试穿偏好数据与虚拟版型验证）、技术提供方（提供 AI 算法/3D 渲染/硬件，获得技术授权收入与硬件销售）、平台/品牌（提供商品库与流量入口，获得退货率降低与转化率提升）、政府/监管（提供政策支持与数据合规指导，获得行业可持续与减少资源浪费）、环保组织（倡导减少面料浪费与碳减排，获得减少碳排放与可持续时尚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问题分析发现：三方痛点结构化——消费者（尺码不合占退货 60%/模特图无法参考/退货成本高/常买两码）、实体门店（试衣间排队 23 人/镜面有限无法对比/45% 弃购/转而网购同款）、设计师（打样占研发 35% 以上/一轮一周改 2–3 轮/凭经验判版型/缺数据库存积压）。收敛至结构性矛盾：三方共同指向决策依据缺失。设计机会点六项。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调研方法：三角互证——深度访谈（6 人 12 场：小美/小丽/小张各 2 人，半结构化聚焦试衣决策与退货体验）、实地观察（3 场景 8 小时：门店试衣间/设计师工作室/网购退货拆箱）、问卷量化（152 份：18–35 岁女性与独立设计师，量化退货率/排队时长/打样成本/试穿满意度）。关键发现：退货率超 60% 且尺码不合为首因/45% 弃购/打样占研发 35%+/库存周转 390 天/三方共同指向决策依据缺失。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用户画像：三类核心用户——小美（20 岁大学生，尺码焦虑/图文落差/低耐心；需求：找到合适尺码/真实上身参考/面料展示/多件快速对比；痛点：尺码不合/图实差距/退货成本高/选择成本高；偏好：翻买家秀找身材相近参考/同时买两码退不合适/买运费险/直接放弃换店；媒介：淘宝天猫京东拼多多抖音电商/小红书抖音穿搭博主/买家秀尺码表评论区客服问答；场景：晚上躺床刷手机下单/宿舍拆快递试穿退货/通勤浏览收藏等大促集中购买）；小丽（25 岁上班族，冲动型与体验型/注重面料质感/易因试穿麻烦放弃；需求：快速试穿多件/方便对比款式/减少排队等待；痛点：试衣间排队/试穿效率低/镜子少光线差/无法多件对比；偏好：拿多件进试衣间快速换穿/手机拍镜子发朋友问/试完不买回家网购同款/直接放弃去下一家；媒介：小红书抖音大众点评看店铺推荐/门店实物试衣间镜子/手机拍照问朋友对比线上价格；场景：周末和闺蜜逛商场进店挑选/试衣间排队拿几件试外面有人催/试完不满意直接离开或勉强买一件）；小张（28 岁独立设计师/淘宝店主，注重效率/成本敏感/凭经验决策；需求：减少打样轮次/提前判断版型/了解消费者偏好/降低库存风险；痛点：打样成本占比高/打样周期长/库存积压/缺试穿数据；偏好：关注趋势资讯/使用 AI 设计工具/参加面料展会/设计师社群交流；媒介：手绘稿 PS/AI Style3D 等 3D 软件/面料市场打版房样衣工/淘宝店微信私域小红书引流；场景：工作室画设计稿凭经验判版型/去面料市场选料找打版房打样/等一周拿样衣试穿后修改/上架看销售数据滞销就清仓）。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价值分析：利益相关方价值矩阵（矢量重构）。六方价值交换——消费者（提供自拍图与试穿数据脱敏，获得真实上身效果与尺码推荐）、设计师/企业（提供设计稿与商品图，获得试穿偏好数据与版型验证）、平台/品牌（提供商品库与流量入口，获得退货率降低与转化提升）、技术提供方（提供 AI 算法/3D 渲染/硬件，获得技术授权与硬件销售）、政府/监管（提供政策支持与合规指导，获得行业可持续与减少浪费）、环保组织（倡导减面料浪费与碳减排，获得减少碳排放与可持续时尚）。需求总结 R1–R10：真实上身效果/尺码智能推荐/多件快速对比/面料垂感展示/不换衣试穿/虚拟版型验证/试穿数据回流/快速迭代/数据闭环/低成本落地。价值判断：消费者（决策有依据/降退货/省时间/真实感）、设计师（省打样/快速验证/数据驱动/降库存）、平台（获客/转化率/粘性/数据资产）、社会（减面料浪费/降碳排放/可持续时尚）。结论：以 AI 试穿引擎为核心满足 R1–R10，形成 C→B 数据闭环，兼顾商业价值与社会可持续性。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问题转化: 三类用户痛点完整梳理——小美网购(退货&gt;60%/版型差异盲选/图实差距大)、小丽实体(试衣间排队/体力耗尽/无法多件对比)、小张设计师(打样36元起/凭经验判版/缺数据库存压)。六大机遇O1-O6含完整说明。四象限每象限附文字解释。底部设计推导说明以O1引擎为枢纽形成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服务蓝图: 6阶段(进店浏览/扫码识别/身材录入/AI试穿/对比选款/下单支付) × 5层(用户行为/前台触点/后台系统/AI引擎/数据层), 每格填写完整流程描述。AI引擎层用深蓝高亮标注核心作用。底部流程解读文本说明AI引擎在第04阶段达价值峰值, 数据层第06阶段沉淀回流。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商业模式: 三圆(C端消费者/B端设计师品牌/平台品牌方), 交集盈利: C∩技术=SaaS授权, B∩技术=设备分润, C∩B=交易佣金, 中心=数据闭环多元变现。利益相关者图谱5方(用户/品牌方/算法供应商/门店导购/物流方), 连线附文字注解。底部社会价值(减浪费可持续)与商业约束(准确率/隐私/成本/分润)。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故事版四幕含完整剧情、用户心理、行为动机、设计洞察: ①逛街发愁→②扫码上传→③AI一键试穿→④线上下单。右侧用户原声与项目效益数据(退货率降19.6pp/打样降&gt;50%/周期降&gt;99%/周转升&gt;40%)。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服务模型: 等轴测三层(应用层/引擎层/数据层)每层4模块+功能说明。数据流动闭环5步(消费者试穿→数据脱敏→回流设计师→驱动设计→回到消费者)。全量KPI: 试穿生成&lt;10s(低于注意力阈值)/数据延迟&lt;5min/尺码准确&gt;85%(降退货)/数据回流&gt;60%(闭环)/上身还原&gt;90%(建信任)。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APP产品机会(功能模块卡片, 无手机样机): 核心能力横条 + F1-F6功能拆解模块(核心/辅助标签+描述)。三卡: MVP取舍(F1/F3/F2首版必做, F4/F5/F6暂缓)、用户价值(决策有依据/省时间/降退货/真实感)、商业收益(C端获客/B端SaaS/佣金/硬件)。底部功能优先级矩阵(F1-F6气泡)。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硬件说明(仅智能试衣镜, 已删除智能挂衣架全部内容): 形态(55寸立式落地屏, 整机高180cm); 硬件参数(4K半透显示/RGB+深度摄像头/6核处理器/8GB内存); CMF(哑光白机身+蓝灰磨砂操作面板, 阳极氧化铝边框); 交互(手势+语音+触屏); 成本(&lt;1000元/台对比机柜6-9K); 场景(快时尚门店/商场中庭/品牌快闪); 局限(占地大无法进卧室, 需网络稳定); 优化(桌面款缩小形态, 离线缓存)。底部落地可行性文字。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0" name="Picture 25" descr="cover_hero.jpg"/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3492500" y="0"/>
            <a:ext cx="5896610" cy="4676775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15200" y="3909060"/>
            <a:ext cx="1463040" cy="1463040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20370" y="5473065"/>
            <a:ext cx="1828800" cy="1828800"/>
          </a:xfrm>
          <a:prstGeom prst="ellipse">
            <a:avLst/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0" y="5943600"/>
            <a:ext cx="320040" cy="320040"/>
          </a:xfrm>
          <a:prstGeom prst="ellipse">
            <a:avLst/>
          </a:prstGeom>
          <a:solidFill>
            <a:srgbClr val="6A9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457200" y="1097280"/>
            <a:ext cx="1828800" cy="0"/>
          </a:xfrm>
          <a:prstGeom prst="line">
            <a:avLst/>
          </a:prstGeom>
          <a:ln>
            <a:solidFill>
              <a:srgbClr val="4E72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57200" y="4754880"/>
            <a:ext cx="3200400" cy="0"/>
          </a:xfrm>
          <a:prstGeom prst="line">
            <a:avLst/>
          </a:prstGeom>
          <a:ln>
            <a:solidFill>
              <a:srgbClr val="6A92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86450" y="6149340"/>
            <a:ext cx="2468880" cy="0"/>
          </a:xfrm>
          <a:prstGeom prst="line">
            <a:avLst/>
          </a:prstGeom>
          <a:ln>
            <a:solidFill>
              <a:srgbClr val="6A92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57200" y="457200"/>
            <a:ext cx="54864" cy="502920"/>
          </a:xfrm>
          <a:prstGeom prst="rect">
            <a:avLst/>
          </a:prstGeom>
          <a:solidFill>
            <a:srgbClr val="4E7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371600"/>
            <a:ext cx="5486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0" b="1">
                <a:solidFill>
                  <a:srgbClr val="2C4A6E"/>
                </a:solidFill>
                <a:latin typeface="微软雅黑" panose="020B0503020204020204" charset="-122"/>
              </a:rPr>
              <a:t>幻衣</a:t>
            </a:r>
            <a:endParaRPr sz="8800" b="1">
              <a:solidFill>
                <a:srgbClr val="2C4A6E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30175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E729E"/>
                </a:solidFill>
                <a:latin typeface="微软雅黑" panose="020B0503020204020204" charset="-122"/>
              </a:rPr>
              <a:t>HUANYI  ·  AI Virtual Fitting Mirror</a:t>
            </a:r>
            <a:endParaRPr sz="1100" b="1">
              <a:solidFill>
                <a:srgbClr val="4E729E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2920" y="342900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42A33"/>
                </a:solidFill>
                <a:latin typeface="微软雅黑" panose="020B0503020204020204" charset="-122"/>
              </a:rPr>
              <a:t>基于 AIGC 的智能虚拟试衣服务系统设计</a:t>
            </a:r>
            <a:endParaRPr sz="1050" b="0">
              <a:solidFill>
                <a:srgbClr val="242A33"/>
              </a:solidFill>
              <a:latin typeface="微软雅黑" panose="020B0503020204020204" charset="-122"/>
            </a:endParaRPr>
          </a:p>
          <a:p>
            <a:pPr algn="l"/>
            <a:r>
              <a:rPr sz="1050" b="0">
                <a:solidFill>
                  <a:srgbClr val="242A33"/>
                </a:solidFill>
                <a:latin typeface="微软雅黑" panose="020B0503020204020204" charset="-122"/>
              </a:rPr>
              <a:t>面向 C 端消费者与 B 端设计师的双向价值闭环</a:t>
            </a:r>
            <a:endParaRPr sz="1050" b="0">
              <a:solidFill>
                <a:srgbClr val="242A33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44348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A92B8"/>
                </a:solidFill>
                <a:latin typeface="微软雅黑" panose="020B0503020204020204" charset="-122"/>
              </a:rPr>
              <a:t>SERVICE DESIGN PORTFOLIO</a:t>
            </a:r>
            <a:endParaRPr sz="900" b="1">
              <a:solidFill>
                <a:srgbClr val="6A92B8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 rot="120000">
            <a:off x="6217920" y="4274820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E729E"/>
                </a:solidFill>
                <a:latin typeface="微软雅黑" panose="020B0503020204020204" charset="-122"/>
              </a:rPr>
              <a:t>AIGC 虚拟试穿</a:t>
            </a:r>
            <a:endParaRPr sz="900" b="1">
              <a:solidFill>
                <a:srgbClr val="4E729E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 rot="120000">
            <a:off x="6583680" y="4732020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A5E8C"/>
                </a:solidFill>
                <a:latin typeface="微软雅黑" panose="020B0503020204020204" charset="-122"/>
              </a:rPr>
              <a:t>服务设计</a:t>
            </a:r>
            <a:endParaRPr sz="900" b="1">
              <a:solidFill>
                <a:srgbClr val="3A5E8C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 rot="120000">
            <a:off x="6309360" y="5189220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A92B8"/>
                </a:solidFill>
                <a:latin typeface="微软雅黑" panose="020B0503020204020204" charset="-122"/>
              </a:rPr>
              <a:t>C2B 双向闭环</a:t>
            </a:r>
            <a:endParaRPr sz="900" b="1">
              <a:solidFill>
                <a:srgbClr val="6A92B8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 rot="120000">
            <a:off x="6858000" y="3749039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E729E"/>
                </a:solidFill>
                <a:latin typeface="微软雅黑" panose="020B0503020204020204" charset="-122"/>
              </a:rPr>
              <a:t>可持续时尚</a:t>
            </a:r>
            <a:endParaRPr sz="900" b="1">
              <a:solidFill>
                <a:srgbClr val="4E729E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2920" y="6126480"/>
            <a:ext cx="4572000" cy="2216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A7482"/>
                </a:solidFill>
                <a:latin typeface="微软雅黑" panose="020B0503020204020204" charset="-122"/>
              </a:rPr>
              <a:t>幻衣 · 产品系统设计 </a:t>
            </a:r>
            <a:endParaRPr sz="850" b="0">
              <a:solidFill>
                <a:srgbClr val="6A7482"/>
              </a:solidFill>
              <a:latin typeface="微软雅黑" panose="020B0503020204020204" charset="-122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2926080" y="1005840"/>
            <a:ext cx="36576" cy="36576"/>
          </a:xfrm>
          <a:prstGeom prst="ellipse">
            <a:avLst/>
          </a:prstGeom>
          <a:solidFill>
            <a:srgbClr val="6A9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657600" y="960120"/>
            <a:ext cx="27432" cy="27432"/>
          </a:xfrm>
          <a:prstGeom prst="ellipse">
            <a:avLst/>
          </a:prstGeom>
          <a:solidFill>
            <a:srgbClr val="6A9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72000" y="1024128"/>
            <a:ext cx="45720" cy="45720"/>
          </a:xfrm>
          <a:prstGeom prst="ellipse">
            <a:avLst/>
          </a:prstGeom>
          <a:solidFill>
            <a:srgbClr val="6A9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486400" y="2884932"/>
            <a:ext cx="27432" cy="27432"/>
          </a:xfrm>
          <a:prstGeom prst="ellipse">
            <a:avLst/>
          </a:prstGeom>
          <a:solidFill>
            <a:srgbClr val="6A9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71600" y="5029200"/>
            <a:ext cx="36576" cy="36576"/>
          </a:xfrm>
          <a:prstGeom prst="ellipse">
            <a:avLst/>
          </a:prstGeom>
          <a:solidFill>
            <a:srgbClr val="6A9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286000" y="5074920"/>
            <a:ext cx="27432" cy="27432"/>
          </a:xfrm>
          <a:prstGeom prst="ellipse">
            <a:avLst/>
          </a:prstGeom>
          <a:solidFill>
            <a:srgbClr val="6A9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 txBox="1"/>
          <p:nvPr/>
        </p:nvSpPr>
        <p:spPr>
          <a:xfrm>
            <a:off x="1414286" y="2917261"/>
            <a:ext cx="6315373" cy="1102571"/>
          </a:xfrm>
          <a:prstGeom prst="rect">
            <a:avLst/>
          </a:prstGeom>
          <a:noFill/>
          <a:ln w="9525">
            <a:noFill/>
          </a:ln>
        </p:spPr>
        <p:txBody>
          <a:bodyPr lIns="66936" tIns="33468" rIns="66936" bIns="33468"/>
          <a:lstStyle/>
          <a:p>
            <a:pPr algn="ctr" defTabSz="892175"/>
            <a:r>
              <a:rPr lang="en-US" altLang="zh-CN" sz="3525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[1]  </a:t>
            </a:r>
            <a:r>
              <a:rPr lang="zh-CN" altLang="en-US" sz="3525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问题发现</a:t>
            </a:r>
            <a:endParaRPr lang="zh-CN" altLang="en-US" sz="3525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21568197">
            <a:off x="506095" y="745490"/>
            <a:ext cx="97155" cy="405765"/>
          </a:xfrm>
          <a:prstGeom prst="rect">
            <a:avLst/>
          </a:prstGeom>
          <a:solidFill>
            <a:srgbClr val="6A9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/>
          </a:p>
        </p:txBody>
      </p:sp>
      <p:sp>
        <p:nvSpPr>
          <p:cNvPr id="3" name="TextBox 2"/>
          <p:cNvSpPr txBox="1"/>
          <p:nvPr/>
        </p:nvSpPr>
        <p:spPr>
          <a:xfrm>
            <a:off x="716915" y="628015"/>
            <a:ext cx="4448810" cy="575310"/>
          </a:xfrm>
          <a:prstGeom prst="rect">
            <a:avLst/>
          </a:prstGeom>
          <a:noFill/>
        </p:spPr>
        <p:txBody>
          <a:bodyPr wrap="square" lIns="33742" tIns="16871" rIns="33742" bIns="16871">
            <a:noAutofit/>
          </a:bodyPr>
          <a:lstStyle/>
          <a:p>
            <a:pPr algn="l"/>
            <a:r>
              <a:rPr sz="2800" b="1" i="0">
                <a:solidFill>
                  <a:srgbClr val="242A33"/>
                </a:solidFill>
                <a:latin typeface="微软雅黑" panose="020B0503020204020204" charset="-122"/>
              </a:rPr>
              <a:t>1.1 问题探索</a:t>
            </a:r>
            <a:endParaRPr sz="2800" b="1" i="0">
              <a:solidFill>
                <a:srgbClr val="242A33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7039" y="1193527"/>
            <a:ext cx="3796087" cy="189230"/>
          </a:xfrm>
          <a:prstGeom prst="rect">
            <a:avLst/>
          </a:prstGeom>
          <a:noFill/>
        </p:spPr>
        <p:txBody>
          <a:bodyPr wrap="square" lIns="33742" tIns="16871" rIns="33742" bIns="16871">
            <a:spAutoFit/>
          </a:bodyPr>
          <a:lstStyle/>
          <a:p>
            <a:pPr algn="l"/>
            <a:r>
              <a:rPr sz="1015" b="0" i="1">
                <a:solidFill>
                  <a:srgbClr val="6A7482"/>
                </a:solidFill>
                <a:latin typeface="微软雅黑" panose="020B0503020204020204" charset="-122"/>
              </a:rPr>
              <a:t>背景扫描、现象描述、问题发现</a:t>
            </a:r>
            <a:endParaRPr sz="1015" b="0" i="1">
              <a:solidFill>
                <a:srgbClr val="6A7482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6145" y="1800901"/>
            <a:ext cx="2530725" cy="260350"/>
          </a:xfrm>
          <a:prstGeom prst="rect">
            <a:avLst/>
          </a:prstGeom>
          <a:noFill/>
        </p:spPr>
        <p:txBody>
          <a:bodyPr wrap="square" lIns="33742" tIns="16871" rIns="33742" bIns="16871">
            <a:spAutoFit/>
          </a:bodyPr>
          <a:lstStyle/>
          <a:p>
            <a:pPr algn="l"/>
            <a:r>
              <a:rPr sz="1475" b="1" i="0">
                <a:solidFill>
                  <a:srgbClr val="6A92B8"/>
                </a:solidFill>
                <a:latin typeface="微软雅黑" panose="020B0503020204020204" charset="-122"/>
              </a:rPr>
              <a:t>背景阐述</a:t>
            </a:r>
            <a:endParaRPr sz="1475" b="1" i="0">
              <a:solidFill>
                <a:srgbClr val="6A92B8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95810" y="1868387"/>
            <a:ext cx="2108937" cy="146050"/>
          </a:xfrm>
          <a:prstGeom prst="rect">
            <a:avLst/>
          </a:prstGeom>
          <a:noFill/>
        </p:spPr>
        <p:txBody>
          <a:bodyPr wrap="square" lIns="33742" tIns="16871" rIns="33742" bIns="16871">
            <a:spAutoFit/>
          </a:bodyPr>
          <a:lstStyle/>
          <a:p>
            <a:pPr algn="l"/>
            <a:r>
              <a:rPr sz="740" b="0" i="1">
                <a:solidFill>
                  <a:srgbClr val="9AA2AE"/>
                </a:solidFill>
                <a:latin typeface="Arial" panose="020B0604020202020204"/>
              </a:rPr>
              <a:t>Background Description</a:t>
            </a:r>
            <a:endParaRPr sz="740" b="0" i="1">
              <a:solidFill>
                <a:srgbClr val="9AA2AE"/>
              </a:solidFill>
              <a:latin typeface="Arial" panose="020B0604020202020204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506145" y="2079280"/>
            <a:ext cx="1181005" cy="0"/>
          </a:xfrm>
          <a:prstGeom prst="line">
            <a:avLst/>
          </a:prstGeom>
          <a:ln w="19050">
            <a:solidFill>
              <a:srgbClr val="6A9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771507" y="2079280"/>
            <a:ext cx="927932" cy="0"/>
          </a:xfrm>
          <a:prstGeom prst="line">
            <a:avLst/>
          </a:prstGeom>
          <a:ln w="6350"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06145" y="6275662"/>
            <a:ext cx="8098319" cy="0"/>
          </a:xfrm>
          <a:prstGeom prst="line">
            <a:avLst/>
          </a:prstGeom>
          <a:ln w="6350">
            <a:solidFill>
              <a:srgbClr val="9AA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06145" y="6317841"/>
            <a:ext cx="1687150" cy="138430"/>
          </a:xfrm>
          <a:prstGeom prst="rect">
            <a:avLst/>
          </a:prstGeom>
          <a:noFill/>
        </p:spPr>
        <p:txBody>
          <a:bodyPr wrap="square" lIns="33742" tIns="16871" rIns="33742" bIns="16871">
            <a:spAutoFit/>
          </a:bodyPr>
          <a:lstStyle/>
          <a:p>
            <a:pPr algn="l"/>
            <a:r>
              <a:rPr sz="690" b="0" i="0">
                <a:solidFill>
                  <a:srgbClr val="9AA2AE"/>
                </a:solidFill>
                <a:latin typeface="Arial" panose="020B0604020202020204"/>
              </a:rPr>
              <a:t>UED DESIGN WORK</a:t>
            </a:r>
            <a:endParaRPr sz="690" b="0" i="0">
              <a:solidFill>
                <a:srgbClr val="9AA2AE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758906" y="6317841"/>
            <a:ext cx="1687150" cy="138430"/>
          </a:xfrm>
          <a:prstGeom prst="rect">
            <a:avLst/>
          </a:prstGeom>
          <a:noFill/>
        </p:spPr>
        <p:txBody>
          <a:bodyPr wrap="square" lIns="33742" tIns="16871" rIns="33742" bIns="16871">
            <a:spAutoFit/>
          </a:bodyPr>
          <a:lstStyle/>
          <a:p>
            <a:pPr algn="r"/>
            <a:r>
              <a:rPr sz="690" b="0" i="0">
                <a:solidFill>
                  <a:srgbClr val="9AA2AE"/>
                </a:solidFill>
                <a:latin typeface="Arial" panose="020B0604020202020204"/>
              </a:rPr>
              <a:t>PORTFOLIO 18-22</a:t>
            </a:r>
            <a:endParaRPr sz="690" b="0" i="0">
              <a:solidFill>
                <a:srgbClr val="9AA2AE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 rot="42548">
            <a:off x="751890" y="2290174"/>
            <a:ext cx="3796087" cy="37960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/>
          </a:p>
        </p:txBody>
      </p:sp>
      <p:sp>
        <p:nvSpPr>
          <p:cNvPr id="15" name="Oval 14"/>
          <p:cNvSpPr/>
          <p:nvPr/>
        </p:nvSpPr>
        <p:spPr>
          <a:xfrm rot="63623">
            <a:off x="759217" y="2475760"/>
            <a:ext cx="269944" cy="269944"/>
          </a:xfrm>
          <a:prstGeom prst="ellipse">
            <a:avLst/>
          </a:prstGeom>
          <a:solidFill>
            <a:srgbClr val="5A7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/>
          </a:p>
        </p:txBody>
      </p:sp>
      <p:sp>
        <p:nvSpPr>
          <p:cNvPr id="16" name="TextBox 15"/>
          <p:cNvSpPr txBox="1"/>
          <p:nvPr/>
        </p:nvSpPr>
        <p:spPr>
          <a:xfrm>
            <a:off x="759217" y="2501068"/>
            <a:ext cx="269944" cy="203200"/>
          </a:xfrm>
          <a:prstGeom prst="rect">
            <a:avLst/>
          </a:prstGeom>
          <a:noFill/>
        </p:spPr>
        <p:txBody>
          <a:bodyPr wrap="square" lIns="33742" tIns="16871" rIns="33742" bIns="16871">
            <a:spAutoFit/>
          </a:bodyPr>
          <a:lstStyle/>
          <a:p>
            <a:pPr algn="ctr"/>
            <a:r>
              <a:rPr sz="1105" b="1" i="0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1105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13519" y="2458889"/>
            <a:ext cx="1265362" cy="217170"/>
          </a:xfrm>
          <a:prstGeom prst="rect">
            <a:avLst/>
          </a:prstGeom>
          <a:noFill/>
        </p:spPr>
        <p:txBody>
          <a:bodyPr wrap="square" lIns="33742" tIns="16871" rIns="33742" bIns="16871">
            <a:spAutoFit/>
          </a:bodyPr>
          <a:lstStyle/>
          <a:p>
            <a:pPr algn="l"/>
            <a:r>
              <a:rPr sz="1200" b="1" i="0">
                <a:solidFill>
                  <a:srgbClr val="5A708E"/>
                </a:solidFill>
                <a:latin typeface="微软雅黑" panose="020B0503020204020204" charset="-122"/>
              </a:rPr>
              <a:t>市场规模</a:t>
            </a:r>
            <a:endParaRPr sz="1200" b="1" i="0">
              <a:solidFill>
                <a:srgbClr val="5A708E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362010" y="2501068"/>
            <a:ext cx="2108937" cy="138430"/>
          </a:xfrm>
          <a:prstGeom prst="rect">
            <a:avLst/>
          </a:prstGeom>
          <a:noFill/>
        </p:spPr>
        <p:txBody>
          <a:bodyPr wrap="square" lIns="33742" tIns="16871" rIns="33742" bIns="16871">
            <a:spAutoFit/>
          </a:bodyPr>
          <a:lstStyle/>
          <a:p>
            <a:pPr algn="l"/>
            <a:r>
              <a:rPr sz="690" b="0" i="0">
                <a:solidFill>
                  <a:srgbClr val="9AA2AE"/>
                </a:solidFill>
                <a:latin typeface="Arial" panose="020B0604020202020204"/>
              </a:rPr>
              <a:t>MARKET SCALE</a:t>
            </a:r>
            <a:endParaRPr sz="690" b="0" i="0">
              <a:solidFill>
                <a:srgbClr val="9AA2AE"/>
              </a:solidFill>
              <a:latin typeface="Arial" panose="020B0604020202020204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1113519" y="2728833"/>
            <a:ext cx="3273070" cy="0"/>
          </a:xfrm>
          <a:prstGeom prst="line">
            <a:avLst/>
          </a:prstGeom>
          <a:ln w="12700">
            <a:solidFill>
              <a:srgbClr val="5A70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113519" y="2796319"/>
            <a:ext cx="3374299" cy="415290"/>
          </a:xfrm>
          <a:prstGeom prst="rect">
            <a:avLst/>
          </a:prstGeom>
          <a:noFill/>
        </p:spPr>
        <p:txBody>
          <a:bodyPr wrap="square" lIns="33742" tIns="16871" rIns="33742" bIns="16871">
            <a:spAutoFit/>
          </a:bodyPr>
          <a:lstStyle/>
          <a:p>
            <a:pPr algn="l"/>
            <a:r>
              <a:rPr sz="830" b="0" i="0">
                <a:solidFill>
                  <a:srgbClr val="242A33"/>
                </a:solidFill>
                <a:latin typeface="微软雅黑" panose="020B0503020204020204" charset="-122"/>
              </a:rPr>
              <a:t>中国服装零售市场规模超2万亿元，线上渗透率逐年提升。但高退货率成为行业顽疾——电商服装退货率高达65%，其中尺码不合与图实差距占比超80%。</a:t>
            </a:r>
            <a:endParaRPr sz="830" b="0" i="0">
              <a:solidFill>
                <a:srgbClr val="242A33"/>
              </a:solidFill>
              <a:latin typeface="微软雅黑" panose="020B0503020204020204" charset="-122"/>
            </a:endParaRPr>
          </a:p>
        </p:txBody>
      </p:sp>
      <p:sp>
        <p:nvSpPr>
          <p:cNvPr id="21" name="Oval 20"/>
          <p:cNvSpPr/>
          <p:nvPr/>
        </p:nvSpPr>
        <p:spPr>
          <a:xfrm rot="16678">
            <a:off x="759217" y="3614586"/>
            <a:ext cx="269944" cy="269944"/>
          </a:xfrm>
          <a:prstGeom prst="ellipse">
            <a:avLst/>
          </a:prstGeom>
          <a:solidFill>
            <a:srgbClr val="6A9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/>
          </a:p>
        </p:txBody>
      </p:sp>
      <p:sp>
        <p:nvSpPr>
          <p:cNvPr id="22" name="TextBox 21"/>
          <p:cNvSpPr txBox="1"/>
          <p:nvPr/>
        </p:nvSpPr>
        <p:spPr>
          <a:xfrm>
            <a:off x="759217" y="3639894"/>
            <a:ext cx="269944" cy="203200"/>
          </a:xfrm>
          <a:prstGeom prst="rect">
            <a:avLst/>
          </a:prstGeom>
          <a:noFill/>
        </p:spPr>
        <p:txBody>
          <a:bodyPr wrap="square" lIns="33742" tIns="16871" rIns="33742" bIns="16871">
            <a:spAutoFit/>
          </a:bodyPr>
          <a:lstStyle/>
          <a:p>
            <a:pPr algn="ctr"/>
            <a:r>
              <a:rPr sz="1105" b="1" i="0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1105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13519" y="3597715"/>
            <a:ext cx="1265362" cy="217170"/>
          </a:xfrm>
          <a:prstGeom prst="rect">
            <a:avLst/>
          </a:prstGeom>
          <a:noFill/>
        </p:spPr>
        <p:txBody>
          <a:bodyPr wrap="square" lIns="33742" tIns="16871" rIns="33742" bIns="16871">
            <a:spAutoFit/>
          </a:bodyPr>
          <a:lstStyle/>
          <a:p>
            <a:pPr algn="l"/>
            <a:r>
              <a:rPr sz="1200" b="1" i="0">
                <a:solidFill>
                  <a:srgbClr val="6A92B8"/>
                </a:solidFill>
                <a:latin typeface="微软雅黑" panose="020B0503020204020204" charset="-122"/>
              </a:rPr>
              <a:t>AI技术成熟</a:t>
            </a:r>
            <a:endParaRPr sz="1200" b="1" i="0">
              <a:solidFill>
                <a:srgbClr val="6A92B8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362010" y="3639894"/>
            <a:ext cx="2108937" cy="138430"/>
          </a:xfrm>
          <a:prstGeom prst="rect">
            <a:avLst/>
          </a:prstGeom>
          <a:noFill/>
        </p:spPr>
        <p:txBody>
          <a:bodyPr wrap="square" lIns="33742" tIns="16871" rIns="33742" bIns="16871">
            <a:spAutoFit/>
          </a:bodyPr>
          <a:lstStyle/>
          <a:p>
            <a:pPr algn="l"/>
            <a:r>
              <a:rPr sz="690" b="0" i="0">
                <a:solidFill>
                  <a:srgbClr val="9AA2AE"/>
                </a:solidFill>
                <a:latin typeface="Arial" panose="020B0604020202020204"/>
              </a:rPr>
              <a:t>AI TECHNOLOGY</a:t>
            </a:r>
            <a:endParaRPr sz="690" b="0" i="0">
              <a:solidFill>
                <a:srgbClr val="9AA2AE"/>
              </a:solidFill>
              <a:latin typeface="Arial" panose="020B0604020202020204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1113519" y="3867659"/>
            <a:ext cx="3273070" cy="0"/>
          </a:xfrm>
          <a:prstGeom prst="line">
            <a:avLst/>
          </a:prstGeom>
          <a:ln w="12700">
            <a:solidFill>
              <a:srgbClr val="6A9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113519" y="3935145"/>
            <a:ext cx="3374299" cy="415290"/>
          </a:xfrm>
          <a:prstGeom prst="rect">
            <a:avLst/>
          </a:prstGeom>
          <a:noFill/>
        </p:spPr>
        <p:txBody>
          <a:bodyPr wrap="square" lIns="33742" tIns="16871" rIns="33742" bIns="16871">
            <a:spAutoFit/>
          </a:bodyPr>
          <a:lstStyle/>
          <a:p>
            <a:pPr algn="l"/>
            <a:r>
              <a:rPr sz="830" b="0" i="0">
                <a:solidFill>
                  <a:srgbClr val="242A33"/>
                </a:solidFill>
                <a:latin typeface="微软雅黑" panose="020B0503020204020204" charset="-122"/>
              </a:rPr>
              <a:t>AIGC技术在图像生成领域取得突破，Stable Diffusion等模型可实现逼真的虚拟试穿效果。硬件成本下探至千元级，AI虚拟试穿从概念走向落地。</a:t>
            </a:r>
            <a:endParaRPr sz="830" b="0" i="0">
              <a:solidFill>
                <a:srgbClr val="242A33"/>
              </a:solidFill>
              <a:latin typeface="微软雅黑" panose="020B0503020204020204" charset="-122"/>
            </a:endParaRPr>
          </a:p>
        </p:txBody>
      </p:sp>
      <p:sp>
        <p:nvSpPr>
          <p:cNvPr id="27" name="Oval 26"/>
          <p:cNvSpPr/>
          <p:nvPr/>
        </p:nvSpPr>
        <p:spPr>
          <a:xfrm rot="19059">
            <a:off x="759217" y="4753412"/>
            <a:ext cx="269944" cy="269944"/>
          </a:xfrm>
          <a:prstGeom prst="ellipse">
            <a:avLst/>
          </a:prstGeom>
          <a:solidFill>
            <a:srgbClr val="6A9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/>
          </a:p>
        </p:txBody>
      </p:sp>
      <p:sp>
        <p:nvSpPr>
          <p:cNvPr id="28" name="TextBox 27"/>
          <p:cNvSpPr txBox="1"/>
          <p:nvPr/>
        </p:nvSpPr>
        <p:spPr>
          <a:xfrm>
            <a:off x="759217" y="4778720"/>
            <a:ext cx="269944" cy="203200"/>
          </a:xfrm>
          <a:prstGeom prst="rect">
            <a:avLst/>
          </a:prstGeom>
          <a:noFill/>
        </p:spPr>
        <p:txBody>
          <a:bodyPr wrap="square" lIns="33742" tIns="16871" rIns="33742" bIns="16871">
            <a:spAutoFit/>
          </a:bodyPr>
          <a:lstStyle/>
          <a:p>
            <a:pPr algn="ctr"/>
            <a:r>
              <a:rPr sz="1105" b="1" i="0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1105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113519" y="4736541"/>
            <a:ext cx="1265362" cy="217170"/>
          </a:xfrm>
          <a:prstGeom prst="rect">
            <a:avLst/>
          </a:prstGeom>
          <a:noFill/>
        </p:spPr>
        <p:txBody>
          <a:bodyPr wrap="square" lIns="33742" tIns="16871" rIns="33742" bIns="16871">
            <a:spAutoFit/>
          </a:bodyPr>
          <a:lstStyle/>
          <a:p>
            <a:pPr algn="l"/>
            <a:r>
              <a:rPr sz="1200" b="1" i="0">
                <a:solidFill>
                  <a:srgbClr val="6A92B8"/>
                </a:solidFill>
                <a:latin typeface="微软雅黑" panose="020B0503020204020204" charset="-122"/>
              </a:rPr>
              <a:t>可持续时尚</a:t>
            </a:r>
            <a:endParaRPr sz="1200" b="1" i="0">
              <a:solidFill>
                <a:srgbClr val="6A92B8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362010" y="4778720"/>
            <a:ext cx="2108937" cy="138430"/>
          </a:xfrm>
          <a:prstGeom prst="rect">
            <a:avLst/>
          </a:prstGeom>
          <a:noFill/>
        </p:spPr>
        <p:txBody>
          <a:bodyPr wrap="square" lIns="33742" tIns="16871" rIns="33742" bIns="16871">
            <a:spAutoFit/>
          </a:bodyPr>
          <a:lstStyle/>
          <a:p>
            <a:pPr algn="l"/>
            <a:r>
              <a:rPr sz="690" b="0" i="0">
                <a:solidFill>
                  <a:srgbClr val="9AA2AE"/>
                </a:solidFill>
                <a:latin typeface="Arial" panose="020B0604020202020204"/>
              </a:rPr>
              <a:t>SUSTAINABLE</a:t>
            </a:r>
            <a:endParaRPr sz="690" b="0" i="0">
              <a:solidFill>
                <a:srgbClr val="9AA2AE"/>
              </a:solidFill>
              <a:latin typeface="Arial" panose="020B0604020202020204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1113519" y="5006485"/>
            <a:ext cx="3273070" cy="0"/>
          </a:xfrm>
          <a:prstGeom prst="line">
            <a:avLst/>
          </a:prstGeom>
          <a:ln w="12700">
            <a:solidFill>
              <a:srgbClr val="6A9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113519" y="5073971"/>
            <a:ext cx="3374299" cy="287655"/>
          </a:xfrm>
          <a:prstGeom prst="rect">
            <a:avLst/>
          </a:prstGeom>
          <a:noFill/>
        </p:spPr>
        <p:txBody>
          <a:bodyPr wrap="square" lIns="33742" tIns="16871" rIns="33742" bIns="16871">
            <a:spAutoFit/>
          </a:bodyPr>
          <a:lstStyle/>
          <a:p>
            <a:pPr algn="l"/>
            <a:r>
              <a:rPr sz="830" b="0" i="0">
                <a:solidFill>
                  <a:srgbClr val="242A33"/>
                </a:solidFill>
                <a:latin typeface="微软雅黑" panose="020B0503020204020204" charset="-122"/>
              </a:rPr>
              <a:t>服装行业年碳排放量占全球10%，每年约9200万吨纺织废弃物产生。虚拟试穿可减少打样浪费与退货积压，推动行业可持续转型。</a:t>
            </a:r>
            <a:endParaRPr sz="830" b="0" i="0">
              <a:solidFill>
                <a:srgbClr val="242A33"/>
              </a:solidFill>
              <a:latin typeface="微软雅黑" panose="020B0503020204020204" charset="-122"/>
            </a:endParaRPr>
          </a:p>
        </p:txBody>
      </p:sp>
      <p:pic>
        <p:nvPicPr>
          <p:cNvPr id="33" name="Picture 32" descr="ecommerce_fashion_data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9662" y="2290174"/>
            <a:ext cx="4217874" cy="2193295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4597483" y="2247995"/>
            <a:ext cx="4302232" cy="2277652"/>
          </a:xfrm>
          <a:prstGeom prst="roundRect">
            <a:avLst/>
          </a:prstGeom>
          <a:noFill/>
          <a:ln w="7620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/>
          </a:p>
        </p:txBody>
      </p:sp>
      <p:cxnSp>
        <p:nvCxnSpPr>
          <p:cNvPr id="35" name="Connector 34"/>
          <p:cNvCxnSpPr/>
          <p:nvPr/>
        </p:nvCxnSpPr>
        <p:spPr>
          <a:xfrm>
            <a:off x="4597483" y="2247995"/>
            <a:ext cx="126536" cy="0"/>
          </a:xfrm>
          <a:prstGeom prst="line">
            <a:avLst/>
          </a:prstGeom>
          <a:ln w="19050">
            <a:solidFill>
              <a:srgbClr val="6A9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597483" y="2247995"/>
            <a:ext cx="0" cy="126536"/>
          </a:xfrm>
          <a:prstGeom prst="line">
            <a:avLst/>
          </a:prstGeom>
          <a:ln w="19050">
            <a:solidFill>
              <a:srgbClr val="6A9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8688821" y="2247995"/>
            <a:ext cx="126536" cy="0"/>
          </a:xfrm>
          <a:prstGeom prst="line">
            <a:avLst/>
          </a:prstGeom>
          <a:ln w="19050">
            <a:solidFill>
              <a:srgbClr val="6A9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815357" y="2247995"/>
            <a:ext cx="0" cy="126536"/>
          </a:xfrm>
          <a:prstGeom prst="line">
            <a:avLst/>
          </a:prstGeom>
          <a:ln w="19050">
            <a:solidFill>
              <a:srgbClr val="6A9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639662" y="4483469"/>
            <a:ext cx="4217874" cy="138430"/>
          </a:xfrm>
          <a:prstGeom prst="rect">
            <a:avLst/>
          </a:prstGeom>
          <a:noFill/>
        </p:spPr>
        <p:txBody>
          <a:bodyPr wrap="square" lIns="33742" tIns="16871" rIns="33742" bIns="16871">
            <a:spAutoFit/>
          </a:bodyPr>
          <a:lstStyle/>
          <a:p>
            <a:pPr algn="ctr"/>
            <a:r>
              <a:rPr sz="690" b="0" i="0">
                <a:solidFill>
                  <a:srgbClr val="9AA2AE"/>
                </a:solidFill>
                <a:latin typeface="Arial" panose="020B0604020202020204"/>
              </a:rPr>
              <a:t>FASHION E-COMMERCE DASHBOARD</a:t>
            </a:r>
            <a:endParaRPr sz="690" b="0" i="0">
              <a:solidFill>
                <a:srgbClr val="9AA2AE"/>
              </a:solidFill>
              <a:latin typeface="Arial" panose="020B0604020202020204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639662" y="4694362"/>
            <a:ext cx="4217874" cy="217170"/>
          </a:xfrm>
          <a:prstGeom prst="rect">
            <a:avLst/>
          </a:prstGeom>
          <a:noFill/>
        </p:spPr>
        <p:txBody>
          <a:bodyPr wrap="square" lIns="33742" tIns="16871" rIns="33742" bIns="16871">
            <a:spAutoFit/>
          </a:bodyPr>
          <a:lstStyle/>
          <a:p>
            <a:pPr algn="l"/>
            <a:r>
              <a:rPr sz="1200" b="1" i="0">
                <a:solidFill>
                  <a:srgbClr val="242A33"/>
                </a:solidFill>
                <a:latin typeface="微软雅黑" panose="020B0503020204020204" charset="-122"/>
              </a:rPr>
              <a:t>电商服装退货原因占比</a:t>
            </a:r>
            <a:endParaRPr sz="1200" b="1" i="0">
              <a:solidFill>
                <a:srgbClr val="242A33"/>
              </a:solidFill>
              <a:latin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639662" y="5031792"/>
            <a:ext cx="1181005" cy="175895"/>
          </a:xfrm>
          <a:prstGeom prst="rect">
            <a:avLst/>
          </a:prstGeom>
          <a:noFill/>
        </p:spPr>
        <p:txBody>
          <a:bodyPr wrap="square" lIns="33742" tIns="16871" rIns="33742" bIns="16871">
            <a:spAutoFit/>
          </a:bodyPr>
          <a:lstStyle/>
          <a:p>
            <a:pPr algn="l"/>
            <a:r>
              <a:rPr sz="925" b="0" i="0">
                <a:solidFill>
                  <a:srgbClr val="242A33"/>
                </a:solidFill>
                <a:latin typeface="微软雅黑" panose="020B0503020204020204" charset="-122"/>
              </a:rPr>
              <a:t>尺码不合</a:t>
            </a:r>
            <a:endParaRPr sz="925" b="0" i="0">
              <a:solidFill>
                <a:srgbClr val="242A33"/>
              </a:solidFill>
              <a:latin typeface="微软雅黑" panose="020B050302020402020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5368547" y="5111213"/>
            <a:ext cx="2952512" cy="168715"/>
          </a:xfrm>
          <a:prstGeom prst="roundRect">
            <a:avLst/>
          </a:prstGeom>
          <a:solidFill>
            <a:srgbClr val="5A7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/>
          </a:p>
        </p:txBody>
      </p:sp>
      <p:sp>
        <p:nvSpPr>
          <p:cNvPr id="43" name="Rounded Rectangle 42"/>
          <p:cNvSpPr/>
          <p:nvPr/>
        </p:nvSpPr>
        <p:spPr>
          <a:xfrm rot="21568563">
            <a:off x="5366385" y="5057140"/>
            <a:ext cx="1263650" cy="29845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/>
          </a:p>
        </p:txBody>
      </p:sp>
      <p:sp>
        <p:nvSpPr>
          <p:cNvPr id="44" name="TextBox 43"/>
          <p:cNvSpPr txBox="1"/>
          <p:nvPr/>
        </p:nvSpPr>
        <p:spPr>
          <a:xfrm>
            <a:off x="8255287" y="5031792"/>
            <a:ext cx="506145" cy="168275"/>
          </a:xfrm>
          <a:prstGeom prst="rect">
            <a:avLst/>
          </a:prstGeom>
          <a:noFill/>
        </p:spPr>
        <p:txBody>
          <a:bodyPr wrap="square" lIns="33742" tIns="16871" rIns="33742" bIns="16871">
            <a:spAutoFit/>
          </a:bodyPr>
          <a:lstStyle/>
          <a:p>
            <a:pPr algn="r"/>
            <a:r>
              <a:rPr sz="875" b="1" i="0">
                <a:solidFill>
                  <a:srgbClr val="5A708E"/>
                </a:solidFill>
                <a:latin typeface="微软雅黑" panose="020B0503020204020204" charset="-122"/>
              </a:rPr>
              <a:t>60.0%</a:t>
            </a:r>
            <a:endParaRPr sz="875" b="1" i="0">
              <a:solidFill>
                <a:srgbClr val="5A708E"/>
              </a:solidFill>
              <a:latin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639662" y="5369222"/>
            <a:ext cx="1181005" cy="175895"/>
          </a:xfrm>
          <a:prstGeom prst="rect">
            <a:avLst/>
          </a:prstGeom>
          <a:noFill/>
        </p:spPr>
        <p:txBody>
          <a:bodyPr wrap="square" lIns="33742" tIns="16871" rIns="33742" bIns="16871">
            <a:spAutoFit/>
          </a:bodyPr>
          <a:lstStyle/>
          <a:p>
            <a:pPr algn="l"/>
            <a:r>
              <a:rPr sz="925" b="0" i="0">
                <a:solidFill>
                  <a:srgbClr val="242A33"/>
                </a:solidFill>
                <a:latin typeface="微软雅黑" panose="020B0503020204020204" charset="-122"/>
              </a:rPr>
              <a:t>图实差距</a:t>
            </a:r>
            <a:endParaRPr sz="925" b="0" i="0">
              <a:solidFill>
                <a:srgbClr val="242A33"/>
              </a:solidFill>
              <a:latin typeface="微软雅黑" panose="020B0503020204020204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5363467" y="5405959"/>
            <a:ext cx="2952512" cy="168715"/>
          </a:xfrm>
          <a:prstGeom prst="roundRect">
            <a:avLst/>
          </a:prstGeom>
          <a:solidFill>
            <a:srgbClr val="6A9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/>
          </a:p>
        </p:txBody>
      </p:sp>
      <p:sp>
        <p:nvSpPr>
          <p:cNvPr id="47" name="Rounded Rectangle 46"/>
          <p:cNvSpPr/>
          <p:nvPr/>
        </p:nvSpPr>
        <p:spPr>
          <a:xfrm rot="21529825">
            <a:off x="5261610" y="5395595"/>
            <a:ext cx="1408430" cy="28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/>
          </a:p>
        </p:txBody>
      </p:sp>
      <p:sp>
        <p:nvSpPr>
          <p:cNvPr id="48" name="TextBox 47"/>
          <p:cNvSpPr txBox="1"/>
          <p:nvPr/>
        </p:nvSpPr>
        <p:spPr>
          <a:xfrm>
            <a:off x="8255287" y="5369222"/>
            <a:ext cx="506145" cy="168275"/>
          </a:xfrm>
          <a:prstGeom prst="rect">
            <a:avLst/>
          </a:prstGeom>
          <a:noFill/>
        </p:spPr>
        <p:txBody>
          <a:bodyPr wrap="square" lIns="33742" tIns="16871" rIns="33742" bIns="16871">
            <a:spAutoFit/>
          </a:bodyPr>
          <a:lstStyle/>
          <a:p>
            <a:pPr algn="r"/>
            <a:r>
              <a:rPr sz="875" b="1" i="0">
                <a:solidFill>
                  <a:srgbClr val="6A92B8"/>
                </a:solidFill>
                <a:latin typeface="微软雅黑" panose="020B0503020204020204" charset="-122"/>
              </a:rPr>
              <a:t>57.32%</a:t>
            </a:r>
            <a:endParaRPr sz="875" b="1" i="0">
              <a:solidFill>
                <a:srgbClr val="6A92B8"/>
              </a:solidFill>
              <a:latin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639662" y="5706652"/>
            <a:ext cx="1181005" cy="175895"/>
          </a:xfrm>
          <a:prstGeom prst="rect">
            <a:avLst/>
          </a:prstGeom>
          <a:noFill/>
        </p:spPr>
        <p:txBody>
          <a:bodyPr wrap="square" lIns="33742" tIns="16871" rIns="33742" bIns="16871">
            <a:spAutoFit/>
          </a:bodyPr>
          <a:lstStyle/>
          <a:p>
            <a:pPr algn="l"/>
            <a:r>
              <a:rPr sz="925" b="0" i="0">
                <a:solidFill>
                  <a:srgbClr val="242A33"/>
                </a:solidFill>
                <a:latin typeface="微软雅黑" panose="020B0503020204020204" charset="-122"/>
              </a:rPr>
              <a:t>面料不符</a:t>
            </a:r>
            <a:endParaRPr sz="925" b="0" i="0">
              <a:solidFill>
                <a:srgbClr val="242A33"/>
              </a:solidFill>
              <a:latin typeface="微软雅黑" panose="020B0503020204020204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 rot="39643">
            <a:off x="5392042" y="5731959"/>
            <a:ext cx="2952512" cy="168715"/>
          </a:xfrm>
          <a:prstGeom prst="roundRect">
            <a:avLst/>
          </a:prstGeom>
          <a:solidFill>
            <a:srgbClr val="6A9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/>
          </a:p>
        </p:txBody>
      </p:sp>
      <p:sp>
        <p:nvSpPr>
          <p:cNvPr id="51" name="Rounded Rectangle 50"/>
          <p:cNvSpPr/>
          <p:nvPr/>
        </p:nvSpPr>
        <p:spPr>
          <a:xfrm rot="5869">
            <a:off x="5237480" y="5616575"/>
            <a:ext cx="2282190" cy="31369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/>
          </a:p>
        </p:txBody>
      </p:sp>
      <p:sp>
        <p:nvSpPr>
          <p:cNvPr id="52" name="TextBox 51"/>
          <p:cNvSpPr txBox="1"/>
          <p:nvPr/>
        </p:nvSpPr>
        <p:spPr>
          <a:xfrm>
            <a:off x="8255287" y="5706652"/>
            <a:ext cx="506145" cy="168275"/>
          </a:xfrm>
          <a:prstGeom prst="rect">
            <a:avLst/>
          </a:prstGeom>
          <a:noFill/>
        </p:spPr>
        <p:txBody>
          <a:bodyPr wrap="square" lIns="33742" tIns="16871" rIns="33742" bIns="16871">
            <a:spAutoFit/>
          </a:bodyPr>
          <a:lstStyle/>
          <a:p>
            <a:pPr algn="r"/>
            <a:r>
              <a:rPr sz="875" b="1" i="0">
                <a:solidFill>
                  <a:srgbClr val="6A92B8"/>
                </a:solidFill>
                <a:latin typeface="微软雅黑" panose="020B0503020204020204" charset="-122"/>
              </a:rPr>
              <a:t>28.5%</a:t>
            </a:r>
            <a:endParaRPr sz="875" b="1" i="0">
              <a:solidFill>
                <a:srgbClr val="6A92B8"/>
              </a:solidFill>
              <a:latin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639662" y="6044082"/>
            <a:ext cx="1181005" cy="175895"/>
          </a:xfrm>
          <a:prstGeom prst="rect">
            <a:avLst/>
          </a:prstGeom>
          <a:noFill/>
        </p:spPr>
        <p:txBody>
          <a:bodyPr wrap="square" lIns="33742" tIns="16871" rIns="33742" bIns="16871">
            <a:spAutoFit/>
          </a:bodyPr>
          <a:lstStyle/>
          <a:p>
            <a:pPr algn="l"/>
            <a:r>
              <a:rPr sz="925" b="0" i="0">
                <a:solidFill>
                  <a:srgbClr val="242A33"/>
                </a:solidFill>
                <a:latin typeface="微软雅黑" panose="020B0503020204020204" charset="-122"/>
              </a:rPr>
              <a:t>做工问题</a:t>
            </a:r>
            <a:endParaRPr sz="925" b="0" i="0">
              <a:solidFill>
                <a:srgbClr val="242A33"/>
              </a:solidFill>
              <a:latin typeface="微软雅黑" panose="020B0503020204020204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5392042" y="6069389"/>
            <a:ext cx="2952512" cy="168715"/>
          </a:xfrm>
          <a:prstGeom prst="roundRect">
            <a:avLst/>
          </a:prstGeom>
          <a:solidFill>
            <a:srgbClr val="9AA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/>
          </a:p>
        </p:txBody>
      </p:sp>
      <p:sp>
        <p:nvSpPr>
          <p:cNvPr id="55" name="Rounded Rectangle 54"/>
          <p:cNvSpPr/>
          <p:nvPr/>
        </p:nvSpPr>
        <p:spPr>
          <a:xfrm rot="52118">
            <a:off x="5370195" y="6009005"/>
            <a:ext cx="2361565" cy="2413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/>
          </a:p>
        </p:txBody>
      </p:sp>
      <p:sp>
        <p:nvSpPr>
          <p:cNvPr id="56" name="TextBox 55"/>
          <p:cNvSpPr txBox="1"/>
          <p:nvPr/>
        </p:nvSpPr>
        <p:spPr>
          <a:xfrm>
            <a:off x="8255287" y="6044082"/>
            <a:ext cx="506145" cy="168275"/>
          </a:xfrm>
          <a:prstGeom prst="rect">
            <a:avLst/>
          </a:prstGeom>
          <a:noFill/>
        </p:spPr>
        <p:txBody>
          <a:bodyPr wrap="square" lIns="33742" tIns="16871" rIns="33742" bIns="16871">
            <a:spAutoFit/>
          </a:bodyPr>
          <a:lstStyle/>
          <a:p>
            <a:pPr algn="r"/>
            <a:r>
              <a:rPr sz="875" b="1" i="0">
                <a:solidFill>
                  <a:srgbClr val="9AA2AE"/>
                </a:solidFill>
                <a:latin typeface="微软雅黑" panose="020B0503020204020204" charset="-122"/>
              </a:rPr>
              <a:t>18.2%</a:t>
            </a:r>
            <a:endParaRPr sz="875" b="1" i="0">
              <a:solidFill>
                <a:srgbClr val="9AA2A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 rot="21543287">
            <a:off x="365760" y="332613"/>
            <a:ext cx="128016" cy="128016"/>
          </a:xfrm>
          <a:prstGeom prst="ellipse">
            <a:avLst/>
          </a:prstGeom>
          <a:solidFill>
            <a:srgbClr val="3A5E8C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42A33"/>
                </a:solidFill>
                <a:latin typeface="Helvetica Neue"/>
                <a:ea typeface="微软雅黑" panose="020B0503020204020204" charset="-122"/>
              </a:rPr>
              <a:t>1.1  探索发现 · 现有服务运作</a:t>
            </a:r>
            <a:endParaRPr sz="1500" b="1" i="0">
              <a:solidFill>
                <a:srgbClr val="242A33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 spc="40">
                <a:solidFill>
                  <a:srgbClr val="6A7482"/>
                </a:solidFill>
                <a:latin typeface="Helvetica Neue"/>
                <a:ea typeface="微软雅黑" panose="020B0503020204020204" charset="-122"/>
              </a:rPr>
              <a:t>CURRENT SERVICE  /  STAKEHOLDER ECOSYSTEM</a:t>
            </a:r>
            <a:endParaRPr sz="700" b="0" i="0" spc="40">
              <a:solidFill>
                <a:srgbClr val="6A7482"/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384048" y="566928"/>
            <a:ext cx="8028432" cy="0"/>
          </a:xfrm>
          <a:prstGeom prst="line">
            <a:avLst/>
          </a:prstGeom>
          <a:ln w="7620">
            <a:solidFill>
              <a:srgbClr val="E2E8F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656539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 i="0">
                <a:solidFill>
                  <a:srgbClr val="9AA2AE"/>
                </a:solidFill>
                <a:latin typeface="Helvetica Neue"/>
                <a:ea typeface="微软雅黑" panose="020B0503020204020204" charset="-122"/>
              </a:rPr>
              <a:t>幻衣 · 产品系统设计 · STAGE 01</a:t>
            </a:r>
            <a:endParaRPr sz="650" b="0" i="0">
              <a:solidFill>
                <a:srgbClr val="9AA2AE"/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365760" y="6528816"/>
            <a:ext cx="8412480" cy="0"/>
          </a:xfrm>
          <a:prstGeom prst="line">
            <a:avLst/>
          </a:prstGeom>
          <a:ln w="6350">
            <a:solidFill>
              <a:srgbClr val="E2E8F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84048" y="868680"/>
            <a:ext cx="8229600" cy="174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幻衣服务系统利益相关方关系图 ·平台多方价值交换，数据驱动设计优化与精准推荐。</a:t>
            </a:r>
            <a:endParaRPr sz="9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0" name="Oval 9"/>
          <p:cNvSpPr/>
          <p:nvPr/>
        </p:nvSpPr>
        <p:spPr>
          <a:xfrm rot="22476">
            <a:off x="3520440" y="3108960"/>
            <a:ext cx="2103120" cy="914400"/>
          </a:xfrm>
          <a:prstGeom prst="ellipse">
            <a:avLst/>
          </a:prstGeom>
          <a:solidFill>
            <a:srgbClr val="2C4A6E">
              <a:alpha val="80000"/>
            </a:srgbClr>
          </a:solidFill>
          <a:ln w="12700">
            <a:solidFill>
              <a:srgbClr val="2C4A6E"/>
            </a:solidFill>
          </a:ln>
          <a:effectLst>
            <a:softEdge rad="4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329184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F7FAFD"/>
                </a:solidFill>
                <a:latin typeface="Helvetica Neue"/>
                <a:ea typeface="微软雅黑" panose="020B0503020204020204" charset="-122"/>
              </a:rPr>
              <a:t>幻衣服务系统</a:t>
            </a:r>
            <a:endParaRPr sz="1050" b="1" i="0">
              <a:solidFill>
                <a:srgbClr val="F7FAFD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66160" y="354787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 i="0">
                <a:solidFill>
                  <a:srgbClr val="9AB6D2"/>
                </a:solidFill>
                <a:latin typeface="Helvetica Neue"/>
                <a:ea typeface="微软雅黑" panose="020B0503020204020204" charset="-122"/>
              </a:rPr>
              <a:t>AI 虚拟试穿 ＋ 数据闭环</a:t>
            </a:r>
            <a:endParaRPr sz="700" b="0" i="0">
              <a:solidFill>
                <a:srgbClr val="9AB6D2"/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 flipV="1">
            <a:off x="4572000" y="2112264"/>
            <a:ext cx="0" cy="1453896"/>
          </a:xfrm>
          <a:prstGeom prst="curvedConnector3">
            <a:avLst/>
          </a:prstGeom>
          <a:ln w="10160">
            <a:solidFill>
              <a:srgbClr val="3A5E8C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 rot="21595173">
            <a:off x="3520440" y="1632204"/>
            <a:ext cx="2103120" cy="960120"/>
          </a:xfrm>
          <a:prstGeom prst="roundRect">
            <a:avLst>
              <a:gd name="adj" fmla="val 15000"/>
            </a:avLst>
          </a:prstGeom>
          <a:solidFill>
            <a:srgbClr val="3A5E8C">
              <a:alpha val="10000"/>
            </a:srgbClr>
          </a:solidFill>
          <a:ln w="10160">
            <a:solidFill>
              <a:srgbClr val="3A5E8C"/>
            </a:solidFill>
          </a:ln>
          <a:effectLst>
            <a:softEdge rad="5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 rot="22589">
            <a:off x="3648456" y="1741932"/>
            <a:ext cx="82296" cy="82296"/>
          </a:xfrm>
          <a:prstGeom prst="ellipse">
            <a:avLst/>
          </a:prstGeom>
          <a:solidFill>
            <a:srgbClr val="3A5E8C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94760" y="1705356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A5E8C"/>
                </a:solidFill>
                <a:latin typeface="Helvetica Neue"/>
                <a:ea typeface="微软雅黑" panose="020B0503020204020204" charset="-122"/>
              </a:rPr>
              <a:t>体验设计师/企业</a:t>
            </a:r>
            <a:endParaRPr sz="850" b="1" i="0">
              <a:solidFill>
                <a:srgbClr val="3A5E8C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66744" y="1979676"/>
            <a:ext cx="182879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0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提供：设计稿 · 商品图</a:t>
            </a:r>
            <a:endParaRPr sz="60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66744" y="2253996"/>
            <a:ext cx="182879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0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获得：试穿偏好数据 · 版型验证</a:t>
            </a:r>
            <a:endParaRPr sz="60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 flipV="1">
            <a:off x="4572000" y="2839212"/>
            <a:ext cx="2098518" cy="726948"/>
          </a:xfrm>
          <a:prstGeom prst="curvedConnector3">
            <a:avLst/>
          </a:prstGeom>
          <a:ln w="10160">
            <a:solidFill>
              <a:srgbClr val="5A708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 rot="59972">
            <a:off x="5618958" y="2359152"/>
            <a:ext cx="2103120" cy="960120"/>
          </a:xfrm>
          <a:prstGeom prst="roundRect">
            <a:avLst>
              <a:gd name="adj" fmla="val 15000"/>
            </a:avLst>
          </a:prstGeom>
          <a:solidFill>
            <a:srgbClr val="5A708E">
              <a:alpha val="10000"/>
            </a:srgbClr>
          </a:solidFill>
          <a:ln w="10160">
            <a:solidFill>
              <a:srgbClr val="5A708E"/>
            </a:solidFill>
          </a:ln>
          <a:effectLst>
            <a:softEdge rad="5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 rot="40573">
            <a:off x="5746974" y="2468880"/>
            <a:ext cx="82296" cy="82296"/>
          </a:xfrm>
          <a:prstGeom prst="ellipse">
            <a:avLst/>
          </a:prstGeom>
          <a:solidFill>
            <a:srgbClr val="5A708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93278" y="2432304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A708E"/>
                </a:solidFill>
                <a:latin typeface="Helvetica Neue"/>
                <a:ea typeface="微软雅黑" panose="020B0503020204020204" charset="-122"/>
              </a:rPr>
              <a:t>政府 / 监管</a:t>
            </a:r>
            <a:endParaRPr sz="850" b="1" i="0">
              <a:solidFill>
                <a:srgbClr val="5A708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765262" y="2706624"/>
            <a:ext cx="182879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0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提供：政策支持 · 合规指导</a:t>
            </a:r>
            <a:endParaRPr sz="60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765262" y="2980944"/>
            <a:ext cx="182879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0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获得：行业可持续 · 减少浪费</a:t>
            </a:r>
            <a:endParaRPr sz="60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4572000" y="3566160"/>
            <a:ext cx="2098518" cy="726947"/>
          </a:xfrm>
          <a:prstGeom prst="curvedConnector3">
            <a:avLst/>
          </a:prstGeom>
          <a:ln w="10160">
            <a:solidFill>
              <a:srgbClr val="6A92B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 rot="21549294">
            <a:off x="5618958" y="3813047"/>
            <a:ext cx="2103120" cy="960120"/>
          </a:xfrm>
          <a:prstGeom prst="roundRect">
            <a:avLst>
              <a:gd name="adj" fmla="val 15000"/>
            </a:avLst>
          </a:prstGeom>
          <a:solidFill>
            <a:srgbClr val="6A92B8">
              <a:alpha val="10000"/>
            </a:srgbClr>
          </a:solidFill>
          <a:ln w="10160">
            <a:solidFill>
              <a:srgbClr val="6A92B8"/>
            </a:solidFill>
          </a:ln>
          <a:effectLst>
            <a:softEdge rad="5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 rot="9612">
            <a:off x="5746974" y="3922775"/>
            <a:ext cx="82296" cy="82296"/>
          </a:xfrm>
          <a:prstGeom prst="ellipse">
            <a:avLst/>
          </a:prstGeom>
          <a:solidFill>
            <a:srgbClr val="6A92B8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93278" y="3886199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6A92B8"/>
                </a:solidFill>
                <a:latin typeface="Helvetica Neue"/>
                <a:ea typeface="微软雅黑" panose="020B0503020204020204" charset="-122"/>
              </a:rPr>
              <a:t>环保组织</a:t>
            </a:r>
            <a:endParaRPr sz="850" b="1" i="0">
              <a:solidFill>
                <a:srgbClr val="6A92B8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765262" y="4160519"/>
            <a:ext cx="182879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0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提供：倡导减面料浪费 · 碳减排</a:t>
            </a:r>
            <a:endParaRPr sz="60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765262" y="4434839"/>
            <a:ext cx="182879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0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获得：减少碳排放 · 可持续时尚</a:t>
            </a:r>
            <a:endParaRPr sz="60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4572000" y="3566160"/>
            <a:ext cx="0" cy="1453896"/>
          </a:xfrm>
          <a:prstGeom prst="curvedConnector3">
            <a:avLst/>
          </a:prstGeom>
          <a:ln w="10160">
            <a:solidFill>
              <a:srgbClr val="4E729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 rot="21554806">
            <a:off x="3520440" y="4539996"/>
            <a:ext cx="2103120" cy="960120"/>
          </a:xfrm>
          <a:prstGeom prst="roundRect">
            <a:avLst>
              <a:gd name="adj" fmla="val 15000"/>
            </a:avLst>
          </a:prstGeom>
          <a:solidFill>
            <a:srgbClr val="4E729E">
              <a:alpha val="10000"/>
            </a:srgbClr>
          </a:solidFill>
          <a:ln w="10160">
            <a:solidFill>
              <a:srgbClr val="4E729E"/>
            </a:solidFill>
          </a:ln>
          <a:effectLst>
            <a:softEdge rad="5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 rot="19479">
            <a:off x="3648456" y="4649724"/>
            <a:ext cx="82296" cy="82296"/>
          </a:xfrm>
          <a:prstGeom prst="ellipse">
            <a:avLst/>
          </a:prstGeom>
          <a:solidFill>
            <a:srgbClr val="4E72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94760" y="4613148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4E729E"/>
                </a:solidFill>
                <a:latin typeface="Helvetica Neue"/>
                <a:ea typeface="微软雅黑" panose="020B0503020204020204" charset="-122"/>
              </a:rPr>
              <a:t>平台/品牌</a:t>
            </a:r>
            <a:endParaRPr sz="850" b="1" i="0">
              <a:solidFill>
                <a:srgbClr val="4E729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666744" y="4887468"/>
            <a:ext cx="182879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0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提供：商品库 · 流量入口</a:t>
            </a:r>
            <a:endParaRPr sz="60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666744" y="5161788"/>
            <a:ext cx="182879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0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获得：退货率降低 · 转化提升</a:t>
            </a:r>
            <a:endParaRPr sz="60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37" name="Connector 36"/>
          <p:cNvCxnSpPr/>
          <p:nvPr/>
        </p:nvCxnSpPr>
        <p:spPr>
          <a:xfrm flipH="1">
            <a:off x="2473481" y="3566160"/>
            <a:ext cx="2098519" cy="726947"/>
          </a:xfrm>
          <a:prstGeom prst="curvedConnector3">
            <a:avLst/>
          </a:prstGeom>
          <a:ln w="10160">
            <a:solidFill>
              <a:srgbClr val="3A5E8C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 rot="21573938">
            <a:off x="1421921" y="3813047"/>
            <a:ext cx="2103120" cy="960120"/>
          </a:xfrm>
          <a:prstGeom prst="roundRect">
            <a:avLst>
              <a:gd name="adj" fmla="val 15000"/>
            </a:avLst>
          </a:prstGeom>
          <a:solidFill>
            <a:srgbClr val="3A5E8C">
              <a:alpha val="10000"/>
            </a:srgbClr>
          </a:solidFill>
          <a:ln w="10160">
            <a:solidFill>
              <a:srgbClr val="3A5E8C"/>
            </a:solidFill>
          </a:ln>
          <a:effectLst>
            <a:softEdge rad="5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 rot="21584158">
            <a:off x="1549937" y="3922775"/>
            <a:ext cx="82296" cy="82296"/>
          </a:xfrm>
          <a:prstGeom prst="ellipse">
            <a:avLst/>
          </a:prstGeom>
          <a:solidFill>
            <a:srgbClr val="3A5E8C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696241" y="3886199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A5E8C"/>
                </a:solidFill>
                <a:latin typeface="Helvetica Neue"/>
                <a:ea typeface="微软雅黑" panose="020B0503020204020204" charset="-122"/>
              </a:rPr>
              <a:t>技术提供方</a:t>
            </a:r>
            <a:endParaRPr sz="850" b="1" i="0">
              <a:solidFill>
                <a:srgbClr val="3A5E8C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568225" y="4160519"/>
            <a:ext cx="182879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0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提供：AI 算法 · 3D 渲染 · 硬件</a:t>
            </a:r>
            <a:endParaRPr sz="60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568225" y="4434839"/>
            <a:ext cx="182879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0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获得：技术授权 · 硬件销售</a:t>
            </a:r>
            <a:endParaRPr sz="60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43" name="Connector 42"/>
          <p:cNvCxnSpPr/>
          <p:nvPr/>
        </p:nvCxnSpPr>
        <p:spPr>
          <a:xfrm flipH="1" flipV="1">
            <a:off x="2473481" y="2839212"/>
            <a:ext cx="2098519" cy="726948"/>
          </a:xfrm>
          <a:prstGeom prst="curvedConnector3">
            <a:avLst/>
          </a:prstGeom>
          <a:ln w="10160">
            <a:solidFill>
              <a:srgbClr val="2C4A6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 rot="21535225">
            <a:off x="1421921" y="2359152"/>
            <a:ext cx="2103120" cy="960120"/>
          </a:xfrm>
          <a:prstGeom prst="roundRect">
            <a:avLst>
              <a:gd name="adj" fmla="val 15000"/>
            </a:avLst>
          </a:prstGeom>
          <a:solidFill>
            <a:srgbClr val="2C4A6E">
              <a:alpha val="10000"/>
            </a:srgbClr>
          </a:solidFill>
          <a:ln w="10160">
            <a:solidFill>
              <a:srgbClr val="2C4A6E"/>
            </a:solidFill>
          </a:ln>
          <a:effectLst>
            <a:softEdge rad="5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 rot="40042">
            <a:off x="1549937" y="2468880"/>
            <a:ext cx="82296" cy="82296"/>
          </a:xfrm>
          <a:prstGeom prst="ellipse">
            <a:avLst/>
          </a:prstGeom>
          <a:solidFill>
            <a:srgbClr val="2C4A6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696241" y="2432304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消费者</a:t>
            </a:r>
            <a:endParaRPr sz="850" b="1" i="0">
              <a:solidFill>
                <a:srgbClr val="2C4A6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568225" y="2706624"/>
            <a:ext cx="182879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0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提供：自拍图 · 试穿数据(脱敏)</a:t>
            </a:r>
            <a:endParaRPr sz="60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568225" y="2980944"/>
            <a:ext cx="182879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0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获得：真实上身效果 · 尺码推荐</a:t>
            </a:r>
            <a:endParaRPr sz="60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50" name="Oval 49"/>
          <p:cNvSpPr/>
          <p:nvPr/>
        </p:nvSpPr>
        <p:spPr>
          <a:xfrm rot="21541961">
            <a:off x="502920" y="6446520"/>
            <a:ext cx="73152" cy="73152"/>
          </a:xfrm>
          <a:prstGeom prst="ellipse">
            <a:avLst/>
          </a:prstGeom>
          <a:solidFill>
            <a:srgbClr val="4E72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 rot="21568268">
            <a:off x="365760" y="292608"/>
            <a:ext cx="128016" cy="128016"/>
          </a:xfrm>
          <a:prstGeom prst="ellipse">
            <a:avLst/>
          </a:prstGeom>
          <a:solidFill>
            <a:srgbClr val="4E72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42A33"/>
                </a:solidFill>
                <a:latin typeface="Helvetica Neue"/>
                <a:ea typeface="微软雅黑" panose="020B0503020204020204" charset="-122"/>
              </a:rPr>
              <a:t>1.1  探索发现 · 问题分析发现</a:t>
            </a:r>
            <a:endParaRPr sz="1500" b="1" i="0">
              <a:solidFill>
                <a:srgbClr val="242A33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 spc="40">
                <a:solidFill>
                  <a:srgbClr val="6A7482"/>
                </a:solidFill>
                <a:latin typeface="Helvetica Neue"/>
                <a:ea typeface="微软雅黑" panose="020B0503020204020204" charset="-122"/>
              </a:rPr>
              <a:t>PROBLEM ANALYSIS  /  STRUCTURAL CONTRADICTION</a:t>
            </a:r>
            <a:endParaRPr sz="700" b="0" i="0" spc="40">
              <a:solidFill>
                <a:srgbClr val="6A7482"/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384048" y="566928"/>
            <a:ext cx="8028432" cy="0"/>
          </a:xfrm>
          <a:prstGeom prst="line">
            <a:avLst/>
          </a:prstGeom>
          <a:ln w="7620">
            <a:solidFill>
              <a:srgbClr val="E2E8F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656539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 i="0">
                <a:solidFill>
                  <a:srgbClr val="9AA2AE"/>
                </a:solidFill>
                <a:latin typeface="Helvetica Neue"/>
                <a:ea typeface="微软雅黑" panose="020B0503020204020204" charset="-122"/>
              </a:rPr>
              <a:t>幻衣 · 产品系统设计 · STAGE 01</a:t>
            </a:r>
            <a:endParaRPr sz="650" b="0" i="0">
              <a:solidFill>
                <a:srgbClr val="9AA2AE"/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365760" y="6528816"/>
            <a:ext cx="8412480" cy="0"/>
          </a:xfrm>
          <a:prstGeom prst="line">
            <a:avLst/>
          </a:prstGeom>
          <a:ln w="6350">
            <a:solidFill>
              <a:srgbClr val="E2E8F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84048" y="8686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三方痛点结构化梳理 → 收敛至「决策依据缺失」这一结构性矛盾，机会点精准对位痛点。</a:t>
            </a:r>
            <a:endParaRPr sz="9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 rot="21468000">
            <a:off x="384048" y="1325880"/>
            <a:ext cx="2697480" cy="2331720"/>
          </a:xfrm>
          <a:prstGeom prst="roundRect">
            <a:avLst>
              <a:gd name="adj" fmla="val 10000"/>
            </a:avLst>
          </a:prstGeom>
          <a:solidFill>
            <a:srgbClr val="E4ECF4">
              <a:alpha val="100000"/>
            </a:srgbClr>
          </a:solidFill>
          <a:ln w="10160">
            <a:solidFill>
              <a:srgbClr val="2C4A6E"/>
            </a:solidFill>
          </a:ln>
          <a:effectLst>
            <a:softEdge rad="5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 rot="21590640">
            <a:off x="548640" y="1472184"/>
            <a:ext cx="91440" cy="91440"/>
          </a:xfrm>
          <a:prstGeom prst="ellipse">
            <a:avLst/>
          </a:prstGeom>
          <a:solidFill>
            <a:srgbClr val="2C4A6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435607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242A33"/>
                </a:solidFill>
                <a:latin typeface="Helvetica Neue"/>
                <a:ea typeface="微软雅黑" panose="020B0503020204020204" charset="-122"/>
              </a:rPr>
              <a:t>消费者痛点</a:t>
            </a:r>
            <a:endParaRPr sz="1050" b="1" i="0">
              <a:solidFill>
                <a:srgbClr val="242A33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3" name="Oval 12"/>
          <p:cNvSpPr/>
          <p:nvPr/>
        </p:nvSpPr>
        <p:spPr>
          <a:xfrm rot="27961">
            <a:off x="566928" y="1819656"/>
            <a:ext cx="73152" cy="73152"/>
          </a:xfrm>
          <a:prstGeom prst="ellipse">
            <a:avLst/>
          </a:prstGeom>
          <a:solidFill>
            <a:srgbClr val="2C4A6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73736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尺码不合占退货 60%</a:t>
            </a:r>
            <a:endParaRPr sz="70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5" name="Oval 14"/>
          <p:cNvSpPr/>
          <p:nvPr/>
        </p:nvSpPr>
        <p:spPr>
          <a:xfrm rot="21562837">
            <a:off x="566928" y="2185416"/>
            <a:ext cx="73152" cy="73152"/>
          </a:xfrm>
          <a:prstGeom prst="ellipse">
            <a:avLst/>
          </a:prstGeom>
          <a:solidFill>
            <a:srgbClr val="2C4A6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10312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模特图无法参考上身效果</a:t>
            </a:r>
            <a:endParaRPr sz="70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7" name="Oval 16"/>
          <p:cNvSpPr/>
          <p:nvPr/>
        </p:nvSpPr>
        <p:spPr>
          <a:xfrm rot="21575298">
            <a:off x="566928" y="2551176"/>
            <a:ext cx="73152" cy="73152"/>
          </a:xfrm>
          <a:prstGeom prst="ellipse">
            <a:avLst/>
          </a:prstGeom>
          <a:solidFill>
            <a:srgbClr val="2C4A6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246888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退货需打包填单等快递</a:t>
            </a:r>
            <a:endParaRPr sz="70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9" name="Oval 18"/>
          <p:cNvSpPr/>
          <p:nvPr/>
        </p:nvSpPr>
        <p:spPr>
          <a:xfrm rot="21560927">
            <a:off x="566928" y="2916936"/>
            <a:ext cx="73152" cy="73152"/>
          </a:xfrm>
          <a:prstGeom prst="ellipse">
            <a:avLst/>
          </a:prstGeom>
          <a:solidFill>
            <a:srgbClr val="2C4A6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283464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常同时买两码退掉不合适</a:t>
            </a:r>
            <a:endParaRPr sz="70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 rot="90000">
            <a:off x="3246120" y="1188720"/>
            <a:ext cx="2743200" cy="2514600"/>
          </a:xfrm>
          <a:prstGeom prst="roundRect">
            <a:avLst>
              <a:gd name="adj" fmla="val 10000"/>
            </a:avLst>
          </a:prstGeom>
          <a:solidFill>
            <a:srgbClr val="E8EEF6">
              <a:alpha val="100000"/>
            </a:srgbClr>
          </a:solidFill>
          <a:ln w="10160">
            <a:solidFill>
              <a:srgbClr val="3A5E8C"/>
            </a:solidFill>
          </a:ln>
          <a:effectLst>
            <a:softEdge rad="5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 rot="62235">
            <a:off x="3410712" y="1335024"/>
            <a:ext cx="91440" cy="91440"/>
          </a:xfrm>
          <a:prstGeom prst="ellipse">
            <a:avLst/>
          </a:prstGeom>
          <a:solidFill>
            <a:srgbClr val="3A5E8C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75303" y="129844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242A33"/>
                </a:solidFill>
                <a:latin typeface="Helvetica Neue"/>
                <a:ea typeface="微软雅黑" panose="020B0503020204020204" charset="-122"/>
              </a:rPr>
              <a:t>实体门店痛点</a:t>
            </a:r>
            <a:endParaRPr sz="1050" b="1" i="0">
              <a:solidFill>
                <a:srgbClr val="242A33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24" name="Oval 23"/>
          <p:cNvSpPr/>
          <p:nvPr/>
        </p:nvSpPr>
        <p:spPr>
          <a:xfrm rot="32183">
            <a:off x="3429000" y="1682496"/>
            <a:ext cx="73152" cy="73152"/>
          </a:xfrm>
          <a:prstGeom prst="ellipse">
            <a:avLst/>
          </a:prstGeom>
          <a:solidFill>
            <a:srgbClr val="3A5E8C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75303" y="1600200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试衣间排队达 23 人</a:t>
            </a:r>
            <a:endParaRPr sz="70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26" name="Oval 25"/>
          <p:cNvSpPr/>
          <p:nvPr/>
        </p:nvSpPr>
        <p:spPr>
          <a:xfrm rot="21557457">
            <a:off x="3429000" y="2048256"/>
            <a:ext cx="73152" cy="73152"/>
          </a:xfrm>
          <a:prstGeom prst="ellipse">
            <a:avLst/>
          </a:prstGeom>
          <a:solidFill>
            <a:srgbClr val="3A5E8C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75303" y="1965960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镜面有限无法多件对比</a:t>
            </a:r>
            <a:endParaRPr sz="70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28" name="Oval 27"/>
          <p:cNvSpPr/>
          <p:nvPr/>
        </p:nvSpPr>
        <p:spPr>
          <a:xfrm rot="21556145">
            <a:off x="3429000" y="2414016"/>
            <a:ext cx="73152" cy="73152"/>
          </a:xfrm>
          <a:prstGeom prst="ellipse">
            <a:avLst/>
          </a:prstGeom>
          <a:solidFill>
            <a:srgbClr val="3A5E8C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75303" y="2331720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试 2–3 件即体力耗尽</a:t>
            </a:r>
            <a:endParaRPr sz="70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0" name="Oval 29"/>
          <p:cNvSpPr/>
          <p:nvPr/>
        </p:nvSpPr>
        <p:spPr>
          <a:xfrm rot="71144">
            <a:off x="3429000" y="2779776"/>
            <a:ext cx="73152" cy="73152"/>
          </a:xfrm>
          <a:prstGeom prst="ellipse">
            <a:avLst/>
          </a:prstGeom>
          <a:solidFill>
            <a:srgbClr val="3A5E8C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75303" y="2697480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45% 因试衣体验差而弃购</a:t>
            </a:r>
            <a:endParaRPr sz="70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2" name="Oval 31"/>
          <p:cNvSpPr/>
          <p:nvPr/>
        </p:nvSpPr>
        <p:spPr>
          <a:xfrm rot="21568174">
            <a:off x="3429000" y="3145536"/>
            <a:ext cx="73152" cy="73152"/>
          </a:xfrm>
          <a:prstGeom prst="ellipse">
            <a:avLst/>
          </a:prstGeom>
          <a:solidFill>
            <a:srgbClr val="3A5E8C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75303" y="3063240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试完不买转而网购同款</a:t>
            </a:r>
            <a:endParaRPr sz="70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 rot="21510000">
            <a:off x="6126480" y="1325880"/>
            <a:ext cx="2697480" cy="2331720"/>
          </a:xfrm>
          <a:prstGeom prst="roundRect">
            <a:avLst>
              <a:gd name="adj" fmla="val 10000"/>
            </a:avLst>
          </a:prstGeom>
          <a:solidFill>
            <a:srgbClr val="ECF0F6">
              <a:alpha val="100000"/>
            </a:srgbClr>
          </a:solidFill>
          <a:ln w="10160">
            <a:solidFill>
              <a:srgbClr val="4E729E"/>
            </a:solidFill>
          </a:ln>
          <a:effectLst>
            <a:softEdge rad="5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 rot="10478">
            <a:off x="6291072" y="1472184"/>
            <a:ext cx="91440" cy="91440"/>
          </a:xfrm>
          <a:prstGeom prst="ellipse">
            <a:avLst/>
          </a:prstGeom>
          <a:solidFill>
            <a:srgbClr val="4E72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55664" y="1435607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242A33"/>
                </a:solidFill>
                <a:latin typeface="Helvetica Neue"/>
                <a:ea typeface="微软雅黑" panose="020B0503020204020204" charset="-122"/>
              </a:rPr>
              <a:t>设计师痛点</a:t>
            </a:r>
            <a:endParaRPr sz="1050" b="1" i="0">
              <a:solidFill>
                <a:srgbClr val="242A33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7" name="Oval 36"/>
          <p:cNvSpPr/>
          <p:nvPr/>
        </p:nvSpPr>
        <p:spPr>
          <a:xfrm rot="21548877">
            <a:off x="6309360" y="1819656"/>
            <a:ext cx="73152" cy="73152"/>
          </a:xfrm>
          <a:prstGeom prst="ellipse">
            <a:avLst/>
          </a:prstGeom>
          <a:solidFill>
            <a:srgbClr val="4E72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55664" y="173736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打样占研发成本 35%+</a:t>
            </a:r>
            <a:endParaRPr sz="70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9" name="Oval 38"/>
          <p:cNvSpPr/>
          <p:nvPr/>
        </p:nvSpPr>
        <p:spPr>
          <a:xfrm rot="21591240">
            <a:off x="6309360" y="2185416"/>
            <a:ext cx="73152" cy="73152"/>
          </a:xfrm>
          <a:prstGeom prst="ellipse">
            <a:avLst/>
          </a:prstGeom>
          <a:solidFill>
            <a:srgbClr val="4E72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55664" y="210312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一轮一周改 2–3 轮才定版</a:t>
            </a:r>
            <a:endParaRPr sz="70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1" name="Oval 40"/>
          <p:cNvSpPr/>
          <p:nvPr/>
        </p:nvSpPr>
        <p:spPr>
          <a:xfrm rot="21564357">
            <a:off x="6309360" y="2551176"/>
            <a:ext cx="73152" cy="73152"/>
          </a:xfrm>
          <a:prstGeom prst="ellipse">
            <a:avLst/>
          </a:prstGeom>
          <a:solidFill>
            <a:srgbClr val="4E72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55664" y="246888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凭经验判版型，60% 退货源于尺码不合</a:t>
            </a:r>
            <a:endParaRPr sz="70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3" name="Oval 42"/>
          <p:cNvSpPr/>
          <p:nvPr/>
        </p:nvSpPr>
        <p:spPr>
          <a:xfrm rot="21533261">
            <a:off x="6309360" y="2916936"/>
            <a:ext cx="73152" cy="73152"/>
          </a:xfrm>
          <a:prstGeom prst="ellipse">
            <a:avLst/>
          </a:prstGeom>
          <a:solidFill>
            <a:srgbClr val="4E72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55664" y="283464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缺试穿偏好数据，库存周转 390 天</a:t>
            </a:r>
            <a:endParaRPr sz="70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45" name="Connector 44"/>
          <p:cNvCxnSpPr/>
          <p:nvPr/>
        </p:nvCxnSpPr>
        <p:spPr>
          <a:xfrm>
            <a:off x="1737360" y="3703320"/>
            <a:ext cx="1920240" cy="731520"/>
          </a:xfrm>
          <a:prstGeom prst="curvedConnector3">
            <a:avLst/>
          </a:prstGeom>
          <a:ln w="10160">
            <a:solidFill>
              <a:srgbClr val="6A748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4206240" y="3749039"/>
            <a:ext cx="411480" cy="685801"/>
          </a:xfrm>
          <a:prstGeom prst="curvedConnector3">
            <a:avLst/>
          </a:prstGeom>
          <a:ln w="10160">
            <a:solidFill>
              <a:srgbClr val="6A748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4754880" y="3703320"/>
            <a:ext cx="2697480" cy="731520"/>
          </a:xfrm>
          <a:prstGeom prst="curvedConnector3">
            <a:avLst/>
          </a:prstGeom>
          <a:ln w="10160">
            <a:solidFill>
              <a:srgbClr val="6A748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 rot="48000">
            <a:off x="2743200" y="4343400"/>
            <a:ext cx="3657600" cy="868680"/>
          </a:xfrm>
          <a:prstGeom prst="roundRect">
            <a:avLst>
              <a:gd name="adj" fmla="val 20000"/>
            </a:avLst>
          </a:prstGeom>
          <a:solidFill>
            <a:srgbClr val="2C4A6E">
              <a:alpha val="82000"/>
            </a:srgbClr>
          </a:solidFill>
          <a:ln w="10160">
            <a:solidFill>
              <a:srgbClr val="2C4A6E"/>
            </a:solidFill>
          </a:ln>
          <a:effectLst>
            <a:softEdge rad="4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 rot="21591120">
            <a:off x="2880360" y="4462272"/>
            <a:ext cx="91440" cy="91440"/>
          </a:xfrm>
          <a:prstGeom prst="ellipse">
            <a:avLst/>
          </a:prstGeom>
          <a:solidFill>
            <a:srgbClr val="9AB6D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063240" y="43891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7FAFD"/>
                </a:solidFill>
                <a:latin typeface="Helvetica Neue"/>
                <a:ea typeface="微软雅黑" panose="020B0503020204020204" charset="-122"/>
              </a:rPr>
              <a:t>结构性矛盾</a:t>
            </a:r>
            <a:endParaRPr sz="1150" b="1" i="0">
              <a:solidFill>
                <a:srgbClr val="F7FAFD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880360" y="4681728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>
                <a:solidFill>
                  <a:srgbClr val="9AB6D2"/>
                </a:solidFill>
                <a:latin typeface="Helvetica Neue"/>
                <a:ea typeface="微软雅黑" panose="020B0503020204020204" charset="-122"/>
              </a:rPr>
              <a:t>三方共同指向「决策依据缺失」</a:t>
            </a:r>
            <a:endParaRPr sz="800" b="0" i="0">
              <a:solidFill>
                <a:srgbClr val="9AB6D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84048" y="5349240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242A33"/>
                </a:solidFill>
                <a:latin typeface="Helvetica Neue"/>
                <a:ea typeface="微软雅黑" panose="020B0503020204020204" charset="-122"/>
              </a:rPr>
              <a:t>设计机会点 · Design Opportunities</a:t>
            </a:r>
            <a:endParaRPr sz="900" b="1" i="0">
              <a:solidFill>
                <a:srgbClr val="242A33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53" name="Rounded Rectangle 52"/>
          <p:cNvSpPr/>
          <p:nvPr/>
        </p:nvSpPr>
        <p:spPr>
          <a:xfrm rot="21595200">
            <a:off x="384048" y="5669280"/>
            <a:ext cx="1371600" cy="347472"/>
          </a:xfrm>
          <a:prstGeom prst="roundRect">
            <a:avLst>
              <a:gd name="adj" fmla="val 30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2C4A6E"/>
            </a:solidFill>
          </a:ln>
          <a:effectLst>
            <a:softEdge rad="3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84048" y="571500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1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AI 秒级试穿</a:t>
            </a:r>
            <a:endParaRPr sz="700" b="1" i="0">
              <a:solidFill>
                <a:srgbClr val="2C4A6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 rot="88200">
            <a:off x="1801368" y="5669280"/>
            <a:ext cx="1371600" cy="347472"/>
          </a:xfrm>
          <a:prstGeom prst="roundRect">
            <a:avLst>
              <a:gd name="adj" fmla="val 30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3A5E8C"/>
            </a:solidFill>
          </a:ln>
          <a:effectLst>
            <a:softEdge rad="3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801368" y="571500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1" i="0">
                <a:solidFill>
                  <a:srgbClr val="3A5E8C"/>
                </a:solidFill>
                <a:latin typeface="Helvetica Neue"/>
                <a:ea typeface="微软雅黑" panose="020B0503020204020204" charset="-122"/>
              </a:rPr>
              <a:t>尺码智能推荐</a:t>
            </a:r>
            <a:endParaRPr sz="700" b="1" i="0">
              <a:solidFill>
                <a:srgbClr val="3A5E8C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57" name="Rounded Rectangle 56"/>
          <p:cNvSpPr/>
          <p:nvPr/>
        </p:nvSpPr>
        <p:spPr>
          <a:xfrm rot="61200">
            <a:off x="3218688" y="5669280"/>
            <a:ext cx="1371600" cy="347472"/>
          </a:xfrm>
          <a:prstGeom prst="roundRect">
            <a:avLst>
              <a:gd name="adj" fmla="val 30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4E729E"/>
            </a:solidFill>
          </a:ln>
          <a:effectLst>
            <a:softEdge rad="3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18688" y="571500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1" i="0">
                <a:solidFill>
                  <a:srgbClr val="4E729E"/>
                </a:solidFill>
                <a:latin typeface="Helvetica Neue"/>
                <a:ea typeface="微软雅黑" panose="020B0503020204020204" charset="-122"/>
              </a:rPr>
              <a:t>多件一键对比</a:t>
            </a:r>
            <a:endParaRPr sz="700" b="1" i="0">
              <a:solidFill>
                <a:srgbClr val="4E729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59" name="Rounded Rectangle 58"/>
          <p:cNvSpPr/>
          <p:nvPr/>
        </p:nvSpPr>
        <p:spPr>
          <a:xfrm rot="34200">
            <a:off x="4636008" y="5669280"/>
            <a:ext cx="1371600" cy="347472"/>
          </a:xfrm>
          <a:prstGeom prst="roundRect">
            <a:avLst>
              <a:gd name="adj" fmla="val 30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2C4A6E"/>
            </a:solidFill>
          </a:ln>
          <a:effectLst>
            <a:softEdge rad="3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636008" y="571500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1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虚拟版型验证</a:t>
            </a:r>
            <a:endParaRPr sz="700" b="1" i="0">
              <a:solidFill>
                <a:srgbClr val="2C4A6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61" name="Rounded Rectangle 60"/>
          <p:cNvSpPr/>
          <p:nvPr/>
        </p:nvSpPr>
        <p:spPr>
          <a:xfrm rot="7200">
            <a:off x="6053328" y="5669280"/>
            <a:ext cx="1371600" cy="347472"/>
          </a:xfrm>
          <a:prstGeom prst="roundRect">
            <a:avLst>
              <a:gd name="adj" fmla="val 30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3A5E8C"/>
            </a:solidFill>
          </a:ln>
          <a:effectLst>
            <a:softEdge rad="3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053328" y="571500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1" i="0">
                <a:solidFill>
                  <a:srgbClr val="3A5E8C"/>
                </a:solidFill>
                <a:latin typeface="Helvetica Neue"/>
                <a:ea typeface="微软雅黑" panose="020B0503020204020204" charset="-122"/>
              </a:rPr>
              <a:t>试穿数据回流</a:t>
            </a:r>
            <a:endParaRPr sz="700" b="1" i="0">
              <a:solidFill>
                <a:srgbClr val="3A5E8C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63" name="Rounded Rectangle 62"/>
          <p:cNvSpPr/>
          <p:nvPr/>
        </p:nvSpPr>
        <p:spPr>
          <a:xfrm rot="21580200">
            <a:off x="7470648" y="5669280"/>
            <a:ext cx="1371600" cy="347472"/>
          </a:xfrm>
          <a:prstGeom prst="roundRect">
            <a:avLst>
              <a:gd name="adj" fmla="val 30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4E729E"/>
            </a:solidFill>
          </a:ln>
          <a:effectLst>
            <a:softEdge rad="3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470648" y="571500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1" i="0">
                <a:solidFill>
                  <a:srgbClr val="4E729E"/>
                </a:solidFill>
                <a:latin typeface="Helvetica Neue"/>
                <a:ea typeface="微软雅黑" panose="020B0503020204020204" charset="-122"/>
              </a:rPr>
              <a:t>低成本硬件</a:t>
            </a:r>
            <a:endParaRPr sz="700" b="1" i="0">
              <a:solidFill>
                <a:srgbClr val="4E729E"/>
              </a:solidFill>
              <a:latin typeface="Helvetica Neue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 rot="21579646">
            <a:off x="365760" y="292608"/>
            <a:ext cx="128016" cy="128016"/>
          </a:xfrm>
          <a:prstGeom prst="ellipse">
            <a:avLst/>
          </a:prstGeom>
          <a:solidFill>
            <a:srgbClr val="6A92B8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42A33"/>
                </a:solidFill>
                <a:latin typeface="Helvetica Neue"/>
                <a:ea typeface="微软雅黑" panose="020B0503020204020204" charset="-122"/>
              </a:rPr>
              <a:t>1.2  用户研究 · 调研方法</a:t>
            </a:r>
            <a:endParaRPr sz="1500" b="1" i="0">
              <a:solidFill>
                <a:srgbClr val="242A33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 spc="40">
                <a:solidFill>
                  <a:srgbClr val="6A7482"/>
                </a:solidFill>
                <a:latin typeface="Helvetica Neue"/>
                <a:ea typeface="微软雅黑" panose="020B0503020204020204" charset="-122"/>
              </a:rPr>
              <a:t>RESEARCH METHOD  /  TRIANGULATION APPROACH</a:t>
            </a:r>
            <a:endParaRPr sz="700" b="0" i="0" spc="40">
              <a:solidFill>
                <a:srgbClr val="6A7482"/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384048" y="566928"/>
            <a:ext cx="8028432" cy="0"/>
          </a:xfrm>
          <a:prstGeom prst="line">
            <a:avLst/>
          </a:prstGeom>
          <a:ln w="7620">
            <a:solidFill>
              <a:srgbClr val="E2E8F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656539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 i="0">
                <a:solidFill>
                  <a:srgbClr val="9AA2AE"/>
                </a:solidFill>
                <a:latin typeface="Helvetica Neue"/>
                <a:ea typeface="微软雅黑" panose="020B0503020204020204" charset="-122"/>
              </a:rPr>
              <a:t>幻衣 · 产品系统设计 · STAGE 01</a:t>
            </a:r>
            <a:endParaRPr sz="650" b="0" i="0">
              <a:solidFill>
                <a:srgbClr val="9AA2A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63840" y="656539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 i="0">
                <a:solidFill>
                  <a:srgbClr val="6A7482"/>
                </a:solidFill>
                <a:latin typeface="Helvetica Neue"/>
                <a:ea typeface="微软雅黑" panose="020B0503020204020204" charset="-122"/>
              </a:rPr>
              <a:t>04 / 07</a:t>
            </a:r>
            <a:endParaRPr sz="700" b="0" i="0">
              <a:solidFill>
                <a:srgbClr val="6A748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4048" y="8686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深度访谈 ＋ 实地观察 ＋ 问卷量化 · 三角互证，多源数据交叉验证洞察可靠性。</a:t>
            </a:r>
            <a:endParaRPr sz="9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 rot="21468000">
            <a:off x="384048" y="1325880"/>
            <a:ext cx="2697480" cy="2331720"/>
          </a:xfrm>
          <a:prstGeom prst="roundRect">
            <a:avLst>
              <a:gd name="adj" fmla="val 10000"/>
            </a:avLst>
          </a:prstGeom>
          <a:solidFill>
            <a:srgbClr val="E4ECF4">
              <a:alpha val="100000"/>
            </a:srgbClr>
          </a:solidFill>
          <a:ln w="10160">
            <a:solidFill>
              <a:srgbClr val="2C4A6E"/>
            </a:solidFill>
          </a:ln>
          <a:effectLst>
            <a:softEdge rad="5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 rot="21574015">
            <a:off x="548640" y="1472184"/>
            <a:ext cx="91440" cy="91440"/>
          </a:xfrm>
          <a:prstGeom prst="ellipse">
            <a:avLst/>
          </a:prstGeom>
          <a:solidFill>
            <a:srgbClr val="2C4A6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435607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242A33"/>
                </a:solidFill>
                <a:latin typeface="Helvetica Neue"/>
                <a:ea typeface="微软雅黑" panose="020B0503020204020204" charset="-122"/>
              </a:rPr>
              <a:t>深度访谈</a:t>
            </a:r>
            <a:endParaRPr sz="1100" b="1" i="0">
              <a:solidFill>
                <a:srgbClr val="242A33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1728216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 i="0">
                <a:solidFill>
                  <a:srgbClr val="6A7482"/>
                </a:solidFill>
                <a:latin typeface="Helvetica Neue"/>
                <a:ea typeface="微软雅黑" panose="020B0503020204020204" charset="-122"/>
              </a:rPr>
              <a:t>In-depth Interview</a:t>
            </a:r>
            <a:endParaRPr sz="650" b="0" i="0">
              <a:solidFill>
                <a:srgbClr val="6A748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1984248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6 人 · 12 场</a:t>
            </a:r>
            <a:endParaRPr sz="1300" b="1" i="0">
              <a:solidFill>
                <a:srgbClr val="2C4A6E"/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548640" y="2286000"/>
            <a:ext cx="2395728" cy="0"/>
          </a:xfrm>
          <a:prstGeom prst="line">
            <a:avLst/>
          </a:prstGeom>
          <a:ln w="6350">
            <a:solidFill>
              <a:srgbClr val="E2E8F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2359152"/>
            <a:ext cx="23774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小美（网购青年）、小丽（实体店消费者）、小张（独立设计师）各 2 人，半结构化访谈，聚焦试衣决策与退货体验，捕捉情绪与真实行为。</a:t>
            </a:r>
            <a:endParaRPr sz="6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 rot="90000">
            <a:off x="3246120" y="1188720"/>
            <a:ext cx="2743200" cy="2514600"/>
          </a:xfrm>
          <a:prstGeom prst="roundRect">
            <a:avLst>
              <a:gd name="adj" fmla="val 10000"/>
            </a:avLst>
          </a:prstGeom>
          <a:solidFill>
            <a:srgbClr val="E8EEF6">
              <a:alpha val="100000"/>
            </a:srgbClr>
          </a:solidFill>
          <a:ln w="10160">
            <a:solidFill>
              <a:srgbClr val="3A5E8C"/>
            </a:solidFill>
          </a:ln>
          <a:effectLst>
            <a:softEdge rad="5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 rot="21591612">
            <a:off x="3410712" y="1335024"/>
            <a:ext cx="91440" cy="91440"/>
          </a:xfrm>
          <a:prstGeom prst="ellipse">
            <a:avLst/>
          </a:prstGeom>
          <a:solidFill>
            <a:srgbClr val="3A5E8C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75303" y="129844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242A33"/>
                </a:solidFill>
                <a:latin typeface="Helvetica Neue"/>
                <a:ea typeface="微软雅黑" panose="020B0503020204020204" charset="-122"/>
              </a:rPr>
              <a:t>实地观察</a:t>
            </a:r>
            <a:endParaRPr sz="1100" b="1" i="0">
              <a:solidFill>
                <a:srgbClr val="242A33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10712" y="1591056"/>
            <a:ext cx="2423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 i="0">
                <a:solidFill>
                  <a:srgbClr val="6A7482"/>
                </a:solidFill>
                <a:latin typeface="Helvetica Neue"/>
                <a:ea typeface="微软雅黑" panose="020B0503020204020204" charset="-122"/>
              </a:rPr>
              <a:t>Field Observation</a:t>
            </a:r>
            <a:endParaRPr sz="650" b="0" i="0">
              <a:solidFill>
                <a:srgbClr val="6A748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10712" y="1847088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3A5E8C"/>
                </a:solidFill>
                <a:latin typeface="Helvetica Neue"/>
                <a:ea typeface="微软雅黑" panose="020B0503020204020204" charset="-122"/>
              </a:rPr>
              <a:t>3 场景 · 8 小时</a:t>
            </a:r>
            <a:endParaRPr sz="1300" b="1" i="0">
              <a:solidFill>
                <a:srgbClr val="3A5E8C"/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410712" y="2148840"/>
            <a:ext cx="2441447" cy="0"/>
          </a:xfrm>
          <a:prstGeom prst="line">
            <a:avLst/>
          </a:prstGeom>
          <a:ln w="6350">
            <a:solidFill>
              <a:srgbClr val="E2E8F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410712" y="2221991"/>
            <a:ext cx="24231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快时尚门店试衣间排队观察、设计师工作室打样流程记录、网购退货包裹拆箱跟踪，捕捉真实行为与情绪波动。</a:t>
            </a:r>
            <a:endParaRPr sz="6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 rot="21510000">
            <a:off x="6126480" y="1325880"/>
            <a:ext cx="2697480" cy="2331720"/>
          </a:xfrm>
          <a:prstGeom prst="roundRect">
            <a:avLst>
              <a:gd name="adj" fmla="val 10000"/>
            </a:avLst>
          </a:prstGeom>
          <a:solidFill>
            <a:srgbClr val="ECF0F6">
              <a:alpha val="100000"/>
            </a:srgbClr>
          </a:solidFill>
          <a:ln w="10160">
            <a:solidFill>
              <a:srgbClr val="4E729E"/>
            </a:solidFill>
          </a:ln>
          <a:effectLst>
            <a:softEdge rad="5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 rot="22184">
            <a:off x="6291072" y="1472184"/>
            <a:ext cx="91440" cy="91440"/>
          </a:xfrm>
          <a:prstGeom prst="ellipse">
            <a:avLst/>
          </a:prstGeom>
          <a:solidFill>
            <a:srgbClr val="4E72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5664" y="1435607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242A33"/>
                </a:solidFill>
                <a:latin typeface="Helvetica Neue"/>
                <a:ea typeface="微软雅黑" panose="020B0503020204020204" charset="-122"/>
              </a:rPr>
              <a:t>问卷量化</a:t>
            </a:r>
            <a:endParaRPr sz="1100" b="1" i="0">
              <a:solidFill>
                <a:srgbClr val="242A33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291072" y="1728216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 i="0">
                <a:solidFill>
                  <a:srgbClr val="6A7482"/>
                </a:solidFill>
                <a:latin typeface="Helvetica Neue"/>
                <a:ea typeface="微软雅黑" panose="020B0503020204020204" charset="-122"/>
              </a:rPr>
              <a:t>Survey Quantification</a:t>
            </a:r>
            <a:endParaRPr sz="650" b="0" i="0">
              <a:solidFill>
                <a:srgbClr val="6A748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291072" y="1984248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4E729E"/>
                </a:solidFill>
                <a:latin typeface="Helvetica Neue"/>
                <a:ea typeface="微软雅黑" panose="020B0503020204020204" charset="-122"/>
              </a:rPr>
              <a:t>152 份</a:t>
            </a:r>
            <a:endParaRPr sz="1300" b="1" i="0">
              <a:solidFill>
                <a:srgbClr val="4E729E"/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6291072" y="2286000"/>
            <a:ext cx="2395728" cy="0"/>
          </a:xfrm>
          <a:prstGeom prst="line">
            <a:avLst/>
          </a:prstGeom>
          <a:ln w="6350">
            <a:solidFill>
              <a:srgbClr val="E2E8F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291072" y="2359152"/>
            <a:ext cx="23774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覆盖 18–35 岁女性与独立设计师，量化退货率、排队时长、打样成本占比、试穿满意度，验证访谈洞察的代表性。</a:t>
            </a:r>
            <a:endParaRPr sz="6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743200" y="384048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242A33"/>
                </a:solidFill>
                <a:latin typeface="Helvetica Neue"/>
                <a:ea typeface="微软雅黑" panose="020B0503020204020204" charset="-122"/>
              </a:rPr>
              <a:t>三角互证 · Triangulation</a:t>
            </a:r>
            <a:endParaRPr sz="950" b="1" i="0">
              <a:solidFill>
                <a:srgbClr val="242A33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2" name="Oval 31"/>
          <p:cNvSpPr/>
          <p:nvPr/>
        </p:nvSpPr>
        <p:spPr>
          <a:xfrm rot="21589426">
            <a:off x="3840480" y="4160520"/>
            <a:ext cx="1005840" cy="1005840"/>
          </a:xfrm>
          <a:prstGeom prst="ellipse">
            <a:avLst/>
          </a:prstGeom>
          <a:solidFill>
            <a:srgbClr val="2C4A6E">
              <a:alpha val="10000"/>
            </a:srgbClr>
          </a:solidFill>
          <a:ln w="11430">
            <a:solidFill>
              <a:srgbClr val="2C4A6E"/>
            </a:solidFill>
          </a:ln>
          <a:effectLst>
            <a:softEdge rad="2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 rot="47561">
            <a:off x="3246120" y="5074920"/>
            <a:ext cx="822960" cy="822960"/>
          </a:xfrm>
          <a:prstGeom prst="ellipse">
            <a:avLst/>
          </a:prstGeom>
          <a:solidFill>
            <a:srgbClr val="2C4A6E">
              <a:alpha val="14000"/>
            </a:srgbClr>
          </a:solidFill>
          <a:ln w="1143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 rot="38">
            <a:off x="4617720" y="5074920"/>
            <a:ext cx="822960" cy="822960"/>
          </a:xfrm>
          <a:prstGeom prst="ellipse">
            <a:avLst/>
          </a:prstGeom>
          <a:solidFill>
            <a:srgbClr val="3A5E8C">
              <a:alpha val="14000"/>
            </a:srgbClr>
          </a:solidFill>
          <a:ln w="11430">
            <a:solidFill>
              <a:srgbClr val="3A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0" y="443484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1" i="0">
                <a:solidFill>
                  <a:srgbClr val="242A33"/>
                </a:solidFill>
                <a:latin typeface="Helvetica Neue"/>
                <a:ea typeface="微软雅黑" panose="020B0503020204020204" charset="-122"/>
              </a:rPr>
              <a:t>洞察互证</a:t>
            </a:r>
            <a:endParaRPr sz="700" b="1" i="0">
              <a:solidFill>
                <a:srgbClr val="242A33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246120" y="5230368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1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访谈</a:t>
            </a:r>
            <a:endParaRPr sz="700" b="1" i="0">
              <a:solidFill>
                <a:srgbClr val="2C4A6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617720" y="5230368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1" i="0">
                <a:solidFill>
                  <a:srgbClr val="3A5E8C"/>
                </a:solidFill>
                <a:latin typeface="Helvetica Neue"/>
                <a:ea typeface="微软雅黑" panose="020B0503020204020204" charset="-122"/>
              </a:rPr>
              <a:t>观察</a:t>
            </a:r>
            <a:endParaRPr sz="700" b="1" i="0">
              <a:solidFill>
                <a:srgbClr val="3A5E8C"/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38" name="Connector 37"/>
          <p:cNvCxnSpPr/>
          <p:nvPr/>
        </p:nvCxnSpPr>
        <p:spPr>
          <a:xfrm flipH="1">
            <a:off x="3749039" y="4983480"/>
            <a:ext cx="365761" cy="137160"/>
          </a:xfrm>
          <a:prstGeom prst="curvedConnector3">
            <a:avLst/>
          </a:prstGeom>
          <a:ln w="8890">
            <a:solidFill>
              <a:srgbClr val="9AA2A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572000" y="4983480"/>
            <a:ext cx="365760" cy="137160"/>
          </a:xfrm>
          <a:prstGeom prst="curvedConnector3">
            <a:avLst/>
          </a:prstGeom>
          <a:ln w="8890">
            <a:solidFill>
              <a:srgbClr val="9AA2A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069080" y="5486400"/>
            <a:ext cx="548640" cy="0"/>
          </a:xfrm>
          <a:prstGeom prst="line">
            <a:avLst/>
          </a:prstGeom>
          <a:ln w="8890">
            <a:solidFill>
              <a:srgbClr val="9AA2A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200400" y="553212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1" i="0">
                <a:solidFill>
                  <a:srgbClr val="4E729E"/>
                </a:solidFill>
                <a:latin typeface="Helvetica Neue"/>
                <a:ea typeface="微软雅黑" panose="020B0503020204020204" charset="-122"/>
              </a:rPr>
              <a:t>＋问卷量化</a:t>
            </a:r>
            <a:endParaRPr sz="650" b="1" i="0">
              <a:solidFill>
                <a:srgbClr val="4E729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 rot="21540000">
            <a:off x="6126480" y="3886200"/>
            <a:ext cx="2697480" cy="2103120"/>
          </a:xfrm>
          <a:prstGeom prst="roundRect">
            <a:avLst>
              <a:gd name="adj" fmla="val 10000"/>
            </a:avLst>
          </a:prstGeom>
          <a:solidFill>
            <a:srgbClr val="EEF1F5">
              <a:alpha val="100000"/>
            </a:srgbClr>
          </a:solidFill>
          <a:ln w="6350">
            <a:solidFill>
              <a:srgbClr val="5A708E"/>
            </a:solidFill>
          </a:ln>
          <a:effectLst>
            <a:softEdge rad="4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3950208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A708E"/>
                </a:solidFill>
                <a:latin typeface="Helvetica Neue"/>
                <a:ea typeface="微软雅黑" panose="020B0503020204020204" charset="-122"/>
              </a:rPr>
              <a:t>关键发现 · Key Findings</a:t>
            </a:r>
            <a:endParaRPr sz="850" b="1" i="0">
              <a:solidFill>
                <a:srgbClr val="5A708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4" name="Oval 43"/>
          <p:cNvSpPr/>
          <p:nvPr/>
        </p:nvSpPr>
        <p:spPr>
          <a:xfrm rot="45844">
            <a:off x="6263640" y="4251960"/>
            <a:ext cx="64008" cy="64008"/>
          </a:xfrm>
          <a:prstGeom prst="ellipse">
            <a:avLst/>
          </a:prstGeom>
          <a:solidFill>
            <a:srgbClr val="242A3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73368" y="422452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退货率超 60%，尺码不合为首因</a:t>
            </a:r>
            <a:endParaRPr sz="6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6" name="Oval 45"/>
          <p:cNvSpPr/>
          <p:nvPr/>
        </p:nvSpPr>
        <p:spPr>
          <a:xfrm rot="21593585">
            <a:off x="6263640" y="4590288"/>
            <a:ext cx="64008" cy="64008"/>
          </a:xfrm>
          <a:prstGeom prst="ellipse">
            <a:avLst/>
          </a:prstGeom>
          <a:solidFill>
            <a:srgbClr val="242A3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73368" y="4562856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45% 因试衣体验差而弃购</a:t>
            </a:r>
            <a:endParaRPr sz="6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8" name="Oval 47"/>
          <p:cNvSpPr/>
          <p:nvPr/>
        </p:nvSpPr>
        <p:spPr>
          <a:xfrm rot="51769">
            <a:off x="6263640" y="4928616"/>
            <a:ext cx="64008" cy="64008"/>
          </a:xfrm>
          <a:prstGeom prst="ellipse">
            <a:avLst/>
          </a:prstGeom>
          <a:solidFill>
            <a:srgbClr val="242A3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73368" y="4901184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打样占研发成本 35%+</a:t>
            </a:r>
            <a:endParaRPr sz="6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50" name="Oval 49"/>
          <p:cNvSpPr/>
          <p:nvPr/>
        </p:nvSpPr>
        <p:spPr>
          <a:xfrm rot="5859">
            <a:off x="6263640" y="5266944"/>
            <a:ext cx="64008" cy="64008"/>
          </a:xfrm>
          <a:prstGeom prst="ellipse">
            <a:avLst/>
          </a:prstGeom>
          <a:solidFill>
            <a:srgbClr val="242A3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73368" y="5239512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库存周转达 390 天</a:t>
            </a:r>
            <a:endParaRPr sz="6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52" name="Oval 51"/>
          <p:cNvSpPr/>
          <p:nvPr/>
        </p:nvSpPr>
        <p:spPr>
          <a:xfrm rot="32867">
            <a:off x="6263640" y="5605272"/>
            <a:ext cx="64008" cy="64008"/>
          </a:xfrm>
          <a:prstGeom prst="ellipse">
            <a:avLst/>
          </a:prstGeom>
          <a:solidFill>
            <a:srgbClr val="242A3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73368" y="557784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三方共同指向决策依据缺失</a:t>
            </a:r>
            <a:endParaRPr sz="6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 rot="21556607">
            <a:off x="365760" y="292608"/>
            <a:ext cx="128016" cy="128016"/>
          </a:xfrm>
          <a:prstGeom prst="ellipse">
            <a:avLst/>
          </a:prstGeom>
          <a:solidFill>
            <a:srgbClr val="2C4A6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42A33"/>
                </a:solidFill>
                <a:latin typeface="Helvetica Neue"/>
                <a:ea typeface="微软雅黑" panose="020B0503020204020204" charset="-122"/>
              </a:rPr>
              <a:t>1.2  用户研究 · 用户画像</a:t>
            </a:r>
            <a:endParaRPr sz="1500" b="1" i="0">
              <a:solidFill>
                <a:srgbClr val="242A33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 spc="40">
                <a:solidFill>
                  <a:srgbClr val="6A7482"/>
                </a:solidFill>
                <a:latin typeface="Helvetica Neue"/>
                <a:ea typeface="微软雅黑" panose="020B0503020204020204" charset="-122"/>
              </a:rPr>
              <a:t>USER PERSONA  /  XIAOMEI × XIAOLI × XIAOZHANG</a:t>
            </a:r>
            <a:endParaRPr sz="700" b="0" i="0" spc="40">
              <a:solidFill>
                <a:srgbClr val="6A7482"/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384048" y="566928"/>
            <a:ext cx="8028432" cy="0"/>
          </a:xfrm>
          <a:prstGeom prst="line">
            <a:avLst/>
          </a:prstGeom>
          <a:ln w="7620">
            <a:solidFill>
              <a:srgbClr val="E2E8F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656539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 i="0">
                <a:solidFill>
                  <a:srgbClr val="9AA2AE"/>
                </a:solidFill>
                <a:latin typeface="Helvetica Neue"/>
                <a:ea typeface="微软雅黑" panose="020B0503020204020204" charset="-122"/>
              </a:rPr>
              <a:t>幻衣 · 产品系统设计 · STAGE 01</a:t>
            </a:r>
            <a:endParaRPr sz="650" b="0" i="0">
              <a:solidFill>
                <a:srgbClr val="9AA2A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63840" y="656539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 i="0">
                <a:solidFill>
                  <a:srgbClr val="6A7482"/>
                </a:solidFill>
                <a:latin typeface="Helvetica Neue"/>
                <a:ea typeface="微软雅黑" panose="020B0503020204020204" charset="-122"/>
              </a:rPr>
              <a:t>05 / 07</a:t>
            </a:r>
            <a:endParaRPr sz="700" b="0" i="0">
              <a:solidFill>
                <a:srgbClr val="6A7482"/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365760" y="6528816"/>
            <a:ext cx="8412480" cy="0"/>
          </a:xfrm>
          <a:prstGeom prst="line">
            <a:avLst/>
          </a:prstGeom>
          <a:ln w="6350">
            <a:solidFill>
              <a:srgbClr val="E2E8F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84048" y="8686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三类核心用户画像 · 网购青年 / 实体店消费者 / 独立设计师，完整保留调研原文。</a:t>
            </a:r>
            <a:endParaRPr sz="9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 rot="21480000">
            <a:off x="365760" y="1143000"/>
            <a:ext cx="2788920" cy="5212080"/>
          </a:xfrm>
          <a:prstGeom prst="roundRect">
            <a:avLst>
              <a:gd name="adj" fmla="val 4000"/>
            </a:avLst>
          </a:prstGeom>
          <a:solidFill>
            <a:srgbClr val="E4ECF4">
              <a:alpha val="100000"/>
            </a:srgbClr>
          </a:solidFill>
          <a:ln w="7620">
            <a:solidFill>
              <a:srgbClr val="2C4A6E"/>
            </a:solidFill>
          </a:ln>
          <a:effectLst>
            <a:softEdge rad="12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 rot="21480000">
            <a:off x="365760" y="1143000"/>
            <a:ext cx="2788920" cy="438912"/>
          </a:xfrm>
          <a:prstGeom prst="roundRect">
            <a:avLst>
              <a:gd name="adj" fmla="val 4000"/>
            </a:avLst>
          </a:prstGeom>
          <a:solidFill>
            <a:srgbClr val="2C4A6E">
              <a:alpha val="100000"/>
            </a:srgbClr>
          </a:solidFill>
          <a:ln>
            <a:noFill/>
          </a:ln>
          <a:effectLst>
            <a:softEdge rad="12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197864"/>
            <a:ext cx="25146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F7FAFD"/>
                </a:solidFill>
                <a:latin typeface="Helvetica Neue"/>
                <a:ea typeface="微软雅黑" panose="020B0503020204020204" charset="-122"/>
              </a:rPr>
              <a:t>小美 · 网购青年</a:t>
            </a:r>
            <a:endParaRPr sz="850" b="1" i="0">
              <a:solidFill>
                <a:srgbClr val="F7FAFD"/>
              </a:solidFill>
              <a:latin typeface="Helvetica Neue"/>
              <a:ea typeface="微软雅黑" panose="020B0503020204020204" charset="-122"/>
            </a:endParaRPr>
          </a:p>
        </p:txBody>
      </p:sp>
      <p:pic>
        <p:nvPicPr>
          <p:cNvPr id="13" name="Picture 12" descr="xiaomei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480000">
            <a:off x="475488" y="1673352"/>
            <a:ext cx="868680" cy="921801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 rot="21480000">
            <a:off x="1417319" y="1673352"/>
            <a:ext cx="1600199" cy="86868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5080">
            <a:solidFill>
              <a:srgbClr val="E2E8F0"/>
            </a:solidFill>
          </a:ln>
          <a:effectLst>
            <a:softEdge rad="8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8760" y="1709928"/>
            <a:ext cx="141731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1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基本信息</a:t>
            </a:r>
            <a:endParaRPr sz="650" b="1" i="0">
              <a:solidFill>
                <a:srgbClr val="2C4A6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08760" y="1911095"/>
            <a:ext cx="141731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58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年龄 20 岁 · 大学生
个性 尺码焦虑·图文落差·低耐心</a:t>
            </a:r>
            <a:endParaRPr sz="58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 rot="21480000">
            <a:off x="475488" y="2624328"/>
            <a:ext cx="2569463" cy="777240"/>
          </a:xfrm>
          <a:prstGeom prst="roundRect">
            <a:avLst>
              <a:gd name="adj" fmla="val 8000"/>
            </a:avLst>
          </a:prstGeom>
          <a:solidFill>
            <a:srgbClr val="2C4A6E">
              <a:alpha val="8000"/>
            </a:srgbClr>
          </a:solidFill>
          <a:ln w="3810">
            <a:solidFill>
              <a:srgbClr val="2C4A6E"/>
            </a:solidFill>
          </a:ln>
          <a:effectLst>
            <a:softEdge rad="8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660904"/>
            <a:ext cx="24231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50" b="0" i="1">
                <a:solidFill>
                  <a:srgbClr val="242A33"/>
                </a:solidFill>
                <a:latin typeface="Helvetica Neue"/>
                <a:ea typeface="微软雅黑" panose="020B0503020204020204" charset="-122"/>
              </a:rPr>
              <a:t>“翻半天买家秀也看不出自己穿啥样。买回来不合适，退货还要约快递、打包、填单子，想想就烦。”</a:t>
            </a:r>
            <a:endParaRPr sz="550" b="0" i="1">
              <a:solidFill>
                <a:srgbClr val="242A33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 rot="21480000">
            <a:off x="475488" y="3474720"/>
            <a:ext cx="2569463" cy="123444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5080">
            <a:solidFill>
              <a:srgbClr val="E2E8F0"/>
            </a:solidFill>
          </a:ln>
          <a:effectLst>
            <a:softEdge rad="8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502152"/>
            <a:ext cx="123901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1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需求</a:t>
            </a:r>
            <a:endParaRPr sz="650" b="1" i="0">
              <a:solidFill>
                <a:srgbClr val="2C4A6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833372" y="3502152"/>
            <a:ext cx="123901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1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痛点</a:t>
            </a:r>
            <a:endParaRPr sz="650" b="1" i="0">
              <a:solidFill>
                <a:srgbClr val="2C4A6E"/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1833372" y="3685031"/>
            <a:ext cx="0" cy="960120"/>
          </a:xfrm>
          <a:prstGeom prst="line">
            <a:avLst/>
          </a:prstGeom>
          <a:ln w="5080">
            <a:solidFill>
              <a:srgbClr val="E2E8F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6928" y="3721608"/>
            <a:ext cx="119329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1. 找到合适尺码</a:t>
            </a:r>
            <a:endParaRPr sz="5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66928" y="3941064"/>
            <a:ext cx="119329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2. 看到真实上身参考</a:t>
            </a:r>
            <a:endParaRPr sz="5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66928" y="4160520"/>
            <a:ext cx="119329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3. 面料展示</a:t>
            </a:r>
            <a:endParaRPr sz="5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66928" y="4379976"/>
            <a:ext cx="119329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4. 多件快速对比</a:t>
            </a:r>
            <a:endParaRPr sz="5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888236" y="3721608"/>
            <a:ext cx="119329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1. 尺码不合</a:t>
            </a:r>
            <a:endParaRPr sz="5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888236" y="3941064"/>
            <a:ext cx="119329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2. 图实差距</a:t>
            </a:r>
            <a:endParaRPr sz="5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888236" y="4160520"/>
            <a:ext cx="119329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3. 退货成本高</a:t>
            </a:r>
            <a:endParaRPr sz="5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888236" y="4379976"/>
            <a:ext cx="119329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4. 选择成本高</a:t>
            </a:r>
            <a:endParaRPr sz="5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 rot="21480000">
            <a:off x="475488" y="4727448"/>
            <a:ext cx="2569463" cy="566928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5080">
            <a:solidFill>
              <a:srgbClr val="E2E8F0"/>
            </a:solidFill>
          </a:ln>
          <a:effectLst>
            <a:softEdge rad="8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745736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1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偏好</a:t>
            </a:r>
            <a:endParaRPr sz="650" b="1" i="0">
              <a:solidFill>
                <a:srgbClr val="2C4A6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48640" y="4910328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3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翻买家秀/同时买两码/买运费险/直接放弃换店</a:t>
            </a:r>
            <a:endParaRPr sz="53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 rot="21480000">
            <a:off x="475488" y="5349240"/>
            <a:ext cx="2569463" cy="566928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5080">
            <a:solidFill>
              <a:srgbClr val="E2E8F0"/>
            </a:solidFill>
          </a:ln>
          <a:effectLst>
            <a:softEdge rad="8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367528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1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媒介</a:t>
            </a:r>
            <a:endParaRPr sz="650" b="1" i="0">
              <a:solidFill>
                <a:srgbClr val="2C4A6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48640" y="553212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3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淘宝天猫京东拼多多抖音/小红书抖音博主/买家秀尺码表</a:t>
            </a:r>
            <a:endParaRPr sz="53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 rot="21480000">
            <a:off x="475488" y="5971032"/>
            <a:ext cx="2569463" cy="566928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5080">
            <a:solidFill>
              <a:srgbClr val="E2E8F0"/>
            </a:solidFill>
          </a:ln>
          <a:effectLst>
            <a:softEdge rad="8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98932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1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场景</a:t>
            </a:r>
            <a:endParaRPr sz="650" b="1" i="0">
              <a:solidFill>
                <a:srgbClr val="2C4A6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48640" y="6153912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3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躺床刷手机下单/宿舍拆快递试穿退货/通勤收藏等大促</a:t>
            </a:r>
            <a:endParaRPr sz="53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 rot="90000">
            <a:off x="3200400" y="1280160"/>
            <a:ext cx="2743200" cy="5074920"/>
          </a:xfrm>
          <a:prstGeom prst="roundRect">
            <a:avLst>
              <a:gd name="adj" fmla="val 4000"/>
            </a:avLst>
          </a:prstGeom>
          <a:solidFill>
            <a:srgbClr val="E8EEF6">
              <a:alpha val="100000"/>
            </a:srgbClr>
          </a:solidFill>
          <a:ln w="7620">
            <a:solidFill>
              <a:srgbClr val="3A5E8C"/>
            </a:solidFill>
          </a:ln>
          <a:effectLst>
            <a:softEdge rad="12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 rot="90000">
            <a:off x="3200400" y="1280160"/>
            <a:ext cx="2743200" cy="438912"/>
          </a:xfrm>
          <a:prstGeom prst="roundRect">
            <a:avLst>
              <a:gd name="adj" fmla="val 4000"/>
            </a:avLst>
          </a:prstGeom>
          <a:solidFill>
            <a:srgbClr val="3A5E8C">
              <a:alpha val="100000"/>
            </a:srgbClr>
          </a:solidFill>
          <a:ln>
            <a:noFill/>
          </a:ln>
          <a:effectLst>
            <a:softEdge rad="12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37560" y="1335024"/>
            <a:ext cx="24688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F7FAFD"/>
                </a:solidFill>
                <a:latin typeface="Helvetica Neue"/>
                <a:ea typeface="微软雅黑" panose="020B0503020204020204" charset="-122"/>
              </a:rPr>
              <a:t>小丽 · 实体店消费者</a:t>
            </a:r>
            <a:endParaRPr sz="850" b="1" i="0">
              <a:solidFill>
                <a:srgbClr val="F7FAFD"/>
              </a:solidFill>
              <a:latin typeface="Helvetica Neue"/>
              <a:ea typeface="微软雅黑" panose="020B0503020204020204" charset="-122"/>
            </a:endParaRPr>
          </a:p>
        </p:txBody>
      </p:sp>
      <p:pic>
        <p:nvPicPr>
          <p:cNvPr id="43" name="Picture 42" descr="xiaol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90000">
            <a:off x="3310128" y="1810512"/>
            <a:ext cx="868680" cy="921801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 rot="90000">
            <a:off x="4251960" y="1810512"/>
            <a:ext cx="1554480" cy="86868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5080">
            <a:solidFill>
              <a:srgbClr val="E2E8F0"/>
            </a:solidFill>
          </a:ln>
          <a:effectLst>
            <a:softEdge rad="8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43400" y="184708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1" i="0">
                <a:solidFill>
                  <a:srgbClr val="3A5E8C"/>
                </a:solidFill>
                <a:latin typeface="Helvetica Neue"/>
                <a:ea typeface="微软雅黑" panose="020B0503020204020204" charset="-122"/>
              </a:rPr>
              <a:t>基本信息</a:t>
            </a:r>
            <a:endParaRPr sz="650" b="1" i="0">
              <a:solidFill>
                <a:srgbClr val="3A5E8C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343400" y="2048255"/>
            <a:ext cx="1371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58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年龄 25 岁 · 上班族
个性 冲动体验型·重面料·易放弃</a:t>
            </a:r>
            <a:endParaRPr sz="58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7" name="Rounded Rectangle 46"/>
          <p:cNvSpPr/>
          <p:nvPr/>
        </p:nvSpPr>
        <p:spPr>
          <a:xfrm rot="90000">
            <a:off x="3310128" y="2761488"/>
            <a:ext cx="2523744" cy="777240"/>
          </a:xfrm>
          <a:prstGeom prst="roundRect">
            <a:avLst>
              <a:gd name="adj" fmla="val 8000"/>
            </a:avLst>
          </a:prstGeom>
          <a:solidFill>
            <a:srgbClr val="3A5E8C">
              <a:alpha val="8000"/>
            </a:srgbClr>
          </a:solidFill>
          <a:ln w="3810">
            <a:solidFill>
              <a:srgbClr val="3A5E8C"/>
            </a:solidFill>
          </a:ln>
          <a:effectLst>
            <a:softEdge rad="8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83280" y="2798063"/>
            <a:ext cx="237744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50" b="0" i="1">
                <a:solidFill>
                  <a:srgbClr val="242A33"/>
                </a:solidFill>
                <a:latin typeface="Helvetica Neue"/>
                <a:ea typeface="微软雅黑" panose="020B0503020204020204" charset="-122"/>
              </a:rPr>
              <a:t>“排队半小时，试了三四件，镜子就一面，后面还有人催。最后随便买了一件，回家又后悔。”</a:t>
            </a:r>
            <a:endParaRPr sz="550" b="0" i="1">
              <a:solidFill>
                <a:srgbClr val="242A33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 rot="90000">
            <a:off x="3310128" y="3611879"/>
            <a:ext cx="2523744" cy="123444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5080">
            <a:solidFill>
              <a:srgbClr val="E2E8F0"/>
            </a:solidFill>
          </a:ln>
          <a:effectLst>
            <a:softEdge rad="8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83280" y="3639312"/>
            <a:ext cx="12161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1" i="0">
                <a:solidFill>
                  <a:srgbClr val="3A5E8C"/>
                </a:solidFill>
                <a:latin typeface="Helvetica Neue"/>
                <a:ea typeface="微软雅黑" panose="020B0503020204020204" charset="-122"/>
              </a:rPr>
              <a:t>需求</a:t>
            </a:r>
            <a:endParaRPr sz="650" b="1" i="0">
              <a:solidFill>
                <a:srgbClr val="3A5E8C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645152" y="3639312"/>
            <a:ext cx="12161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1" i="0">
                <a:solidFill>
                  <a:srgbClr val="3A5E8C"/>
                </a:solidFill>
                <a:latin typeface="Helvetica Neue"/>
                <a:ea typeface="微软雅黑" panose="020B0503020204020204" charset="-122"/>
              </a:rPr>
              <a:t>痛点</a:t>
            </a:r>
            <a:endParaRPr sz="650" b="1" i="0">
              <a:solidFill>
                <a:srgbClr val="3A5E8C"/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52" name="Connector 51"/>
          <p:cNvCxnSpPr/>
          <p:nvPr/>
        </p:nvCxnSpPr>
        <p:spPr>
          <a:xfrm>
            <a:off x="4645152" y="3822191"/>
            <a:ext cx="0" cy="960121"/>
          </a:xfrm>
          <a:prstGeom prst="line">
            <a:avLst/>
          </a:prstGeom>
          <a:ln w="5080">
            <a:solidFill>
              <a:srgbClr val="E2E8F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3401568" y="3858768"/>
            <a:ext cx="117043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1. 快速试穿多件</a:t>
            </a:r>
            <a:endParaRPr sz="5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401568" y="4078224"/>
            <a:ext cx="117043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2. 方便对比款式</a:t>
            </a:r>
            <a:endParaRPr sz="5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401568" y="4297679"/>
            <a:ext cx="117043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3. 减少排队等待</a:t>
            </a:r>
            <a:endParaRPr sz="5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401568" y="4517136"/>
            <a:ext cx="117043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4. 面料垂感展示</a:t>
            </a:r>
            <a:endParaRPr sz="5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700016" y="3858768"/>
            <a:ext cx="117043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1. 试衣间排队</a:t>
            </a:r>
            <a:endParaRPr sz="5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700016" y="4078224"/>
            <a:ext cx="117043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2. 试穿效率低</a:t>
            </a:r>
            <a:endParaRPr sz="5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700016" y="4297679"/>
            <a:ext cx="117043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3. 镜子少光线差</a:t>
            </a:r>
            <a:endParaRPr sz="5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4700016" y="4517136"/>
            <a:ext cx="117043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4. 无法多件对比</a:t>
            </a:r>
            <a:endParaRPr sz="5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61" name="Rounded Rectangle 60"/>
          <p:cNvSpPr/>
          <p:nvPr/>
        </p:nvSpPr>
        <p:spPr>
          <a:xfrm rot="90000">
            <a:off x="3310128" y="4864608"/>
            <a:ext cx="2523744" cy="566928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5080">
            <a:solidFill>
              <a:srgbClr val="E2E8F0"/>
            </a:solidFill>
          </a:ln>
          <a:effectLst>
            <a:softEdge rad="8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383280" y="4882896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1" i="0">
                <a:solidFill>
                  <a:srgbClr val="3A5E8C"/>
                </a:solidFill>
                <a:latin typeface="Helvetica Neue"/>
                <a:ea typeface="微软雅黑" panose="020B0503020204020204" charset="-122"/>
              </a:rPr>
              <a:t>偏好</a:t>
            </a:r>
            <a:endParaRPr sz="650" b="1" i="0">
              <a:solidFill>
                <a:srgbClr val="3A5E8C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383280" y="504748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3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拿多件进试衣间/手机拍镜子问朋友/试完不买网购同款/直接放弃</a:t>
            </a:r>
            <a:endParaRPr sz="53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64" name="Rounded Rectangle 63"/>
          <p:cNvSpPr/>
          <p:nvPr/>
        </p:nvSpPr>
        <p:spPr>
          <a:xfrm rot="90000">
            <a:off x="3310128" y="5486400"/>
            <a:ext cx="2523744" cy="566928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5080">
            <a:solidFill>
              <a:srgbClr val="E2E8F0"/>
            </a:solidFill>
          </a:ln>
          <a:effectLst>
            <a:softEdge rad="8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383280" y="5504688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1" i="0">
                <a:solidFill>
                  <a:srgbClr val="3A5E8C"/>
                </a:solidFill>
                <a:latin typeface="Helvetica Neue"/>
                <a:ea typeface="微软雅黑" panose="020B0503020204020204" charset="-122"/>
              </a:rPr>
              <a:t>媒介</a:t>
            </a:r>
            <a:endParaRPr sz="650" b="1" i="0">
              <a:solidFill>
                <a:srgbClr val="3A5E8C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3383280" y="5669279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3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小红书抖音大众点评/门店实物试衣间镜子/拍照问朋友对比价格</a:t>
            </a:r>
            <a:endParaRPr sz="53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67" name="Rounded Rectangle 66"/>
          <p:cNvSpPr/>
          <p:nvPr/>
        </p:nvSpPr>
        <p:spPr>
          <a:xfrm rot="90000">
            <a:off x="3310128" y="6108192"/>
            <a:ext cx="2523744" cy="566928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5080">
            <a:solidFill>
              <a:srgbClr val="E2E8F0"/>
            </a:solidFill>
          </a:ln>
          <a:effectLst>
            <a:softEdge rad="8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383280" y="6126479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1" i="0">
                <a:solidFill>
                  <a:srgbClr val="3A5E8C"/>
                </a:solidFill>
                <a:latin typeface="Helvetica Neue"/>
                <a:ea typeface="微软雅黑" panose="020B0503020204020204" charset="-122"/>
              </a:rPr>
              <a:t>场景</a:t>
            </a:r>
            <a:endParaRPr sz="650" b="1" i="0">
              <a:solidFill>
                <a:srgbClr val="3A5E8C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3383280" y="6291072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3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周末闺蜜逛商场进店挑选/试衣间排队外面有人催/试完不满意直接离开</a:t>
            </a:r>
            <a:endParaRPr sz="53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70" name="Rounded Rectangle 69"/>
          <p:cNvSpPr/>
          <p:nvPr/>
        </p:nvSpPr>
        <p:spPr>
          <a:xfrm rot="21510000">
            <a:off x="5989320" y="1188720"/>
            <a:ext cx="2788920" cy="5166360"/>
          </a:xfrm>
          <a:prstGeom prst="roundRect">
            <a:avLst>
              <a:gd name="adj" fmla="val 4000"/>
            </a:avLst>
          </a:prstGeom>
          <a:solidFill>
            <a:srgbClr val="ECF0F6">
              <a:alpha val="100000"/>
            </a:srgbClr>
          </a:solidFill>
          <a:ln w="7620">
            <a:solidFill>
              <a:srgbClr val="4E729E"/>
            </a:solidFill>
          </a:ln>
          <a:effectLst>
            <a:softEdge rad="12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 rot="21510000">
            <a:off x="5989320" y="1188720"/>
            <a:ext cx="2788920" cy="438912"/>
          </a:xfrm>
          <a:prstGeom prst="roundRect">
            <a:avLst>
              <a:gd name="adj" fmla="val 4000"/>
            </a:avLst>
          </a:prstGeom>
          <a:solidFill>
            <a:srgbClr val="4E729E">
              <a:alpha val="100000"/>
            </a:srgbClr>
          </a:solidFill>
          <a:ln>
            <a:noFill/>
          </a:ln>
          <a:effectLst>
            <a:softEdge rad="12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126480" y="1243584"/>
            <a:ext cx="25146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F7FAFD"/>
                </a:solidFill>
                <a:latin typeface="Helvetica Neue"/>
                <a:ea typeface="微软雅黑" panose="020B0503020204020204" charset="-122"/>
              </a:rPr>
              <a:t>小张 · 独立设计师</a:t>
            </a:r>
            <a:endParaRPr sz="850" b="1" i="0">
              <a:solidFill>
                <a:srgbClr val="F7FAFD"/>
              </a:solidFill>
              <a:latin typeface="Helvetica Neue"/>
              <a:ea typeface="微软雅黑" panose="020B0503020204020204" charset="-122"/>
            </a:endParaRPr>
          </a:p>
        </p:txBody>
      </p:sp>
      <p:pic>
        <p:nvPicPr>
          <p:cNvPr id="73" name="Picture 72" descr="xiaozha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510000">
            <a:off x="6099048" y="1719072"/>
            <a:ext cx="868680" cy="921801"/>
          </a:xfrm>
          <a:prstGeom prst="rect">
            <a:avLst/>
          </a:prstGeom>
        </p:spPr>
      </p:pic>
      <p:sp>
        <p:nvSpPr>
          <p:cNvPr id="74" name="Rounded Rectangle 73"/>
          <p:cNvSpPr/>
          <p:nvPr/>
        </p:nvSpPr>
        <p:spPr>
          <a:xfrm rot="21510000">
            <a:off x="7040879" y="1719072"/>
            <a:ext cx="1600199" cy="86868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5080">
            <a:solidFill>
              <a:srgbClr val="E2E8F0"/>
            </a:solidFill>
          </a:ln>
          <a:effectLst>
            <a:softEdge rad="8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132320" y="1755648"/>
            <a:ext cx="141731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1" i="0">
                <a:solidFill>
                  <a:srgbClr val="4E729E"/>
                </a:solidFill>
                <a:latin typeface="Helvetica Neue"/>
                <a:ea typeface="微软雅黑" panose="020B0503020204020204" charset="-122"/>
              </a:rPr>
              <a:t>基本信息</a:t>
            </a:r>
            <a:endParaRPr sz="650" b="1" i="0">
              <a:solidFill>
                <a:srgbClr val="4E729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7132320" y="1956816"/>
            <a:ext cx="141731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58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年龄 28 岁 · 淘宝店主
个性 效率导向·成本敏感·凭经验</a:t>
            </a:r>
            <a:endParaRPr sz="58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77" name="Rounded Rectangle 76"/>
          <p:cNvSpPr/>
          <p:nvPr/>
        </p:nvSpPr>
        <p:spPr>
          <a:xfrm rot="21510000">
            <a:off x="6099048" y="2670048"/>
            <a:ext cx="2569463" cy="777240"/>
          </a:xfrm>
          <a:prstGeom prst="roundRect">
            <a:avLst>
              <a:gd name="adj" fmla="val 8000"/>
            </a:avLst>
          </a:prstGeom>
          <a:solidFill>
            <a:srgbClr val="4E729E">
              <a:alpha val="8000"/>
            </a:srgbClr>
          </a:solidFill>
          <a:ln w="3810">
            <a:solidFill>
              <a:srgbClr val="4E729E"/>
            </a:solidFill>
          </a:ln>
          <a:effectLst>
            <a:softEdge rad="8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172200" y="2706624"/>
            <a:ext cx="24231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50" b="0" i="1">
                <a:solidFill>
                  <a:srgbClr val="242A33"/>
                </a:solidFill>
                <a:latin typeface="Helvetica Neue"/>
                <a:ea typeface="微软雅黑" panose="020B0503020204020204" charset="-122"/>
              </a:rPr>
              <a:t>“设计稿画完心里没底，只能打样。一轮一周，改两三轮才定版，面料废了钱也花了。但不打样又不敢上架。”</a:t>
            </a:r>
            <a:endParaRPr sz="550" b="0" i="1">
              <a:solidFill>
                <a:srgbClr val="242A33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79" name="Rounded Rectangle 78"/>
          <p:cNvSpPr/>
          <p:nvPr/>
        </p:nvSpPr>
        <p:spPr>
          <a:xfrm rot="21510000">
            <a:off x="6099048" y="3520439"/>
            <a:ext cx="2569463" cy="123444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5080">
            <a:solidFill>
              <a:srgbClr val="E2E8F0"/>
            </a:solidFill>
          </a:ln>
          <a:effectLst>
            <a:softEdge rad="8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172200" y="3547872"/>
            <a:ext cx="123901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1" i="0">
                <a:solidFill>
                  <a:srgbClr val="4E729E"/>
                </a:solidFill>
                <a:latin typeface="Helvetica Neue"/>
                <a:ea typeface="微软雅黑" panose="020B0503020204020204" charset="-122"/>
              </a:rPr>
              <a:t>需求</a:t>
            </a:r>
            <a:endParaRPr sz="650" b="1" i="0">
              <a:solidFill>
                <a:srgbClr val="4E729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7456931" y="3547872"/>
            <a:ext cx="123901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1" i="0">
                <a:solidFill>
                  <a:srgbClr val="4E729E"/>
                </a:solidFill>
                <a:latin typeface="Helvetica Neue"/>
                <a:ea typeface="微软雅黑" panose="020B0503020204020204" charset="-122"/>
              </a:rPr>
              <a:t>痛点</a:t>
            </a:r>
            <a:endParaRPr sz="650" b="1" i="0">
              <a:solidFill>
                <a:srgbClr val="4E729E"/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82" name="Connector 81"/>
          <p:cNvCxnSpPr/>
          <p:nvPr/>
        </p:nvCxnSpPr>
        <p:spPr>
          <a:xfrm>
            <a:off x="7456931" y="3730752"/>
            <a:ext cx="0" cy="960120"/>
          </a:xfrm>
          <a:prstGeom prst="line">
            <a:avLst/>
          </a:prstGeom>
          <a:ln w="5080">
            <a:solidFill>
              <a:srgbClr val="E2E8F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6190488" y="3767328"/>
            <a:ext cx="119329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1. 减少打样轮次</a:t>
            </a:r>
            <a:endParaRPr sz="5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6190488" y="3986784"/>
            <a:ext cx="119329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2. 提前判断版型</a:t>
            </a:r>
            <a:endParaRPr sz="5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6190488" y="4206240"/>
            <a:ext cx="119329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3. 了解消费者偏好</a:t>
            </a:r>
            <a:endParaRPr sz="5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6190488" y="4425696"/>
            <a:ext cx="119329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4. 降低库存风险</a:t>
            </a:r>
            <a:endParaRPr sz="5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7511796" y="3767328"/>
            <a:ext cx="119329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1. 打样成本占比高</a:t>
            </a:r>
            <a:endParaRPr sz="5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7511796" y="3986784"/>
            <a:ext cx="119329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2. 打样周期长</a:t>
            </a:r>
            <a:endParaRPr sz="5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7511796" y="4206240"/>
            <a:ext cx="119329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3. 库存积压</a:t>
            </a:r>
            <a:endParaRPr sz="5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7511796" y="4425696"/>
            <a:ext cx="119329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4. 缺试穿数据</a:t>
            </a:r>
            <a:endParaRPr sz="5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91" name="Rounded Rectangle 90"/>
          <p:cNvSpPr/>
          <p:nvPr/>
        </p:nvSpPr>
        <p:spPr>
          <a:xfrm rot="21510000">
            <a:off x="6099048" y="4773168"/>
            <a:ext cx="2569463" cy="566928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5080">
            <a:solidFill>
              <a:srgbClr val="E2E8F0"/>
            </a:solidFill>
          </a:ln>
          <a:effectLst>
            <a:softEdge rad="8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172200" y="4791456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1" i="0">
                <a:solidFill>
                  <a:srgbClr val="4E729E"/>
                </a:solidFill>
                <a:latin typeface="Helvetica Neue"/>
                <a:ea typeface="微软雅黑" panose="020B0503020204020204" charset="-122"/>
              </a:rPr>
              <a:t>偏好</a:t>
            </a:r>
            <a:endParaRPr sz="650" b="1" i="0">
              <a:solidFill>
                <a:srgbClr val="4E729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6172200" y="4956048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3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关注趋势资讯/使用AI设计工具/参加面料展会/设计师社群交流</a:t>
            </a:r>
            <a:endParaRPr sz="53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94" name="Rounded Rectangle 93"/>
          <p:cNvSpPr/>
          <p:nvPr/>
        </p:nvSpPr>
        <p:spPr>
          <a:xfrm rot="21510000">
            <a:off x="6099048" y="5394959"/>
            <a:ext cx="2569463" cy="566928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5080">
            <a:solidFill>
              <a:srgbClr val="E2E8F0"/>
            </a:solidFill>
          </a:ln>
          <a:effectLst>
            <a:softEdge rad="8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72200" y="5413248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1" i="0">
                <a:solidFill>
                  <a:srgbClr val="4E729E"/>
                </a:solidFill>
                <a:latin typeface="Helvetica Neue"/>
                <a:ea typeface="微软雅黑" panose="020B0503020204020204" charset="-122"/>
              </a:rPr>
              <a:t>媒介</a:t>
            </a:r>
            <a:endParaRPr sz="650" b="1" i="0">
              <a:solidFill>
                <a:srgbClr val="4E729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6172200" y="557784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3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手绘稿PS/AI/Style3D/面料市场打版房样衣工/淘宝微信私域小红书</a:t>
            </a:r>
            <a:endParaRPr sz="53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97" name="Rounded Rectangle 96"/>
          <p:cNvSpPr/>
          <p:nvPr/>
        </p:nvSpPr>
        <p:spPr>
          <a:xfrm rot="21510000">
            <a:off x="6099048" y="6016752"/>
            <a:ext cx="2569463" cy="566928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5080">
            <a:solidFill>
              <a:srgbClr val="E2E8F0"/>
            </a:solidFill>
          </a:ln>
          <a:effectLst>
            <a:softEdge rad="8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172200" y="603504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1" i="0">
                <a:solidFill>
                  <a:srgbClr val="4E729E"/>
                </a:solidFill>
                <a:latin typeface="Helvetica Neue"/>
                <a:ea typeface="微软雅黑" panose="020B0503020204020204" charset="-122"/>
              </a:rPr>
              <a:t>场景</a:t>
            </a:r>
            <a:endParaRPr sz="650" b="1" i="0">
              <a:solidFill>
                <a:srgbClr val="4E729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6172200" y="6199632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3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工作室画稿凭经验判版型/面料市场选料打版房打样/等一周拿样衣试穿修改/上架看销量滞销清仓</a:t>
            </a:r>
            <a:endParaRPr sz="53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65594"/>
            <a:ext cx="9144351" cy="6326811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/>
          </a:p>
        </p:txBody>
      </p:sp>
      <p:sp>
        <p:nvSpPr>
          <p:cNvPr id="4" name="TextBox 3"/>
          <p:cNvSpPr txBox="1"/>
          <p:nvPr/>
        </p:nvSpPr>
        <p:spPr>
          <a:xfrm>
            <a:off x="421787" y="645203"/>
            <a:ext cx="337430" cy="1562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5" b="1" i="0">
                <a:solidFill>
                  <a:srgbClr val="4E729E"/>
                </a:solidFill>
                <a:latin typeface="Helvetica"/>
                <a:ea typeface="Helvetica"/>
              </a:rPr>
              <a:t>01</a:t>
            </a:r>
            <a:endParaRPr sz="1015" b="1" i="0">
              <a:solidFill>
                <a:srgbClr val="4E729E"/>
              </a:solidFill>
              <a:latin typeface="Helvetica"/>
              <a:ea typeface="Helvetic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1731" y="645203"/>
            <a:ext cx="4217874" cy="120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785" b="0" i="0">
                <a:solidFill>
                  <a:srgbClr val="2C4A6E"/>
                </a:solidFill>
                <a:latin typeface="Helvetica"/>
                <a:ea typeface="Helvetica"/>
              </a:rPr>
              <a:t>HUANYI  ·  幻衣</a:t>
            </a:r>
            <a:endParaRPr sz="785" b="0" i="0">
              <a:solidFill>
                <a:srgbClr val="2C4A6E"/>
              </a:solidFill>
              <a:latin typeface="Helvetica"/>
              <a:ea typeface="Helvetic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1731" y="797046"/>
            <a:ext cx="4217874" cy="85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555" b="0" i="0">
                <a:solidFill>
                  <a:srgbClr val="6A7482"/>
                </a:solidFill>
                <a:latin typeface="Helvetica"/>
                <a:ea typeface="Helvetica"/>
              </a:rPr>
              <a:t>AI VIRTUAL FITTING SYSTEM</a:t>
            </a:r>
            <a:endParaRPr sz="555" b="0" i="0">
              <a:solidFill>
                <a:srgbClr val="6A7482"/>
              </a:solidFill>
              <a:latin typeface="Helvetica"/>
              <a:ea typeface="Helvetica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421787" y="923583"/>
            <a:ext cx="8300777" cy="0"/>
          </a:xfrm>
          <a:prstGeom prst="bentConnector3">
            <a:avLst/>
          </a:prstGeom>
          <a:ln w="7620">
            <a:solidFill>
              <a:srgbClr val="242A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37430" y="603024"/>
            <a:ext cx="168715" cy="0"/>
          </a:xfrm>
          <a:prstGeom prst="bentConnector3">
            <a:avLst/>
          </a:prstGeom>
          <a:ln w="12700">
            <a:solidFill>
              <a:srgbClr val="242A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37430" y="603024"/>
            <a:ext cx="0" cy="168715"/>
          </a:xfrm>
          <a:prstGeom prst="bentConnector3">
            <a:avLst/>
          </a:prstGeom>
          <a:ln w="12700">
            <a:solidFill>
              <a:srgbClr val="242A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38207" y="603024"/>
            <a:ext cx="168715" cy="0"/>
          </a:xfrm>
          <a:prstGeom prst="bentConnector3">
            <a:avLst/>
          </a:prstGeom>
          <a:ln w="12700">
            <a:solidFill>
              <a:srgbClr val="242A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638207" y="603024"/>
            <a:ext cx="0" cy="168715"/>
          </a:xfrm>
          <a:prstGeom prst="bentConnector3">
            <a:avLst/>
          </a:prstGeom>
          <a:ln w="12700">
            <a:solidFill>
              <a:srgbClr val="242A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37430" y="6086260"/>
            <a:ext cx="168715" cy="0"/>
          </a:xfrm>
          <a:prstGeom prst="bentConnector3">
            <a:avLst/>
          </a:prstGeom>
          <a:ln w="12700">
            <a:solidFill>
              <a:srgbClr val="242A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37430" y="6086260"/>
            <a:ext cx="0" cy="168716"/>
          </a:xfrm>
          <a:prstGeom prst="bentConnector3">
            <a:avLst/>
          </a:prstGeom>
          <a:ln w="12700">
            <a:solidFill>
              <a:srgbClr val="242A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638207" y="6086260"/>
            <a:ext cx="168715" cy="0"/>
          </a:xfrm>
          <a:prstGeom prst="bentConnector3">
            <a:avLst/>
          </a:prstGeom>
          <a:ln w="12700">
            <a:solidFill>
              <a:srgbClr val="242A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638207" y="6086260"/>
            <a:ext cx="0" cy="168716"/>
          </a:xfrm>
          <a:prstGeom prst="bentConnector3">
            <a:avLst/>
          </a:prstGeom>
          <a:ln w="12700">
            <a:solidFill>
              <a:srgbClr val="242A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21787" y="999504"/>
            <a:ext cx="590502" cy="3409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endParaRPr lang="en-US" sz="2215" b="0" i="1">
              <a:solidFill>
                <a:srgbClr val="4E729E"/>
              </a:solidFill>
              <a:latin typeface="Bodoni 72"/>
              <a:ea typeface="Bodoni 7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061449" y="1109169"/>
            <a:ext cx="3711729" cy="269944"/>
          </a:xfrm>
          <a:prstGeom prst="rect">
            <a:avLst/>
          </a:prstGeom>
          <a:noFill/>
          <a:ln w="6350">
            <a:solidFill>
              <a:srgbClr val="E4EC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/>
          </a:p>
        </p:txBody>
      </p:sp>
      <p:sp>
        <p:nvSpPr>
          <p:cNvPr id="23" name="Rectangle 22"/>
          <p:cNvSpPr/>
          <p:nvPr/>
        </p:nvSpPr>
        <p:spPr>
          <a:xfrm>
            <a:off x="5061449" y="1109169"/>
            <a:ext cx="3711729" cy="269944"/>
          </a:xfrm>
          <a:prstGeom prst="rect">
            <a:avLst/>
          </a:prstGeom>
          <a:noFill/>
          <a:ln w="6350">
            <a:solidFill>
              <a:srgbClr val="E4ECF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/>
          </a:p>
        </p:txBody>
      </p:sp>
      <p:sp>
        <p:nvSpPr>
          <p:cNvPr id="24" name="TextBox 23"/>
          <p:cNvSpPr txBox="1"/>
          <p:nvPr/>
        </p:nvSpPr>
        <p:spPr>
          <a:xfrm>
            <a:off x="5061449" y="1151348"/>
            <a:ext cx="3711729" cy="996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5" b="0" i="0">
                <a:solidFill>
                  <a:srgbClr val="2C4A6E"/>
                </a:solidFill>
                <a:latin typeface="Source Han Serif SC"/>
                <a:ea typeface="Source Han Serif SC"/>
              </a:rPr>
              <a:t>当前用户旅程图  ·  CURRENT  USER  JOURNEY</a:t>
            </a:r>
            <a:endParaRPr sz="645" b="0" i="0">
              <a:solidFill>
                <a:srgbClr val="2C4A6E"/>
              </a:solidFill>
              <a:latin typeface="Source Han Serif SC"/>
              <a:ea typeface="Source Han Serif SC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43575" y="1102137"/>
            <a:ext cx="3374299" cy="2768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1" i="0">
                <a:solidFill>
                  <a:srgbClr val="242A33"/>
                </a:solidFill>
                <a:latin typeface="Source Han Serif SC"/>
                <a:ea typeface="Source Han Serif SC"/>
              </a:rPr>
              <a:t>用户旅程图</a:t>
            </a:r>
            <a:endParaRPr b="1" i="0">
              <a:solidFill>
                <a:srgbClr val="242A33"/>
              </a:solidFill>
              <a:latin typeface="Source Han Serif SC"/>
              <a:ea typeface="Source Han Serif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81040" y="1447650"/>
            <a:ext cx="3374299" cy="85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555" b="0" i="0">
                <a:solidFill>
                  <a:srgbClr val="6A7482"/>
                </a:solidFill>
                <a:latin typeface="Helvetica"/>
                <a:ea typeface="Helvetica"/>
              </a:rPr>
              <a:t>USER  JOURNEY  MAP</a:t>
            </a:r>
            <a:endParaRPr sz="555" b="0" i="0">
              <a:solidFill>
                <a:srgbClr val="6A7482"/>
              </a:solidFill>
              <a:latin typeface="Helvetica"/>
              <a:ea typeface="Helvetica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421787" y="2163638"/>
            <a:ext cx="1687150" cy="0"/>
          </a:xfrm>
          <a:prstGeom prst="bentConnector3">
            <a:avLst/>
          </a:prstGeom>
          <a:ln w="5080">
            <a:solidFill>
              <a:srgbClr val="242A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307541" y="2416710"/>
            <a:ext cx="7372844" cy="0"/>
          </a:xfrm>
          <a:prstGeom prst="bentConnector3">
            <a:avLst/>
          </a:prstGeom>
          <a:ln w="6350">
            <a:solidFill>
              <a:srgbClr val="242A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307541" y="2458889"/>
            <a:ext cx="7372844" cy="0"/>
          </a:xfrm>
          <a:prstGeom prst="bentConnector3">
            <a:avLst/>
          </a:prstGeom>
          <a:ln w="5080">
            <a:solidFill>
              <a:srgbClr val="E4EC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21787" y="2458889"/>
            <a:ext cx="843575" cy="92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600" b="1" i="0">
                <a:solidFill>
                  <a:srgbClr val="242A33"/>
                </a:solidFill>
                <a:latin typeface="Helvetica"/>
                <a:ea typeface="Helvetica"/>
              </a:rPr>
              <a:t>阶段 STAGE</a:t>
            </a:r>
            <a:endParaRPr sz="600" b="1" i="0">
              <a:solidFill>
                <a:srgbClr val="242A33"/>
              </a:solidFill>
              <a:latin typeface="Helvetica"/>
              <a:ea typeface="Helvetica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21787" y="3091570"/>
            <a:ext cx="843575" cy="92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600" b="1" i="0">
                <a:solidFill>
                  <a:srgbClr val="2C4A6E"/>
                </a:solidFill>
                <a:latin typeface="Helvetica"/>
                <a:ea typeface="Helvetica"/>
              </a:rPr>
              <a:t>触点 TOUCH</a:t>
            </a:r>
            <a:endParaRPr sz="600" b="1" i="0">
              <a:solidFill>
                <a:srgbClr val="2C4A6E"/>
              </a:solidFill>
              <a:latin typeface="Helvetica"/>
              <a:ea typeface="Helvetic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21787" y="3682072"/>
            <a:ext cx="843575" cy="92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600" b="1" i="0">
                <a:solidFill>
                  <a:srgbClr val="2C4A6E"/>
                </a:solidFill>
                <a:latin typeface="Helvetica"/>
                <a:ea typeface="Helvetica"/>
              </a:rPr>
              <a:t>行为 BEHAVIOR</a:t>
            </a:r>
            <a:endParaRPr sz="600" b="1" i="0">
              <a:solidFill>
                <a:srgbClr val="2C4A6E"/>
              </a:solidFill>
              <a:latin typeface="Helvetica"/>
              <a:ea typeface="Helvetica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21787" y="4188217"/>
            <a:ext cx="843575" cy="92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600" b="1" i="0">
                <a:solidFill>
                  <a:srgbClr val="4E729E"/>
                </a:solidFill>
                <a:latin typeface="Helvetica"/>
                <a:ea typeface="Helvetica"/>
              </a:rPr>
              <a:t>情绪 EMOTION</a:t>
            </a:r>
            <a:endParaRPr sz="600" b="1" i="0">
              <a:solidFill>
                <a:srgbClr val="4E729E"/>
              </a:solidFill>
              <a:latin typeface="Helvetica"/>
              <a:ea typeface="Helvetic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21787" y="5200507"/>
            <a:ext cx="843575" cy="92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600" b="1" i="0">
                <a:solidFill>
                  <a:srgbClr val="4E729E"/>
                </a:solidFill>
                <a:latin typeface="Helvetica"/>
                <a:ea typeface="Helvetica"/>
              </a:rPr>
              <a:t>痛点 PAIN</a:t>
            </a:r>
            <a:endParaRPr sz="600" b="1" i="0">
              <a:solidFill>
                <a:srgbClr val="4E729E"/>
              </a:solidFill>
              <a:latin typeface="Helvetica"/>
              <a:ea typeface="Helvetica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21787" y="5791010"/>
            <a:ext cx="843575" cy="92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600" b="1" i="0">
                <a:solidFill>
                  <a:srgbClr val="6A92B8"/>
                </a:solidFill>
                <a:latin typeface="Helvetica"/>
                <a:ea typeface="Helvetica"/>
              </a:rPr>
              <a:t>机会 OPP.</a:t>
            </a:r>
            <a:endParaRPr sz="600" b="1" i="0">
              <a:solidFill>
                <a:srgbClr val="6A92B8"/>
              </a:solidFill>
              <a:latin typeface="Helvetica"/>
              <a:ea typeface="Helvetica"/>
            </a:endParaRPr>
          </a:p>
        </p:txBody>
      </p:sp>
      <p:cxnSp>
        <p:nvCxnSpPr>
          <p:cNvPr id="37" name="Connector 36"/>
          <p:cNvCxnSpPr/>
          <p:nvPr/>
        </p:nvCxnSpPr>
        <p:spPr>
          <a:xfrm>
            <a:off x="1307541" y="5116150"/>
            <a:ext cx="7372844" cy="0"/>
          </a:xfrm>
          <a:prstGeom prst="bentConnector3">
            <a:avLst/>
          </a:prstGeom>
          <a:ln w="5080">
            <a:solidFill>
              <a:srgbClr val="E4EC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307541" y="4061681"/>
            <a:ext cx="7372844" cy="0"/>
          </a:xfrm>
          <a:prstGeom prst="bentConnector3">
            <a:avLst/>
          </a:prstGeom>
          <a:ln w="3810">
            <a:solidFill>
              <a:srgbClr val="E4ECF4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307541" y="4378022"/>
            <a:ext cx="7372844" cy="0"/>
          </a:xfrm>
          <a:prstGeom prst="bentConnector3">
            <a:avLst/>
          </a:prstGeom>
          <a:ln w="3810">
            <a:solidFill>
              <a:srgbClr val="E4ECF4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307541" y="4694362"/>
            <a:ext cx="7372844" cy="0"/>
          </a:xfrm>
          <a:prstGeom prst="bentConnector3">
            <a:avLst/>
          </a:prstGeom>
          <a:ln w="3810">
            <a:solidFill>
              <a:srgbClr val="E4ECF4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307541" y="5116150"/>
            <a:ext cx="7372844" cy="0"/>
          </a:xfrm>
          <a:prstGeom prst="bentConnector3">
            <a:avLst/>
          </a:prstGeom>
          <a:ln w="3810">
            <a:solidFill>
              <a:srgbClr val="E4ECF4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 rot="21577156">
            <a:off x="1716071" y="2307045"/>
            <a:ext cx="236201" cy="236201"/>
          </a:xfrm>
          <a:prstGeom prst="ellipse">
            <a:avLst/>
          </a:prstGeom>
          <a:solidFill>
            <a:srgbClr val="6A92B8"/>
          </a:solidFill>
          <a:ln w="10160">
            <a:solidFill>
              <a:srgbClr val="6A9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/>
          </a:p>
        </p:txBody>
      </p:sp>
      <p:sp>
        <p:nvSpPr>
          <p:cNvPr id="43" name="Oval 42"/>
          <p:cNvSpPr/>
          <p:nvPr/>
        </p:nvSpPr>
        <p:spPr>
          <a:xfrm rot="21531362">
            <a:off x="1800429" y="2391403"/>
            <a:ext cx="67486" cy="6748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/>
          </a:p>
        </p:txBody>
      </p:sp>
      <p:sp>
        <p:nvSpPr>
          <p:cNvPr id="44" name="TextBox 43"/>
          <p:cNvSpPr txBox="1"/>
          <p:nvPr/>
        </p:nvSpPr>
        <p:spPr>
          <a:xfrm>
            <a:off x="1716071" y="2332353"/>
            <a:ext cx="236201" cy="996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5" b="1" i="0">
                <a:solidFill>
                  <a:srgbClr val="FFFFFF"/>
                </a:solidFill>
                <a:latin typeface="Helvetica"/>
                <a:ea typeface="Helvetica"/>
              </a:rPr>
              <a:t>1</a:t>
            </a:r>
            <a:endParaRPr sz="645" b="1" i="0">
              <a:solidFill>
                <a:srgbClr val="FFFFFF"/>
              </a:solidFill>
              <a:latin typeface="Helvetica"/>
              <a:ea typeface="Helvetic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370206" y="2610732"/>
            <a:ext cx="927932" cy="120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85" b="1" i="0">
                <a:solidFill>
                  <a:srgbClr val="242A33"/>
                </a:solidFill>
                <a:latin typeface="Source Han Serif SC"/>
                <a:ea typeface="Source Han Serif SC"/>
              </a:rPr>
              <a:t>需求唤起</a:t>
            </a:r>
            <a:endParaRPr sz="785" b="1" i="0">
              <a:solidFill>
                <a:srgbClr val="242A33"/>
              </a:solidFill>
              <a:latin typeface="Source Han Serif SC"/>
              <a:ea typeface="Source Han Serif SC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370206" y="2754140"/>
            <a:ext cx="927932" cy="781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50"/>
              </a:spcAft>
            </a:pPr>
            <a:r>
              <a:rPr sz="505" b="0" i="0">
                <a:solidFill>
                  <a:srgbClr val="6A7482"/>
                </a:solidFill>
                <a:latin typeface="Helvetica"/>
                <a:ea typeface="Helvetica"/>
              </a:rPr>
              <a:t>NEED</a:t>
            </a:r>
            <a:endParaRPr sz="505" b="0" i="0">
              <a:solidFill>
                <a:srgbClr val="6A7482"/>
              </a:solidFill>
              <a:latin typeface="Helvetica"/>
              <a:ea typeface="Helvetica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370206" y="2905984"/>
            <a:ext cx="927932" cy="92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6A92B8"/>
                </a:solidFill>
                <a:latin typeface="Helvetica"/>
                <a:ea typeface="Helvetica"/>
              </a:rPr>
              <a:t>8.5/10</a:t>
            </a:r>
            <a:endParaRPr sz="600" b="1" i="0">
              <a:solidFill>
                <a:srgbClr val="6A92B8"/>
              </a:solidFill>
              <a:latin typeface="Helvetica"/>
              <a:ea typeface="Helvetica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370206" y="3116877"/>
            <a:ext cx="927932" cy="85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55" b="0" i="0">
                <a:solidFill>
                  <a:srgbClr val="2C4A6E"/>
                </a:solidFill>
                <a:latin typeface="Helvetica"/>
                <a:ea typeface="Helvetica"/>
              </a:rPr>
              <a:t>APP·社交</a:t>
            </a:r>
            <a:endParaRPr sz="555" b="0" i="0">
              <a:solidFill>
                <a:srgbClr val="2C4A6E"/>
              </a:solidFill>
              <a:latin typeface="Helvetica"/>
              <a:ea typeface="Helvetica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370206" y="3369950"/>
            <a:ext cx="927932" cy="939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555" b="0" i="0">
                <a:solidFill>
                  <a:srgbClr val="2C4A6E"/>
                </a:solidFill>
                <a:latin typeface="Source Han Serif SC"/>
                <a:ea typeface="Source Han Serif SC"/>
              </a:rPr>
              <a:t>浏览推荐、社交种草</a:t>
            </a:r>
            <a:endParaRPr sz="555" b="0" i="0">
              <a:solidFill>
                <a:srgbClr val="2C4A6E"/>
              </a:solidFill>
              <a:latin typeface="Source Han Serif SC"/>
              <a:ea typeface="Source Han Serif SC"/>
            </a:endParaRPr>
          </a:p>
        </p:txBody>
      </p:sp>
      <p:cxnSp>
        <p:nvCxnSpPr>
          <p:cNvPr id="50" name="Connector 49"/>
          <p:cNvCxnSpPr/>
          <p:nvPr/>
        </p:nvCxnSpPr>
        <p:spPr>
          <a:xfrm>
            <a:off x="1783557" y="5200507"/>
            <a:ext cx="101229" cy="0"/>
          </a:xfrm>
          <a:prstGeom prst="bentConnector3">
            <a:avLst/>
          </a:prstGeom>
          <a:ln w="10160">
            <a:solidFill>
              <a:srgbClr val="4E72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834172" y="5149893"/>
            <a:ext cx="0" cy="101228"/>
          </a:xfrm>
          <a:prstGeom prst="bentConnector3">
            <a:avLst/>
          </a:prstGeom>
          <a:ln w="10160">
            <a:solidFill>
              <a:srgbClr val="4E72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370206" y="5284865"/>
            <a:ext cx="927932" cy="939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555" b="0" i="0">
                <a:solidFill>
                  <a:srgbClr val="242A33"/>
                </a:solidFill>
                <a:latin typeface="Source Han Serif SC"/>
                <a:ea typeface="Source Han Serif SC"/>
              </a:rPr>
              <a:t>海量款式难选</a:t>
            </a:r>
            <a:endParaRPr sz="555" b="0" i="0">
              <a:solidFill>
                <a:srgbClr val="242A33"/>
              </a:solidFill>
              <a:latin typeface="Source Han Serif SC"/>
              <a:ea typeface="Source Han Serif SC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1791993" y="5791010"/>
            <a:ext cx="84357" cy="84357"/>
          </a:xfrm>
          <a:prstGeom prst="ellipse">
            <a:avLst/>
          </a:prstGeom>
          <a:noFill/>
          <a:ln w="10160">
            <a:solidFill>
              <a:srgbClr val="6A9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/>
          </a:p>
        </p:txBody>
      </p:sp>
      <p:sp>
        <p:nvSpPr>
          <p:cNvPr id="54" name="TextBox 53"/>
          <p:cNvSpPr txBox="1"/>
          <p:nvPr/>
        </p:nvSpPr>
        <p:spPr>
          <a:xfrm>
            <a:off x="1370206" y="5917546"/>
            <a:ext cx="927932" cy="939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555" b="1" i="0">
                <a:solidFill>
                  <a:srgbClr val="6A92B8"/>
                </a:solidFill>
                <a:latin typeface="Source Han Serif SC"/>
                <a:ea typeface="Source Han Serif SC"/>
              </a:rPr>
              <a:t>AI精准推荐</a:t>
            </a:r>
            <a:endParaRPr sz="555" b="1" i="0">
              <a:solidFill>
                <a:srgbClr val="6A92B8"/>
              </a:solidFill>
              <a:latin typeface="Source Han Serif SC"/>
              <a:ea typeface="Source Han Serif SC"/>
            </a:endParaRPr>
          </a:p>
        </p:txBody>
      </p:sp>
      <p:cxnSp>
        <p:nvCxnSpPr>
          <p:cNvPr id="55" name="Connector 54"/>
          <p:cNvCxnSpPr/>
          <p:nvPr/>
        </p:nvCxnSpPr>
        <p:spPr>
          <a:xfrm>
            <a:off x="2360804" y="2290174"/>
            <a:ext cx="0" cy="3880444"/>
          </a:xfrm>
          <a:prstGeom prst="bentConnector3">
            <a:avLst/>
          </a:prstGeom>
          <a:ln w="3175">
            <a:solidFill>
              <a:srgbClr val="E4ECF4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 rot="21590589">
            <a:off x="2769335" y="2307045"/>
            <a:ext cx="236201" cy="236201"/>
          </a:xfrm>
          <a:prstGeom prst="ellipse">
            <a:avLst/>
          </a:prstGeom>
          <a:solidFill>
            <a:srgbClr val="5A708E"/>
          </a:solidFill>
          <a:ln w="10160">
            <a:solidFill>
              <a:srgbClr val="5A70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/>
          </a:p>
        </p:txBody>
      </p:sp>
      <p:sp>
        <p:nvSpPr>
          <p:cNvPr id="57" name="Oval 56"/>
          <p:cNvSpPr/>
          <p:nvPr/>
        </p:nvSpPr>
        <p:spPr>
          <a:xfrm rot="21543065">
            <a:off x="2853693" y="2391403"/>
            <a:ext cx="67486" cy="6748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/>
          </a:p>
        </p:txBody>
      </p:sp>
      <p:sp>
        <p:nvSpPr>
          <p:cNvPr id="58" name="TextBox 57"/>
          <p:cNvSpPr txBox="1"/>
          <p:nvPr/>
        </p:nvSpPr>
        <p:spPr>
          <a:xfrm>
            <a:off x="2769335" y="2332353"/>
            <a:ext cx="236201" cy="996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5" b="1" i="0">
                <a:solidFill>
                  <a:srgbClr val="FFFFFF"/>
                </a:solidFill>
                <a:latin typeface="Helvetica"/>
                <a:ea typeface="Helvetica"/>
              </a:rPr>
              <a:t>2</a:t>
            </a:r>
            <a:endParaRPr sz="645" b="1" i="0">
              <a:solidFill>
                <a:srgbClr val="FFFFFF"/>
              </a:solidFill>
              <a:latin typeface="Helvetica"/>
              <a:ea typeface="Helvetica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423470" y="2610732"/>
            <a:ext cx="927932" cy="120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85" b="1" i="0">
                <a:solidFill>
                  <a:srgbClr val="242A33"/>
                </a:solidFill>
                <a:latin typeface="Source Han Serif SC"/>
                <a:ea typeface="Source Han Serif SC"/>
              </a:rPr>
              <a:t>信息搜索</a:t>
            </a:r>
            <a:endParaRPr sz="785" b="1" i="0">
              <a:solidFill>
                <a:srgbClr val="242A33"/>
              </a:solidFill>
              <a:latin typeface="Source Han Serif SC"/>
              <a:ea typeface="Source Han Serif SC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2423470" y="2754140"/>
            <a:ext cx="927932" cy="781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50"/>
              </a:spcAft>
            </a:pPr>
            <a:r>
              <a:rPr sz="505" b="0" i="0">
                <a:solidFill>
                  <a:srgbClr val="6A7482"/>
                </a:solidFill>
                <a:latin typeface="Helvetica"/>
                <a:ea typeface="Helvetica"/>
              </a:rPr>
              <a:t>SEARCH</a:t>
            </a:r>
            <a:endParaRPr sz="505" b="0" i="0">
              <a:solidFill>
                <a:srgbClr val="6A7482"/>
              </a:solidFill>
              <a:latin typeface="Helvetica"/>
              <a:ea typeface="Helvetica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423470" y="2905984"/>
            <a:ext cx="927932" cy="92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5A708E"/>
                </a:solidFill>
                <a:latin typeface="Helvetica"/>
                <a:ea typeface="Helvetica"/>
              </a:rPr>
              <a:t>5.5/10</a:t>
            </a:r>
            <a:endParaRPr sz="600" b="1" i="0">
              <a:solidFill>
                <a:srgbClr val="5A708E"/>
              </a:solidFill>
              <a:latin typeface="Helvetica"/>
              <a:ea typeface="Helvetica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2423470" y="3116877"/>
            <a:ext cx="927932" cy="85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55" b="0" i="0">
                <a:solidFill>
                  <a:srgbClr val="2C4A6E"/>
                </a:solidFill>
                <a:latin typeface="Helvetica"/>
                <a:ea typeface="Helvetica"/>
              </a:rPr>
              <a:t>APP·WEB</a:t>
            </a:r>
            <a:endParaRPr sz="555" b="0" i="0">
              <a:solidFill>
                <a:srgbClr val="2C4A6E"/>
              </a:solidFill>
              <a:latin typeface="Helvetica"/>
              <a:ea typeface="Helvetica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2423470" y="3369950"/>
            <a:ext cx="927932" cy="939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555" b="0" i="0">
                <a:solidFill>
                  <a:srgbClr val="2C4A6E"/>
                </a:solidFill>
                <a:latin typeface="Source Han Serif SC"/>
                <a:ea typeface="Source Han Serif SC"/>
              </a:rPr>
              <a:t>查详情、看真人图</a:t>
            </a:r>
            <a:endParaRPr sz="555" b="0" i="0">
              <a:solidFill>
                <a:srgbClr val="2C4A6E"/>
              </a:solidFill>
              <a:latin typeface="Source Han Serif SC"/>
              <a:ea typeface="Source Han Serif SC"/>
            </a:endParaRPr>
          </a:p>
        </p:txBody>
      </p:sp>
      <p:cxnSp>
        <p:nvCxnSpPr>
          <p:cNvPr id="64" name="Connector 63"/>
          <p:cNvCxnSpPr/>
          <p:nvPr/>
        </p:nvCxnSpPr>
        <p:spPr>
          <a:xfrm>
            <a:off x="2836821" y="5200507"/>
            <a:ext cx="101229" cy="0"/>
          </a:xfrm>
          <a:prstGeom prst="bentConnector3">
            <a:avLst/>
          </a:prstGeom>
          <a:ln w="10160">
            <a:solidFill>
              <a:srgbClr val="4E72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887436" y="5149893"/>
            <a:ext cx="0" cy="101228"/>
          </a:xfrm>
          <a:prstGeom prst="bentConnector3">
            <a:avLst/>
          </a:prstGeom>
          <a:ln w="10160">
            <a:solidFill>
              <a:srgbClr val="4E72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2423470" y="5284865"/>
            <a:ext cx="927932" cy="939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555" b="0" i="0">
                <a:solidFill>
                  <a:srgbClr val="242A33"/>
                </a:solidFill>
                <a:latin typeface="Source Han Serif SC"/>
                <a:ea typeface="Source Han Serif SC"/>
              </a:rPr>
              <a:t>模特图≠上身</a:t>
            </a:r>
            <a:endParaRPr sz="555" b="0" i="0">
              <a:solidFill>
                <a:srgbClr val="242A33"/>
              </a:solidFill>
              <a:latin typeface="Source Han Serif SC"/>
              <a:ea typeface="Source Han Serif SC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2845257" y="5791010"/>
            <a:ext cx="84357" cy="84357"/>
          </a:xfrm>
          <a:prstGeom prst="ellipse">
            <a:avLst/>
          </a:prstGeom>
          <a:noFill/>
          <a:ln w="10160">
            <a:solidFill>
              <a:srgbClr val="6A9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/>
          </a:p>
        </p:txBody>
      </p:sp>
      <p:sp>
        <p:nvSpPr>
          <p:cNvPr id="68" name="TextBox 67"/>
          <p:cNvSpPr txBox="1"/>
          <p:nvPr/>
        </p:nvSpPr>
        <p:spPr>
          <a:xfrm>
            <a:off x="2423470" y="5917546"/>
            <a:ext cx="927932" cy="939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555" b="1" i="0">
                <a:solidFill>
                  <a:srgbClr val="5A708E"/>
                </a:solidFill>
                <a:latin typeface="Source Han Serif SC"/>
                <a:ea typeface="Source Han Serif SC"/>
              </a:rPr>
              <a:t>AIGC真人效果</a:t>
            </a:r>
            <a:endParaRPr sz="555" b="1" i="0">
              <a:solidFill>
                <a:srgbClr val="5A708E"/>
              </a:solidFill>
              <a:latin typeface="Source Han Serif SC"/>
              <a:ea typeface="Source Han Serif SC"/>
            </a:endParaRPr>
          </a:p>
        </p:txBody>
      </p:sp>
      <p:cxnSp>
        <p:nvCxnSpPr>
          <p:cNvPr id="69" name="Connector 68"/>
          <p:cNvCxnSpPr/>
          <p:nvPr/>
        </p:nvCxnSpPr>
        <p:spPr>
          <a:xfrm>
            <a:off x="3414068" y="2290174"/>
            <a:ext cx="0" cy="3880444"/>
          </a:xfrm>
          <a:prstGeom prst="bentConnector3">
            <a:avLst/>
          </a:prstGeom>
          <a:ln w="3175">
            <a:solidFill>
              <a:srgbClr val="E4ECF4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 rot="14923">
            <a:off x="3822599" y="2307045"/>
            <a:ext cx="236201" cy="236201"/>
          </a:xfrm>
          <a:prstGeom prst="ellipse">
            <a:avLst/>
          </a:prstGeom>
          <a:solidFill>
            <a:srgbClr val="4E729E"/>
          </a:solidFill>
          <a:ln w="10160">
            <a:solidFill>
              <a:srgbClr val="4E72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/>
          </a:p>
        </p:txBody>
      </p:sp>
      <p:sp>
        <p:nvSpPr>
          <p:cNvPr id="71" name="Oval 70"/>
          <p:cNvSpPr/>
          <p:nvPr/>
        </p:nvSpPr>
        <p:spPr>
          <a:xfrm rot="9465">
            <a:off x="3906956" y="2391403"/>
            <a:ext cx="67486" cy="6748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/>
          </a:p>
        </p:txBody>
      </p:sp>
      <p:sp>
        <p:nvSpPr>
          <p:cNvPr id="72" name="TextBox 71"/>
          <p:cNvSpPr txBox="1"/>
          <p:nvPr/>
        </p:nvSpPr>
        <p:spPr>
          <a:xfrm>
            <a:off x="3822599" y="2332353"/>
            <a:ext cx="236201" cy="996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5" b="1" i="0">
                <a:solidFill>
                  <a:srgbClr val="FFFFFF"/>
                </a:solidFill>
                <a:latin typeface="Helvetica"/>
                <a:ea typeface="Helvetica"/>
              </a:rPr>
              <a:t>3</a:t>
            </a:r>
            <a:endParaRPr sz="645" b="1" i="0">
              <a:solidFill>
                <a:srgbClr val="FFFFFF"/>
              </a:solidFill>
              <a:latin typeface="Helvetica"/>
              <a:ea typeface="Helvetica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3476733" y="2610732"/>
            <a:ext cx="927932" cy="120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85" b="1" i="0">
                <a:solidFill>
                  <a:srgbClr val="242A33"/>
                </a:solidFill>
                <a:latin typeface="Source Han Serif SC"/>
                <a:ea typeface="Source Han Serif SC"/>
              </a:rPr>
              <a:t>方案评估</a:t>
            </a:r>
            <a:endParaRPr sz="785" b="1" i="0">
              <a:solidFill>
                <a:srgbClr val="242A33"/>
              </a:solidFill>
              <a:latin typeface="Source Han Serif SC"/>
              <a:ea typeface="Source Han Serif SC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3476733" y="2754140"/>
            <a:ext cx="927932" cy="781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50"/>
              </a:spcAft>
            </a:pPr>
            <a:r>
              <a:rPr sz="505" b="0" i="0">
                <a:solidFill>
                  <a:srgbClr val="6A7482"/>
                </a:solidFill>
                <a:latin typeface="Helvetica"/>
                <a:ea typeface="Helvetica"/>
              </a:rPr>
              <a:t>EVALUATE</a:t>
            </a:r>
            <a:endParaRPr sz="505" b="0" i="0">
              <a:solidFill>
                <a:srgbClr val="6A7482"/>
              </a:solidFill>
              <a:latin typeface="Helvetica"/>
              <a:ea typeface="Helvetica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3476733" y="2905984"/>
            <a:ext cx="927932" cy="92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4E729E"/>
                </a:solidFill>
                <a:latin typeface="Helvetica"/>
                <a:ea typeface="Helvetica"/>
              </a:rPr>
              <a:t>3.0/10</a:t>
            </a:r>
            <a:endParaRPr sz="600" b="1" i="0">
              <a:solidFill>
                <a:srgbClr val="4E729E"/>
              </a:solidFill>
              <a:latin typeface="Helvetica"/>
              <a:ea typeface="Helvetica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3476733" y="3116877"/>
            <a:ext cx="927932" cy="85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55" b="0" i="0">
                <a:solidFill>
                  <a:srgbClr val="2C4A6E"/>
                </a:solidFill>
                <a:latin typeface="Helvetica"/>
                <a:ea typeface="Helvetica"/>
              </a:rPr>
              <a:t>社交·WEB</a:t>
            </a:r>
            <a:endParaRPr sz="555" b="0" i="0">
              <a:solidFill>
                <a:srgbClr val="2C4A6E"/>
              </a:solidFill>
              <a:latin typeface="Helvetica"/>
              <a:ea typeface="Helvetica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3476733" y="3369950"/>
            <a:ext cx="927932" cy="939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555" b="0" i="0">
                <a:solidFill>
                  <a:srgbClr val="2C4A6E"/>
                </a:solidFill>
                <a:latin typeface="Source Han Serif SC"/>
                <a:ea typeface="Source Han Serif SC"/>
              </a:rPr>
              <a:t>尺码对比、降风险</a:t>
            </a:r>
            <a:endParaRPr sz="555" b="0" i="0">
              <a:solidFill>
                <a:srgbClr val="2C4A6E"/>
              </a:solidFill>
              <a:latin typeface="Source Han Serif SC"/>
              <a:ea typeface="Source Han Serif SC"/>
            </a:endParaRPr>
          </a:p>
        </p:txBody>
      </p:sp>
      <p:cxnSp>
        <p:nvCxnSpPr>
          <p:cNvPr id="78" name="Connector 77"/>
          <p:cNvCxnSpPr/>
          <p:nvPr/>
        </p:nvCxnSpPr>
        <p:spPr>
          <a:xfrm>
            <a:off x="3890085" y="5200507"/>
            <a:ext cx="101229" cy="0"/>
          </a:xfrm>
          <a:prstGeom prst="bentConnector3">
            <a:avLst/>
          </a:prstGeom>
          <a:ln w="10160">
            <a:solidFill>
              <a:srgbClr val="4E72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3940699" y="5149893"/>
            <a:ext cx="0" cy="101228"/>
          </a:xfrm>
          <a:prstGeom prst="bentConnector3">
            <a:avLst/>
          </a:prstGeom>
          <a:ln w="10160">
            <a:solidFill>
              <a:srgbClr val="4E72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3476733" y="5284865"/>
            <a:ext cx="927932" cy="939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555" b="0" i="0">
                <a:solidFill>
                  <a:srgbClr val="242A33"/>
                </a:solidFill>
                <a:latin typeface="Source Han Serif SC"/>
                <a:ea typeface="Source Han Serif SC"/>
              </a:rPr>
              <a:t>无试穿预判</a:t>
            </a:r>
            <a:endParaRPr sz="555" b="0" i="0">
              <a:solidFill>
                <a:srgbClr val="242A33"/>
              </a:solidFill>
              <a:latin typeface="Source Han Serif SC"/>
              <a:ea typeface="Source Han Serif SC"/>
            </a:endParaRPr>
          </a:p>
        </p:txBody>
      </p:sp>
      <p:sp>
        <p:nvSpPr>
          <p:cNvPr id="81" name="Oval 80"/>
          <p:cNvSpPr/>
          <p:nvPr/>
        </p:nvSpPr>
        <p:spPr>
          <a:xfrm>
            <a:off x="3898521" y="5791010"/>
            <a:ext cx="84357" cy="84357"/>
          </a:xfrm>
          <a:prstGeom prst="ellipse">
            <a:avLst/>
          </a:prstGeom>
          <a:noFill/>
          <a:ln w="10160">
            <a:solidFill>
              <a:srgbClr val="6A9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/>
          </a:p>
        </p:txBody>
      </p:sp>
      <p:sp>
        <p:nvSpPr>
          <p:cNvPr id="82" name="TextBox 81"/>
          <p:cNvSpPr txBox="1"/>
          <p:nvPr/>
        </p:nvSpPr>
        <p:spPr>
          <a:xfrm>
            <a:off x="3476733" y="5917546"/>
            <a:ext cx="927932" cy="939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555" b="1" i="0">
                <a:solidFill>
                  <a:srgbClr val="4E729E"/>
                </a:solidFill>
                <a:latin typeface="Source Han Serif SC"/>
                <a:ea typeface="Source Han Serif SC"/>
              </a:rPr>
              <a:t>AI体型拟合</a:t>
            </a:r>
            <a:endParaRPr sz="555" b="1" i="0">
              <a:solidFill>
                <a:srgbClr val="4E729E"/>
              </a:solidFill>
              <a:latin typeface="Source Han Serif SC"/>
              <a:ea typeface="Source Han Serif SC"/>
            </a:endParaRPr>
          </a:p>
        </p:txBody>
      </p:sp>
      <p:cxnSp>
        <p:nvCxnSpPr>
          <p:cNvPr id="83" name="Connector 82"/>
          <p:cNvCxnSpPr/>
          <p:nvPr/>
        </p:nvCxnSpPr>
        <p:spPr>
          <a:xfrm>
            <a:off x="4467331" y="2290174"/>
            <a:ext cx="0" cy="3880444"/>
          </a:xfrm>
          <a:prstGeom prst="bentConnector3">
            <a:avLst/>
          </a:prstGeom>
          <a:ln w="3175">
            <a:solidFill>
              <a:srgbClr val="E4ECF4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 rot="21599685">
            <a:off x="4875863" y="2307045"/>
            <a:ext cx="236201" cy="236201"/>
          </a:xfrm>
          <a:prstGeom prst="ellipse">
            <a:avLst/>
          </a:prstGeom>
          <a:solidFill>
            <a:srgbClr val="5A708E"/>
          </a:solidFill>
          <a:ln w="10160">
            <a:solidFill>
              <a:srgbClr val="5A70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/>
          </a:p>
        </p:txBody>
      </p:sp>
      <p:sp>
        <p:nvSpPr>
          <p:cNvPr id="85" name="Oval 84"/>
          <p:cNvSpPr/>
          <p:nvPr/>
        </p:nvSpPr>
        <p:spPr>
          <a:xfrm rot="21554146">
            <a:off x="4960220" y="2391403"/>
            <a:ext cx="67486" cy="6748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/>
          </a:p>
        </p:txBody>
      </p:sp>
      <p:sp>
        <p:nvSpPr>
          <p:cNvPr id="86" name="TextBox 85"/>
          <p:cNvSpPr txBox="1"/>
          <p:nvPr/>
        </p:nvSpPr>
        <p:spPr>
          <a:xfrm>
            <a:off x="4875863" y="2332353"/>
            <a:ext cx="236201" cy="996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5" b="1" i="0">
                <a:solidFill>
                  <a:srgbClr val="FFFFFF"/>
                </a:solidFill>
                <a:latin typeface="Helvetica"/>
                <a:ea typeface="Helvetica"/>
              </a:rPr>
              <a:t>4</a:t>
            </a:r>
            <a:endParaRPr sz="645" b="1" i="0">
              <a:solidFill>
                <a:srgbClr val="FFFFFF"/>
              </a:solidFill>
              <a:latin typeface="Helvetica"/>
              <a:ea typeface="Helvetica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4529997" y="2610732"/>
            <a:ext cx="927932" cy="120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85" b="1" i="0">
                <a:solidFill>
                  <a:srgbClr val="242A33"/>
                </a:solidFill>
                <a:latin typeface="Source Han Serif SC"/>
                <a:ea typeface="Source Han Serif SC"/>
              </a:rPr>
              <a:t>购买决策</a:t>
            </a:r>
            <a:endParaRPr sz="785" b="1" i="0">
              <a:solidFill>
                <a:srgbClr val="242A33"/>
              </a:solidFill>
              <a:latin typeface="Source Han Serif SC"/>
              <a:ea typeface="Source Han Serif SC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529997" y="2754140"/>
            <a:ext cx="927932" cy="781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50"/>
              </a:spcAft>
            </a:pPr>
            <a:r>
              <a:rPr sz="505" b="0" i="0">
                <a:solidFill>
                  <a:srgbClr val="6A7482"/>
                </a:solidFill>
                <a:latin typeface="Helvetica"/>
                <a:ea typeface="Helvetica"/>
              </a:rPr>
              <a:t>DECIDE</a:t>
            </a:r>
            <a:endParaRPr sz="505" b="0" i="0">
              <a:solidFill>
                <a:srgbClr val="6A7482"/>
              </a:solidFill>
              <a:latin typeface="Helvetica"/>
              <a:ea typeface="Helvetica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4529997" y="2905984"/>
            <a:ext cx="927932" cy="92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5A708E"/>
                </a:solidFill>
                <a:latin typeface="Helvetica"/>
                <a:ea typeface="Helvetica"/>
              </a:rPr>
              <a:t>4.5/10</a:t>
            </a:r>
            <a:endParaRPr sz="600" b="1" i="0">
              <a:solidFill>
                <a:srgbClr val="5A708E"/>
              </a:solidFill>
              <a:latin typeface="Helvetica"/>
              <a:ea typeface="Helvetica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4529997" y="3116877"/>
            <a:ext cx="927932" cy="85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55" b="0" i="0">
                <a:solidFill>
                  <a:srgbClr val="2C4A6E"/>
                </a:solidFill>
                <a:latin typeface="Helvetica"/>
                <a:ea typeface="Helvetica"/>
              </a:rPr>
              <a:t>APP</a:t>
            </a:r>
            <a:endParaRPr sz="555" b="0" i="0">
              <a:solidFill>
                <a:srgbClr val="2C4A6E"/>
              </a:solidFill>
              <a:latin typeface="Helvetica"/>
              <a:ea typeface="Helvetica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4529997" y="3369950"/>
            <a:ext cx="927932" cy="939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555" b="0" i="0">
                <a:solidFill>
                  <a:srgbClr val="2C4A6E"/>
                </a:solidFill>
                <a:latin typeface="Source Han Serif SC"/>
                <a:ea typeface="Source Han Serif SC"/>
              </a:rPr>
              <a:t>加购或放弃</a:t>
            </a:r>
            <a:endParaRPr sz="555" b="0" i="0">
              <a:solidFill>
                <a:srgbClr val="2C4A6E"/>
              </a:solidFill>
              <a:latin typeface="Source Han Serif SC"/>
              <a:ea typeface="Source Han Serif SC"/>
            </a:endParaRPr>
          </a:p>
        </p:txBody>
      </p:sp>
      <p:cxnSp>
        <p:nvCxnSpPr>
          <p:cNvPr id="92" name="Connector 91"/>
          <p:cNvCxnSpPr/>
          <p:nvPr/>
        </p:nvCxnSpPr>
        <p:spPr>
          <a:xfrm>
            <a:off x="4943349" y="5200507"/>
            <a:ext cx="101229" cy="0"/>
          </a:xfrm>
          <a:prstGeom prst="bentConnector3">
            <a:avLst/>
          </a:prstGeom>
          <a:ln w="10160">
            <a:solidFill>
              <a:srgbClr val="4E72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4993963" y="5149893"/>
            <a:ext cx="0" cy="101228"/>
          </a:xfrm>
          <a:prstGeom prst="bentConnector3">
            <a:avLst/>
          </a:prstGeom>
          <a:ln w="10160">
            <a:solidFill>
              <a:srgbClr val="4E72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4529997" y="5284865"/>
            <a:ext cx="927932" cy="939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555" b="0" i="0">
                <a:solidFill>
                  <a:srgbClr val="242A33"/>
                </a:solidFill>
                <a:latin typeface="Source Han Serif SC"/>
                <a:ea typeface="Source Han Serif SC"/>
              </a:rPr>
              <a:t>决策困难</a:t>
            </a:r>
            <a:endParaRPr sz="555" b="0" i="0">
              <a:solidFill>
                <a:srgbClr val="242A33"/>
              </a:solidFill>
              <a:latin typeface="Source Han Serif SC"/>
              <a:ea typeface="Source Han Serif SC"/>
            </a:endParaRPr>
          </a:p>
        </p:txBody>
      </p:sp>
      <p:sp>
        <p:nvSpPr>
          <p:cNvPr id="95" name="Oval 94"/>
          <p:cNvSpPr/>
          <p:nvPr/>
        </p:nvSpPr>
        <p:spPr>
          <a:xfrm>
            <a:off x="4951784" y="5791010"/>
            <a:ext cx="84357" cy="84357"/>
          </a:xfrm>
          <a:prstGeom prst="ellipse">
            <a:avLst/>
          </a:prstGeom>
          <a:noFill/>
          <a:ln w="10160">
            <a:solidFill>
              <a:srgbClr val="6A9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/>
          </a:p>
        </p:txBody>
      </p:sp>
      <p:sp>
        <p:nvSpPr>
          <p:cNvPr id="96" name="TextBox 95"/>
          <p:cNvSpPr txBox="1"/>
          <p:nvPr/>
        </p:nvSpPr>
        <p:spPr>
          <a:xfrm>
            <a:off x="4529997" y="5917546"/>
            <a:ext cx="927932" cy="939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555" b="1" i="0">
                <a:solidFill>
                  <a:srgbClr val="5A708E"/>
                </a:solidFill>
                <a:latin typeface="Source Han Serif SC"/>
                <a:ea typeface="Source Han Serif SC"/>
              </a:rPr>
              <a:t>多件对比</a:t>
            </a:r>
            <a:endParaRPr sz="555" b="1" i="0">
              <a:solidFill>
                <a:srgbClr val="5A708E"/>
              </a:solidFill>
              <a:latin typeface="Source Han Serif SC"/>
              <a:ea typeface="Source Han Serif SC"/>
            </a:endParaRPr>
          </a:p>
        </p:txBody>
      </p:sp>
      <p:cxnSp>
        <p:nvCxnSpPr>
          <p:cNvPr id="97" name="Connector 96"/>
          <p:cNvCxnSpPr/>
          <p:nvPr/>
        </p:nvCxnSpPr>
        <p:spPr>
          <a:xfrm>
            <a:off x="5520594" y="2290174"/>
            <a:ext cx="0" cy="3880444"/>
          </a:xfrm>
          <a:prstGeom prst="bentConnector3">
            <a:avLst/>
          </a:prstGeom>
          <a:ln w="3175">
            <a:solidFill>
              <a:srgbClr val="E4ECF4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Oval 97"/>
          <p:cNvSpPr/>
          <p:nvPr/>
        </p:nvSpPr>
        <p:spPr>
          <a:xfrm rot="21557670">
            <a:off x="5929126" y="2307045"/>
            <a:ext cx="236201" cy="236201"/>
          </a:xfrm>
          <a:prstGeom prst="ellipse">
            <a:avLst/>
          </a:prstGeom>
          <a:solidFill>
            <a:srgbClr val="4E729E"/>
          </a:solidFill>
          <a:ln w="10160">
            <a:solidFill>
              <a:srgbClr val="4E72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/>
          </a:p>
        </p:txBody>
      </p:sp>
      <p:sp>
        <p:nvSpPr>
          <p:cNvPr id="99" name="Oval 98"/>
          <p:cNvSpPr/>
          <p:nvPr/>
        </p:nvSpPr>
        <p:spPr>
          <a:xfrm rot="21558377">
            <a:off x="6013483" y="2391403"/>
            <a:ext cx="67486" cy="6748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/>
          </a:p>
        </p:txBody>
      </p:sp>
      <p:sp>
        <p:nvSpPr>
          <p:cNvPr id="100" name="TextBox 99"/>
          <p:cNvSpPr txBox="1"/>
          <p:nvPr/>
        </p:nvSpPr>
        <p:spPr>
          <a:xfrm>
            <a:off x="5929126" y="2332353"/>
            <a:ext cx="236201" cy="996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5" b="1" i="0">
                <a:solidFill>
                  <a:srgbClr val="FFFFFF"/>
                </a:solidFill>
                <a:latin typeface="Helvetica"/>
                <a:ea typeface="Helvetica"/>
              </a:rPr>
              <a:t>5</a:t>
            </a:r>
            <a:endParaRPr sz="645" b="1" i="0">
              <a:solidFill>
                <a:srgbClr val="FFFFFF"/>
              </a:solidFill>
              <a:latin typeface="Helvetica"/>
              <a:ea typeface="Helvetica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5583260" y="2610732"/>
            <a:ext cx="927932" cy="120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85" b="1" i="0">
                <a:solidFill>
                  <a:srgbClr val="242A33"/>
                </a:solidFill>
                <a:latin typeface="Source Han Serif SC"/>
                <a:ea typeface="Source Han Serif SC"/>
              </a:rPr>
              <a:t>支付下单</a:t>
            </a:r>
            <a:endParaRPr sz="785" b="1" i="0">
              <a:solidFill>
                <a:srgbClr val="242A33"/>
              </a:solidFill>
              <a:latin typeface="Source Han Serif SC"/>
              <a:ea typeface="Source Han Serif SC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5583260" y="2754140"/>
            <a:ext cx="927932" cy="781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50"/>
              </a:spcAft>
            </a:pPr>
            <a:r>
              <a:rPr sz="505" b="0" i="0">
                <a:solidFill>
                  <a:srgbClr val="6A7482"/>
                </a:solidFill>
                <a:latin typeface="Helvetica"/>
                <a:ea typeface="Helvetica"/>
              </a:rPr>
              <a:t>PAY</a:t>
            </a:r>
            <a:endParaRPr sz="505" b="0" i="0">
              <a:solidFill>
                <a:srgbClr val="6A7482"/>
              </a:solidFill>
              <a:latin typeface="Helvetica"/>
              <a:ea typeface="Helvetica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5583260" y="2905984"/>
            <a:ext cx="927932" cy="92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4E729E"/>
                </a:solidFill>
                <a:latin typeface="Helvetica"/>
                <a:ea typeface="Helvetica"/>
              </a:rPr>
              <a:t>6.5/10</a:t>
            </a:r>
            <a:endParaRPr sz="600" b="1" i="0">
              <a:solidFill>
                <a:srgbClr val="4E729E"/>
              </a:solidFill>
              <a:latin typeface="Helvetica"/>
              <a:ea typeface="Helvetica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5583260" y="3116877"/>
            <a:ext cx="927932" cy="85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55" b="0" i="0">
                <a:solidFill>
                  <a:srgbClr val="2C4A6E"/>
                </a:solidFill>
                <a:latin typeface="Helvetica"/>
                <a:ea typeface="Helvetica"/>
              </a:rPr>
              <a:t>WEB·APP</a:t>
            </a:r>
            <a:endParaRPr sz="555" b="0" i="0">
              <a:solidFill>
                <a:srgbClr val="2C4A6E"/>
              </a:solidFill>
              <a:latin typeface="Helvetica"/>
              <a:ea typeface="Helvetica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5583260" y="3369950"/>
            <a:ext cx="927932" cy="939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555" b="0" i="0">
                <a:solidFill>
                  <a:srgbClr val="2C4A6E"/>
                </a:solidFill>
                <a:latin typeface="Source Han Serif SC"/>
                <a:ea typeface="Source Han Serif SC"/>
              </a:rPr>
              <a:t>填地址、支付</a:t>
            </a:r>
            <a:endParaRPr sz="555" b="0" i="0">
              <a:solidFill>
                <a:srgbClr val="2C4A6E"/>
              </a:solidFill>
              <a:latin typeface="Source Han Serif SC"/>
              <a:ea typeface="Source Han Serif SC"/>
            </a:endParaRPr>
          </a:p>
        </p:txBody>
      </p:sp>
      <p:cxnSp>
        <p:nvCxnSpPr>
          <p:cNvPr id="106" name="Connector 105"/>
          <p:cNvCxnSpPr/>
          <p:nvPr/>
        </p:nvCxnSpPr>
        <p:spPr>
          <a:xfrm>
            <a:off x="5996611" y="5200507"/>
            <a:ext cx="101229" cy="0"/>
          </a:xfrm>
          <a:prstGeom prst="bentConnector3">
            <a:avLst/>
          </a:prstGeom>
          <a:ln w="10160">
            <a:solidFill>
              <a:srgbClr val="4E72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6047226" y="5149893"/>
            <a:ext cx="0" cy="101228"/>
          </a:xfrm>
          <a:prstGeom prst="bentConnector3">
            <a:avLst/>
          </a:prstGeom>
          <a:ln w="10160">
            <a:solidFill>
              <a:srgbClr val="4E72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5583260" y="5284865"/>
            <a:ext cx="927932" cy="939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555" b="0" i="0">
                <a:solidFill>
                  <a:srgbClr val="242A33"/>
                </a:solidFill>
                <a:latin typeface="Source Han Serif SC"/>
                <a:ea typeface="Source Han Serif SC"/>
              </a:rPr>
              <a:t>流程繁琐</a:t>
            </a:r>
            <a:endParaRPr sz="555" b="0" i="0">
              <a:solidFill>
                <a:srgbClr val="242A33"/>
              </a:solidFill>
              <a:latin typeface="Source Han Serif SC"/>
              <a:ea typeface="Source Han Serif SC"/>
            </a:endParaRPr>
          </a:p>
        </p:txBody>
      </p:sp>
      <p:sp>
        <p:nvSpPr>
          <p:cNvPr id="109" name="Oval 108"/>
          <p:cNvSpPr/>
          <p:nvPr/>
        </p:nvSpPr>
        <p:spPr>
          <a:xfrm>
            <a:off x="6005047" y="5791010"/>
            <a:ext cx="84357" cy="84357"/>
          </a:xfrm>
          <a:prstGeom prst="ellipse">
            <a:avLst/>
          </a:prstGeom>
          <a:noFill/>
          <a:ln w="10160">
            <a:solidFill>
              <a:srgbClr val="6A9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/>
          </a:p>
        </p:txBody>
      </p:sp>
      <p:sp>
        <p:nvSpPr>
          <p:cNvPr id="110" name="TextBox 109"/>
          <p:cNvSpPr txBox="1"/>
          <p:nvPr/>
        </p:nvSpPr>
        <p:spPr>
          <a:xfrm>
            <a:off x="5583260" y="5917546"/>
            <a:ext cx="927932" cy="939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555" b="1" i="0">
                <a:solidFill>
                  <a:srgbClr val="4E729E"/>
                </a:solidFill>
                <a:latin typeface="Source Han Serif SC"/>
                <a:ea typeface="Source Han Serif SC"/>
              </a:rPr>
              <a:t>一键支付</a:t>
            </a:r>
            <a:endParaRPr sz="555" b="1" i="0">
              <a:solidFill>
                <a:srgbClr val="4E729E"/>
              </a:solidFill>
              <a:latin typeface="Source Han Serif SC"/>
              <a:ea typeface="Source Han Serif SC"/>
            </a:endParaRPr>
          </a:p>
        </p:txBody>
      </p:sp>
      <p:cxnSp>
        <p:nvCxnSpPr>
          <p:cNvPr id="111" name="Connector 110"/>
          <p:cNvCxnSpPr/>
          <p:nvPr/>
        </p:nvCxnSpPr>
        <p:spPr>
          <a:xfrm>
            <a:off x="6573858" y="2290174"/>
            <a:ext cx="0" cy="3880444"/>
          </a:xfrm>
          <a:prstGeom prst="bentConnector3">
            <a:avLst/>
          </a:prstGeom>
          <a:ln w="3175">
            <a:solidFill>
              <a:srgbClr val="E4ECF4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Oval 111"/>
          <p:cNvSpPr/>
          <p:nvPr/>
        </p:nvSpPr>
        <p:spPr>
          <a:xfrm rot="68401">
            <a:off x="6982389" y="2307045"/>
            <a:ext cx="236201" cy="236201"/>
          </a:xfrm>
          <a:prstGeom prst="ellipse">
            <a:avLst/>
          </a:prstGeom>
          <a:solidFill>
            <a:srgbClr val="E8EEF6"/>
          </a:solidFill>
          <a:ln w="1016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/>
          </a:p>
        </p:txBody>
      </p:sp>
      <p:sp>
        <p:nvSpPr>
          <p:cNvPr id="113" name="Oval 112"/>
          <p:cNvSpPr/>
          <p:nvPr/>
        </p:nvSpPr>
        <p:spPr>
          <a:xfrm rot="30050">
            <a:off x="7066747" y="2391403"/>
            <a:ext cx="67486" cy="6748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/>
          </a:p>
        </p:txBody>
      </p:sp>
      <p:sp>
        <p:nvSpPr>
          <p:cNvPr id="114" name="TextBox 113"/>
          <p:cNvSpPr txBox="1"/>
          <p:nvPr/>
        </p:nvSpPr>
        <p:spPr>
          <a:xfrm>
            <a:off x="6982389" y="2332353"/>
            <a:ext cx="236201" cy="996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5" b="1" i="0">
                <a:solidFill>
                  <a:srgbClr val="FFFFFF"/>
                </a:solidFill>
                <a:latin typeface="Helvetica"/>
                <a:ea typeface="Helvetica"/>
              </a:rPr>
              <a:t>6</a:t>
            </a:r>
            <a:endParaRPr sz="645" b="1" i="0">
              <a:solidFill>
                <a:srgbClr val="FFFFFF"/>
              </a:solidFill>
              <a:latin typeface="Helvetica"/>
              <a:ea typeface="Helvetica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6636524" y="2610732"/>
            <a:ext cx="927932" cy="120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85" b="1" i="0">
                <a:solidFill>
                  <a:srgbClr val="242A33"/>
                </a:solidFill>
                <a:latin typeface="Source Han Serif SC"/>
                <a:ea typeface="Source Han Serif SC"/>
              </a:rPr>
              <a:t>收货体验</a:t>
            </a:r>
            <a:endParaRPr sz="785" b="1" i="0">
              <a:solidFill>
                <a:srgbClr val="242A33"/>
              </a:solidFill>
              <a:latin typeface="Source Han Serif SC"/>
              <a:ea typeface="Source Han Serif SC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6636524" y="2754140"/>
            <a:ext cx="927932" cy="781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50"/>
              </a:spcAft>
            </a:pPr>
            <a:r>
              <a:rPr sz="505" b="0" i="0">
                <a:solidFill>
                  <a:srgbClr val="6A7482"/>
                </a:solidFill>
                <a:latin typeface="Helvetica"/>
                <a:ea typeface="Helvetica"/>
              </a:rPr>
              <a:t>RECEIVE</a:t>
            </a:r>
            <a:endParaRPr sz="505" b="0" i="0">
              <a:solidFill>
                <a:srgbClr val="6A7482"/>
              </a:solidFill>
              <a:latin typeface="Helvetica"/>
              <a:ea typeface="Helvetica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6636524" y="2905984"/>
            <a:ext cx="927932" cy="92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E8EEF6"/>
                </a:solidFill>
                <a:latin typeface="Helvetica"/>
                <a:ea typeface="Helvetica"/>
              </a:rPr>
              <a:t>4.0/10</a:t>
            </a:r>
            <a:endParaRPr sz="600" b="1" i="0">
              <a:solidFill>
                <a:srgbClr val="E8EEF6"/>
              </a:solidFill>
              <a:latin typeface="Helvetica"/>
              <a:ea typeface="Helvetica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6636524" y="3116877"/>
            <a:ext cx="927932" cy="85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55" b="0" i="0">
                <a:solidFill>
                  <a:srgbClr val="2C4A6E"/>
                </a:solidFill>
                <a:latin typeface="Helvetica"/>
                <a:ea typeface="Helvetica"/>
              </a:rPr>
              <a:t>物流·实体</a:t>
            </a:r>
            <a:endParaRPr sz="555" b="0" i="0">
              <a:solidFill>
                <a:srgbClr val="2C4A6E"/>
              </a:solidFill>
              <a:latin typeface="Helvetica"/>
              <a:ea typeface="Helvetica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6636524" y="3369950"/>
            <a:ext cx="927932" cy="939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555" b="0" i="0">
                <a:solidFill>
                  <a:srgbClr val="2C4A6E"/>
                </a:solidFill>
                <a:latin typeface="Source Han Serif SC"/>
                <a:ea typeface="Source Han Serif SC"/>
              </a:rPr>
              <a:t>拆箱、试穿、检查</a:t>
            </a:r>
            <a:endParaRPr sz="555" b="0" i="0">
              <a:solidFill>
                <a:srgbClr val="2C4A6E"/>
              </a:solidFill>
              <a:latin typeface="Source Han Serif SC"/>
              <a:ea typeface="Source Han Serif SC"/>
            </a:endParaRPr>
          </a:p>
        </p:txBody>
      </p:sp>
      <p:cxnSp>
        <p:nvCxnSpPr>
          <p:cNvPr id="120" name="Connector 119"/>
          <p:cNvCxnSpPr/>
          <p:nvPr/>
        </p:nvCxnSpPr>
        <p:spPr>
          <a:xfrm>
            <a:off x="7049875" y="5200507"/>
            <a:ext cx="101229" cy="0"/>
          </a:xfrm>
          <a:prstGeom prst="bentConnector3">
            <a:avLst/>
          </a:prstGeom>
          <a:ln w="10160">
            <a:solidFill>
              <a:srgbClr val="4E72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100490" y="5149893"/>
            <a:ext cx="0" cy="101228"/>
          </a:xfrm>
          <a:prstGeom prst="bentConnector3">
            <a:avLst/>
          </a:prstGeom>
          <a:ln w="10160">
            <a:solidFill>
              <a:srgbClr val="4E72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6636524" y="5284865"/>
            <a:ext cx="927932" cy="939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555" b="0" i="0">
                <a:solidFill>
                  <a:srgbClr val="242A33"/>
                </a:solidFill>
                <a:latin typeface="Source Han Serif SC"/>
                <a:ea typeface="Source Han Serif SC"/>
              </a:rPr>
              <a:t>尺码错、不符</a:t>
            </a:r>
            <a:endParaRPr sz="555" b="0" i="0">
              <a:solidFill>
                <a:srgbClr val="242A33"/>
              </a:solidFill>
              <a:latin typeface="Source Han Serif SC"/>
              <a:ea typeface="Source Han Serif SC"/>
            </a:endParaRPr>
          </a:p>
        </p:txBody>
      </p:sp>
      <p:sp>
        <p:nvSpPr>
          <p:cNvPr id="123" name="Oval 122"/>
          <p:cNvSpPr/>
          <p:nvPr/>
        </p:nvSpPr>
        <p:spPr>
          <a:xfrm>
            <a:off x="7058311" y="5791010"/>
            <a:ext cx="84357" cy="84357"/>
          </a:xfrm>
          <a:prstGeom prst="ellipse">
            <a:avLst/>
          </a:prstGeom>
          <a:noFill/>
          <a:ln w="10160">
            <a:solidFill>
              <a:srgbClr val="6A9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/>
          </a:p>
        </p:txBody>
      </p:sp>
      <p:sp>
        <p:nvSpPr>
          <p:cNvPr id="124" name="TextBox 123"/>
          <p:cNvSpPr txBox="1"/>
          <p:nvPr/>
        </p:nvSpPr>
        <p:spPr>
          <a:xfrm>
            <a:off x="6636524" y="5917546"/>
            <a:ext cx="927932" cy="939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555" b="1" i="0">
                <a:solidFill>
                  <a:srgbClr val="E8EEF6"/>
                </a:solidFill>
                <a:latin typeface="Source Han Serif SC"/>
                <a:ea typeface="Source Han Serif SC"/>
              </a:rPr>
              <a:t>尺码预测</a:t>
            </a:r>
            <a:endParaRPr sz="555" b="1" i="0">
              <a:solidFill>
                <a:srgbClr val="E8EEF6"/>
              </a:solidFill>
              <a:latin typeface="Source Han Serif SC"/>
              <a:ea typeface="Source Han Serif SC"/>
            </a:endParaRPr>
          </a:p>
        </p:txBody>
      </p:sp>
      <p:cxnSp>
        <p:nvCxnSpPr>
          <p:cNvPr id="125" name="Connector 124"/>
          <p:cNvCxnSpPr/>
          <p:nvPr/>
        </p:nvCxnSpPr>
        <p:spPr>
          <a:xfrm>
            <a:off x="7627122" y="2290174"/>
            <a:ext cx="0" cy="3880444"/>
          </a:xfrm>
          <a:prstGeom prst="bentConnector3">
            <a:avLst/>
          </a:prstGeom>
          <a:ln w="3175">
            <a:solidFill>
              <a:srgbClr val="E4ECF4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Oval 125"/>
          <p:cNvSpPr/>
          <p:nvPr/>
        </p:nvSpPr>
        <p:spPr>
          <a:xfrm rot="18918">
            <a:off x="8035653" y="2307045"/>
            <a:ext cx="236201" cy="236201"/>
          </a:xfrm>
          <a:prstGeom prst="ellipse">
            <a:avLst/>
          </a:prstGeom>
          <a:solidFill>
            <a:srgbClr val="6A92B8"/>
          </a:solidFill>
          <a:ln w="10160">
            <a:solidFill>
              <a:srgbClr val="6A9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/>
          </a:p>
        </p:txBody>
      </p:sp>
      <p:sp>
        <p:nvSpPr>
          <p:cNvPr id="127" name="Oval 126"/>
          <p:cNvSpPr/>
          <p:nvPr/>
        </p:nvSpPr>
        <p:spPr>
          <a:xfrm rot="21578686">
            <a:off x="8120010" y="2391403"/>
            <a:ext cx="67486" cy="6748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/>
          </a:p>
        </p:txBody>
      </p:sp>
      <p:sp>
        <p:nvSpPr>
          <p:cNvPr id="128" name="TextBox 127"/>
          <p:cNvSpPr txBox="1"/>
          <p:nvPr/>
        </p:nvSpPr>
        <p:spPr>
          <a:xfrm>
            <a:off x="8035653" y="2332353"/>
            <a:ext cx="236201" cy="996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5" b="1" i="0">
                <a:solidFill>
                  <a:srgbClr val="FFFFFF"/>
                </a:solidFill>
                <a:latin typeface="Helvetica"/>
                <a:ea typeface="Helvetica"/>
              </a:rPr>
              <a:t>7</a:t>
            </a:r>
            <a:endParaRPr sz="645" b="1" i="0">
              <a:solidFill>
                <a:srgbClr val="FFFFFF"/>
              </a:solidFill>
              <a:latin typeface="Helvetica"/>
              <a:ea typeface="Helvetica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7689787" y="2610732"/>
            <a:ext cx="927932" cy="120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85" b="1" i="0">
                <a:solidFill>
                  <a:srgbClr val="242A33"/>
                </a:solidFill>
                <a:latin typeface="Source Han Serif SC"/>
                <a:ea typeface="Source Han Serif SC"/>
              </a:rPr>
              <a:t>售后反馈</a:t>
            </a:r>
            <a:endParaRPr sz="785" b="1" i="0">
              <a:solidFill>
                <a:srgbClr val="242A33"/>
              </a:solidFill>
              <a:latin typeface="Source Han Serif SC"/>
              <a:ea typeface="Source Han Serif SC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7689787" y="2754140"/>
            <a:ext cx="927932" cy="781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50"/>
              </a:spcAft>
            </a:pPr>
            <a:r>
              <a:rPr sz="505" b="0" i="0">
                <a:solidFill>
                  <a:srgbClr val="6A7482"/>
                </a:solidFill>
                <a:latin typeface="Helvetica"/>
                <a:ea typeface="Helvetica"/>
              </a:rPr>
              <a:t>FEEDBACK</a:t>
            </a:r>
            <a:endParaRPr sz="505" b="0" i="0">
              <a:solidFill>
                <a:srgbClr val="6A7482"/>
              </a:solidFill>
              <a:latin typeface="Helvetica"/>
              <a:ea typeface="Helvetica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7689787" y="2905984"/>
            <a:ext cx="927932" cy="92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6A92B8"/>
                </a:solidFill>
                <a:latin typeface="Helvetica"/>
                <a:ea typeface="Helvetica"/>
              </a:rPr>
              <a:t>7.0/10</a:t>
            </a:r>
            <a:endParaRPr sz="600" b="1" i="0">
              <a:solidFill>
                <a:srgbClr val="6A92B8"/>
              </a:solidFill>
              <a:latin typeface="Helvetica"/>
              <a:ea typeface="Helvetica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7689787" y="3116877"/>
            <a:ext cx="927932" cy="85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55" b="0" i="0">
                <a:solidFill>
                  <a:srgbClr val="2C4A6E"/>
                </a:solidFill>
                <a:latin typeface="Helvetica"/>
                <a:ea typeface="Helvetica"/>
              </a:rPr>
              <a:t>APP·社交</a:t>
            </a:r>
            <a:endParaRPr sz="555" b="0" i="0">
              <a:solidFill>
                <a:srgbClr val="2C4A6E"/>
              </a:solidFill>
              <a:latin typeface="Helvetica"/>
              <a:ea typeface="Helvetica"/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7689787" y="3369950"/>
            <a:ext cx="927932" cy="939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555" b="0" i="0">
                <a:solidFill>
                  <a:srgbClr val="2C4A6E"/>
                </a:solidFill>
                <a:latin typeface="Source Han Serif SC"/>
                <a:ea typeface="Source Han Serif SC"/>
              </a:rPr>
              <a:t>评价、退货、复购</a:t>
            </a:r>
            <a:endParaRPr sz="555" b="0" i="0">
              <a:solidFill>
                <a:srgbClr val="2C4A6E"/>
              </a:solidFill>
              <a:latin typeface="Source Han Serif SC"/>
              <a:ea typeface="Source Han Serif SC"/>
            </a:endParaRPr>
          </a:p>
        </p:txBody>
      </p:sp>
      <p:cxnSp>
        <p:nvCxnSpPr>
          <p:cNvPr id="134" name="Connector 133"/>
          <p:cNvCxnSpPr/>
          <p:nvPr/>
        </p:nvCxnSpPr>
        <p:spPr>
          <a:xfrm>
            <a:off x="8103139" y="5200507"/>
            <a:ext cx="101229" cy="0"/>
          </a:xfrm>
          <a:prstGeom prst="bentConnector3">
            <a:avLst/>
          </a:prstGeom>
          <a:ln w="10160">
            <a:solidFill>
              <a:srgbClr val="4E72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8153753" y="5149893"/>
            <a:ext cx="0" cy="101228"/>
          </a:xfrm>
          <a:prstGeom prst="bentConnector3">
            <a:avLst/>
          </a:prstGeom>
          <a:ln w="10160">
            <a:solidFill>
              <a:srgbClr val="4E72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7689787" y="5284865"/>
            <a:ext cx="927932" cy="939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555" b="0" i="0">
                <a:solidFill>
                  <a:srgbClr val="242A33"/>
                </a:solidFill>
                <a:latin typeface="Source Han Serif SC"/>
                <a:ea typeface="Source Han Serif SC"/>
              </a:rPr>
              <a:t>退货流程繁</a:t>
            </a:r>
            <a:endParaRPr sz="555" b="0" i="0">
              <a:solidFill>
                <a:srgbClr val="242A33"/>
              </a:solidFill>
              <a:latin typeface="Source Han Serif SC"/>
              <a:ea typeface="Source Han Serif SC"/>
            </a:endParaRPr>
          </a:p>
        </p:txBody>
      </p:sp>
      <p:sp>
        <p:nvSpPr>
          <p:cNvPr id="137" name="Oval 136"/>
          <p:cNvSpPr/>
          <p:nvPr/>
        </p:nvSpPr>
        <p:spPr>
          <a:xfrm>
            <a:off x="8111575" y="5791010"/>
            <a:ext cx="84357" cy="84357"/>
          </a:xfrm>
          <a:prstGeom prst="ellipse">
            <a:avLst/>
          </a:prstGeom>
          <a:noFill/>
          <a:ln w="10160">
            <a:solidFill>
              <a:srgbClr val="6A9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/>
          </a:p>
        </p:txBody>
      </p:sp>
      <p:sp>
        <p:nvSpPr>
          <p:cNvPr id="138" name="TextBox 137"/>
          <p:cNvSpPr txBox="1"/>
          <p:nvPr/>
        </p:nvSpPr>
        <p:spPr>
          <a:xfrm>
            <a:off x="7689787" y="5917546"/>
            <a:ext cx="927932" cy="939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555" b="1" i="0">
                <a:solidFill>
                  <a:srgbClr val="6A92B8"/>
                </a:solidFill>
                <a:latin typeface="Source Han Serif SC"/>
                <a:ea typeface="Source Han Serif SC"/>
              </a:rPr>
              <a:t>数据回流</a:t>
            </a:r>
            <a:endParaRPr sz="555" b="1" i="0">
              <a:solidFill>
                <a:srgbClr val="6A92B8"/>
              </a:solidFill>
              <a:latin typeface="Source Han Serif SC"/>
              <a:ea typeface="Source Han Serif SC"/>
            </a:endParaRPr>
          </a:p>
        </p:txBody>
      </p:sp>
      <p:cxnSp>
        <p:nvCxnSpPr>
          <p:cNvPr id="139" name="Connector 138"/>
          <p:cNvCxnSpPr/>
          <p:nvPr/>
        </p:nvCxnSpPr>
        <p:spPr>
          <a:xfrm>
            <a:off x="1834172" y="4219851"/>
            <a:ext cx="1053264" cy="316341"/>
          </a:xfrm>
          <a:prstGeom prst="bentConnector3">
            <a:avLst/>
          </a:prstGeom>
          <a:ln w="22860">
            <a:solidFill>
              <a:srgbClr val="4E72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2887436" y="4536192"/>
            <a:ext cx="1053264" cy="263617"/>
          </a:xfrm>
          <a:prstGeom prst="bentConnector3">
            <a:avLst/>
          </a:prstGeom>
          <a:ln w="22860">
            <a:solidFill>
              <a:srgbClr val="4E72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3940699" y="4641639"/>
            <a:ext cx="1053264" cy="158170"/>
          </a:xfrm>
          <a:prstGeom prst="bentConnector3">
            <a:avLst/>
          </a:prstGeom>
          <a:ln w="22860">
            <a:solidFill>
              <a:srgbClr val="4E72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4993963" y="4430745"/>
            <a:ext cx="1053263" cy="210894"/>
          </a:xfrm>
          <a:prstGeom prst="bentConnector3">
            <a:avLst/>
          </a:prstGeom>
          <a:ln w="22860">
            <a:solidFill>
              <a:srgbClr val="4E72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6047226" y="4430745"/>
            <a:ext cx="1053264" cy="263617"/>
          </a:xfrm>
          <a:prstGeom prst="bentConnector3">
            <a:avLst/>
          </a:prstGeom>
          <a:ln w="22860">
            <a:solidFill>
              <a:srgbClr val="4E72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7100490" y="4378022"/>
            <a:ext cx="1053264" cy="316341"/>
          </a:xfrm>
          <a:prstGeom prst="bentConnector3">
            <a:avLst/>
          </a:prstGeom>
          <a:ln w="22860">
            <a:solidFill>
              <a:srgbClr val="4E72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Oval 144"/>
          <p:cNvSpPr/>
          <p:nvPr/>
        </p:nvSpPr>
        <p:spPr>
          <a:xfrm>
            <a:off x="1758250" y="4143930"/>
            <a:ext cx="151843" cy="151843"/>
          </a:xfrm>
          <a:prstGeom prst="ellipse">
            <a:avLst/>
          </a:prstGeom>
          <a:noFill/>
          <a:ln w="12700">
            <a:solidFill>
              <a:srgbClr val="4E72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/>
          </a:p>
        </p:txBody>
      </p:sp>
      <p:sp>
        <p:nvSpPr>
          <p:cNvPr id="146" name="Oval 145"/>
          <p:cNvSpPr/>
          <p:nvPr/>
        </p:nvSpPr>
        <p:spPr>
          <a:xfrm rot="39107">
            <a:off x="1800429" y="4186108"/>
            <a:ext cx="67486" cy="67486"/>
          </a:xfrm>
          <a:prstGeom prst="ellipse">
            <a:avLst/>
          </a:prstGeom>
          <a:solidFill>
            <a:srgbClr val="4E7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/>
          </a:p>
        </p:txBody>
      </p:sp>
      <p:sp>
        <p:nvSpPr>
          <p:cNvPr id="147" name="Oval 146"/>
          <p:cNvSpPr/>
          <p:nvPr/>
        </p:nvSpPr>
        <p:spPr>
          <a:xfrm>
            <a:off x="2811514" y="4460270"/>
            <a:ext cx="151843" cy="151843"/>
          </a:xfrm>
          <a:prstGeom prst="ellipse">
            <a:avLst/>
          </a:prstGeom>
          <a:noFill/>
          <a:ln w="12700">
            <a:solidFill>
              <a:srgbClr val="4E72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/>
          </a:p>
        </p:txBody>
      </p:sp>
      <p:sp>
        <p:nvSpPr>
          <p:cNvPr id="148" name="Oval 147"/>
          <p:cNvSpPr/>
          <p:nvPr/>
        </p:nvSpPr>
        <p:spPr>
          <a:xfrm rot="21550730">
            <a:off x="2853693" y="4502449"/>
            <a:ext cx="67486" cy="67486"/>
          </a:xfrm>
          <a:prstGeom prst="ellipse">
            <a:avLst/>
          </a:prstGeom>
          <a:solidFill>
            <a:srgbClr val="4E7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/>
          </a:p>
        </p:txBody>
      </p:sp>
      <p:sp>
        <p:nvSpPr>
          <p:cNvPr id="149" name="Oval 148"/>
          <p:cNvSpPr/>
          <p:nvPr/>
        </p:nvSpPr>
        <p:spPr>
          <a:xfrm>
            <a:off x="3864778" y="4723887"/>
            <a:ext cx="151843" cy="151843"/>
          </a:xfrm>
          <a:prstGeom prst="ellipse">
            <a:avLst/>
          </a:prstGeom>
          <a:noFill/>
          <a:ln w="12700">
            <a:solidFill>
              <a:srgbClr val="4E72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/>
          </a:p>
        </p:txBody>
      </p:sp>
      <p:sp>
        <p:nvSpPr>
          <p:cNvPr id="150" name="Oval 149"/>
          <p:cNvSpPr/>
          <p:nvPr/>
        </p:nvSpPr>
        <p:spPr>
          <a:xfrm rot="21584335">
            <a:off x="3906956" y="4766066"/>
            <a:ext cx="67486" cy="67486"/>
          </a:xfrm>
          <a:prstGeom prst="ellipse">
            <a:avLst/>
          </a:prstGeom>
          <a:solidFill>
            <a:srgbClr val="4E7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/>
          </a:p>
        </p:txBody>
      </p:sp>
      <p:sp>
        <p:nvSpPr>
          <p:cNvPr id="151" name="Oval 150"/>
          <p:cNvSpPr/>
          <p:nvPr/>
        </p:nvSpPr>
        <p:spPr>
          <a:xfrm>
            <a:off x="4918041" y="4565717"/>
            <a:ext cx="151843" cy="151843"/>
          </a:xfrm>
          <a:prstGeom prst="ellipse">
            <a:avLst/>
          </a:prstGeom>
          <a:noFill/>
          <a:ln w="12700">
            <a:solidFill>
              <a:srgbClr val="4E72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/>
          </a:p>
        </p:txBody>
      </p:sp>
      <p:sp>
        <p:nvSpPr>
          <p:cNvPr id="152" name="Oval 151"/>
          <p:cNvSpPr/>
          <p:nvPr/>
        </p:nvSpPr>
        <p:spPr>
          <a:xfrm rot="19979">
            <a:off x="4960220" y="4607896"/>
            <a:ext cx="67486" cy="67486"/>
          </a:xfrm>
          <a:prstGeom prst="ellipse">
            <a:avLst/>
          </a:prstGeom>
          <a:solidFill>
            <a:srgbClr val="4E7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/>
          </a:p>
        </p:txBody>
      </p:sp>
      <p:sp>
        <p:nvSpPr>
          <p:cNvPr id="153" name="Oval 152"/>
          <p:cNvSpPr/>
          <p:nvPr/>
        </p:nvSpPr>
        <p:spPr>
          <a:xfrm>
            <a:off x="5971304" y="4354823"/>
            <a:ext cx="151843" cy="151843"/>
          </a:xfrm>
          <a:prstGeom prst="ellipse">
            <a:avLst/>
          </a:prstGeom>
          <a:noFill/>
          <a:ln w="12700">
            <a:solidFill>
              <a:srgbClr val="4E72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/>
          </a:p>
        </p:txBody>
      </p:sp>
      <p:sp>
        <p:nvSpPr>
          <p:cNvPr id="154" name="Oval 153"/>
          <p:cNvSpPr/>
          <p:nvPr/>
        </p:nvSpPr>
        <p:spPr>
          <a:xfrm rot="15919">
            <a:off x="6013483" y="4397002"/>
            <a:ext cx="67486" cy="67486"/>
          </a:xfrm>
          <a:prstGeom prst="ellipse">
            <a:avLst/>
          </a:prstGeom>
          <a:solidFill>
            <a:srgbClr val="4E7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/>
          </a:p>
        </p:txBody>
      </p:sp>
      <p:sp>
        <p:nvSpPr>
          <p:cNvPr id="155" name="Oval 154"/>
          <p:cNvSpPr/>
          <p:nvPr/>
        </p:nvSpPr>
        <p:spPr>
          <a:xfrm>
            <a:off x="7024568" y="4618441"/>
            <a:ext cx="151843" cy="151843"/>
          </a:xfrm>
          <a:prstGeom prst="ellipse">
            <a:avLst/>
          </a:prstGeom>
          <a:noFill/>
          <a:ln w="12700">
            <a:solidFill>
              <a:srgbClr val="4E72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/>
          </a:p>
        </p:txBody>
      </p:sp>
      <p:sp>
        <p:nvSpPr>
          <p:cNvPr id="156" name="Oval 155"/>
          <p:cNvSpPr/>
          <p:nvPr/>
        </p:nvSpPr>
        <p:spPr>
          <a:xfrm rot="21543551">
            <a:off x="7066747" y="4660619"/>
            <a:ext cx="67486" cy="67486"/>
          </a:xfrm>
          <a:prstGeom prst="ellipse">
            <a:avLst/>
          </a:prstGeom>
          <a:solidFill>
            <a:srgbClr val="4E7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/>
          </a:p>
        </p:txBody>
      </p:sp>
      <p:sp>
        <p:nvSpPr>
          <p:cNvPr id="157" name="Oval 156"/>
          <p:cNvSpPr/>
          <p:nvPr/>
        </p:nvSpPr>
        <p:spPr>
          <a:xfrm>
            <a:off x="8077832" y="4302100"/>
            <a:ext cx="151843" cy="151843"/>
          </a:xfrm>
          <a:prstGeom prst="ellipse">
            <a:avLst/>
          </a:prstGeom>
          <a:noFill/>
          <a:ln w="12700">
            <a:solidFill>
              <a:srgbClr val="4E72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/>
          </a:p>
        </p:txBody>
      </p:sp>
      <p:sp>
        <p:nvSpPr>
          <p:cNvPr id="158" name="Oval 157"/>
          <p:cNvSpPr/>
          <p:nvPr/>
        </p:nvSpPr>
        <p:spPr>
          <a:xfrm rot="21573263">
            <a:off x="8120010" y="4344279"/>
            <a:ext cx="67486" cy="67486"/>
          </a:xfrm>
          <a:prstGeom prst="ellipse">
            <a:avLst/>
          </a:prstGeom>
          <a:solidFill>
            <a:srgbClr val="4E7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/>
          </a:p>
        </p:txBody>
      </p:sp>
      <p:sp>
        <p:nvSpPr>
          <p:cNvPr id="159" name="Rectangle 158"/>
          <p:cNvSpPr/>
          <p:nvPr/>
        </p:nvSpPr>
        <p:spPr>
          <a:xfrm rot="21587942">
            <a:off x="421787" y="6153747"/>
            <a:ext cx="8300777" cy="42179"/>
          </a:xfrm>
          <a:prstGeom prst="rect">
            <a:avLst/>
          </a:prstGeom>
          <a:solidFill>
            <a:srgbClr val="4E7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/>
          </a:p>
        </p:txBody>
      </p:sp>
      <p:cxnSp>
        <p:nvCxnSpPr>
          <p:cNvPr id="160" name="Connector 159"/>
          <p:cNvCxnSpPr/>
          <p:nvPr/>
        </p:nvCxnSpPr>
        <p:spPr>
          <a:xfrm>
            <a:off x="413352" y="6145311"/>
            <a:ext cx="101229" cy="0"/>
          </a:xfrm>
          <a:prstGeom prst="bentConnector3">
            <a:avLst/>
          </a:prstGeom>
          <a:ln w="10160">
            <a:solidFill>
              <a:srgbClr val="4E72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463966" y="6094697"/>
            <a:ext cx="0" cy="101228"/>
          </a:xfrm>
          <a:prstGeom prst="bentConnector3">
            <a:avLst/>
          </a:prstGeom>
          <a:ln w="10160">
            <a:solidFill>
              <a:srgbClr val="4E72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421787" y="6212797"/>
            <a:ext cx="8300777" cy="0"/>
          </a:xfrm>
          <a:prstGeom prst="bentConnector3">
            <a:avLst/>
          </a:prstGeom>
          <a:ln w="5080">
            <a:solidFill>
              <a:srgbClr val="E4EC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TextBox 162"/>
          <p:cNvSpPr txBox="1"/>
          <p:nvPr/>
        </p:nvSpPr>
        <p:spPr>
          <a:xfrm>
            <a:off x="421787" y="6254976"/>
            <a:ext cx="2530725" cy="1054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690" b="0" i="0">
                <a:solidFill>
                  <a:srgbClr val="6A7482"/>
                </a:solidFill>
                <a:latin typeface="Helvetica"/>
                <a:ea typeface="Helvetica"/>
              </a:rPr>
              <a:t>UED DESIGN WORK</a:t>
            </a:r>
            <a:endParaRPr sz="690" b="0" i="0">
              <a:solidFill>
                <a:srgbClr val="6A7482"/>
              </a:solidFill>
              <a:latin typeface="Helvetica"/>
              <a:ea typeface="Helvetica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5770052" y="6254976"/>
            <a:ext cx="2952512" cy="1054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690" b="0" i="0">
                <a:solidFill>
                  <a:srgbClr val="6A7482"/>
                </a:solidFill>
                <a:latin typeface="Helvetica"/>
                <a:ea typeface="Helvetica"/>
              </a:rPr>
              <a:t>PORTFOLIO  18—22  /  P.07</a:t>
            </a:r>
            <a:endParaRPr sz="690" b="0" i="0">
              <a:solidFill>
                <a:srgbClr val="6A7482"/>
              </a:solidFill>
              <a:latin typeface="Helvetica"/>
              <a:ea typeface="Helvetica"/>
            </a:endParaRPr>
          </a:p>
        </p:txBody>
      </p:sp>
      <p:sp>
        <p:nvSpPr>
          <p:cNvPr id="165" name="Oval 164"/>
          <p:cNvSpPr/>
          <p:nvPr/>
        </p:nvSpPr>
        <p:spPr>
          <a:xfrm rot="21555068">
            <a:off x="523016" y="6322462"/>
            <a:ext cx="50614" cy="50614"/>
          </a:xfrm>
          <a:prstGeom prst="ellipse">
            <a:avLst/>
          </a:prstGeom>
          <a:solidFill>
            <a:srgbClr val="6A7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/>
          </a:p>
        </p:txBody>
      </p:sp>
      <p:sp>
        <p:nvSpPr>
          <p:cNvPr id="166" name="Oval 165"/>
          <p:cNvSpPr/>
          <p:nvPr/>
        </p:nvSpPr>
        <p:spPr>
          <a:xfrm rot="19733">
            <a:off x="8570721" y="6322462"/>
            <a:ext cx="50614" cy="50614"/>
          </a:xfrm>
          <a:prstGeom prst="ellipse">
            <a:avLst/>
          </a:prstGeom>
          <a:solidFill>
            <a:srgbClr val="6A7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 rot="43455">
            <a:off x="365760" y="292608"/>
            <a:ext cx="128016" cy="128016"/>
          </a:xfrm>
          <a:prstGeom prst="ellipse">
            <a:avLst/>
          </a:prstGeom>
          <a:solidFill>
            <a:srgbClr val="3A5E8C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42A33"/>
                </a:solidFill>
                <a:latin typeface="Helvetica Neue"/>
                <a:ea typeface="微软雅黑" panose="020B0503020204020204" charset="-122"/>
              </a:rPr>
              <a:t>1.3  价值分析 · 需求总结与价值判断</a:t>
            </a:r>
            <a:endParaRPr sz="1500" b="1" i="0">
              <a:solidFill>
                <a:srgbClr val="242A33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 spc="40">
                <a:solidFill>
                  <a:srgbClr val="6A7482"/>
                </a:solidFill>
                <a:latin typeface="Helvetica Neue"/>
                <a:ea typeface="微软雅黑" panose="020B0503020204020204" charset="-122"/>
              </a:rPr>
              <a:t>VALUE ANALYSIS  /  STAKEHOLDER VALUE MATRIX</a:t>
            </a:r>
            <a:endParaRPr sz="700" b="0" i="0" spc="40">
              <a:solidFill>
                <a:srgbClr val="6A7482"/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384048" y="566928"/>
            <a:ext cx="8028432" cy="0"/>
          </a:xfrm>
          <a:prstGeom prst="line">
            <a:avLst/>
          </a:prstGeom>
          <a:ln w="7620">
            <a:solidFill>
              <a:srgbClr val="E2E8F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656539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 i="0">
                <a:solidFill>
                  <a:srgbClr val="9AA2AE"/>
                </a:solidFill>
                <a:latin typeface="Helvetica Neue"/>
                <a:ea typeface="微软雅黑" panose="020B0503020204020204" charset="-122"/>
              </a:rPr>
              <a:t>幻衣 · 产品系统设计 · STAGE 01</a:t>
            </a:r>
            <a:endParaRPr sz="650" b="0" i="0">
              <a:solidFill>
                <a:srgbClr val="9AA2AE"/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365760" y="6528816"/>
            <a:ext cx="8412480" cy="0"/>
          </a:xfrm>
          <a:prstGeom prst="line">
            <a:avLst/>
          </a:prstGeom>
          <a:ln w="6350">
            <a:solidFill>
              <a:srgbClr val="E2E8F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84048" y="8686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利益相关方价值矩阵 · 需求 R1–R10 及价值判断，兼顾商业价值与社会可持续性。</a:t>
            </a:r>
            <a:endParaRPr sz="9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4048" y="1234440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242A33"/>
                </a:solidFill>
                <a:latin typeface="Helvetica Neue"/>
                <a:ea typeface="微软雅黑" panose="020B0503020204020204" charset="-122"/>
              </a:rPr>
              <a:t>利益相关方价值矩阵 · Value Matrix</a:t>
            </a:r>
            <a:endParaRPr sz="950" b="1" i="0">
              <a:solidFill>
                <a:srgbClr val="242A33"/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402336" y="1517904"/>
            <a:ext cx="3712464" cy="0"/>
          </a:xfrm>
          <a:prstGeom prst="line">
            <a:avLst/>
          </a:prstGeom>
          <a:ln w="6350">
            <a:solidFill>
              <a:srgbClr val="E2E8F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 rot="21594852">
            <a:off x="384048" y="1591056"/>
            <a:ext cx="1143000" cy="438912"/>
          </a:xfrm>
          <a:prstGeom prst="roundRect">
            <a:avLst>
              <a:gd name="adj" fmla="val 12000"/>
            </a:avLst>
          </a:prstGeom>
          <a:solidFill>
            <a:srgbClr val="2C4A6E">
              <a:alpha val="10000"/>
            </a:srgbClr>
          </a:solidFill>
          <a:ln w="5080">
            <a:solidFill>
              <a:srgbClr val="2C4A6E"/>
            </a:solidFill>
          </a:ln>
          <a:effectLst>
            <a:softEdge rad="2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 rot="21558485">
            <a:off x="457200" y="1682496"/>
            <a:ext cx="64008" cy="64008"/>
          </a:xfrm>
          <a:prstGeom prst="ellipse">
            <a:avLst/>
          </a:prstGeom>
          <a:solidFill>
            <a:srgbClr val="2C4A6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68249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消费者</a:t>
            </a:r>
            <a:endParaRPr sz="700" b="1" i="0">
              <a:solidFill>
                <a:srgbClr val="2C4A6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 rot="34477">
            <a:off x="1572768" y="1591056"/>
            <a:ext cx="1417320" cy="438912"/>
          </a:xfrm>
          <a:prstGeom prst="roundRect">
            <a:avLst>
              <a:gd name="adj" fmla="val 12000"/>
            </a:avLst>
          </a:prstGeom>
          <a:solidFill>
            <a:srgbClr val="F1F5F9">
              <a:alpha val="100000"/>
            </a:srgbClr>
          </a:solidFill>
          <a:ln>
            <a:noFill/>
          </a:ln>
          <a:effectLst>
            <a:softEdge rad="2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168249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0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自拍图·试穿数据(脱敏)</a:t>
            </a:r>
            <a:endParaRPr sz="60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 rot="59924">
            <a:off x="3035808" y="1591056"/>
            <a:ext cx="1325880" cy="438912"/>
          </a:xfrm>
          <a:prstGeom prst="roundRect">
            <a:avLst>
              <a:gd name="adj" fmla="val 12000"/>
            </a:avLst>
          </a:prstGeom>
          <a:solidFill>
            <a:srgbClr val="F1F5F9">
              <a:alpha val="100000"/>
            </a:srgbClr>
          </a:solidFill>
          <a:ln>
            <a:noFill/>
          </a:ln>
          <a:effectLst>
            <a:softEdge rad="2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08960" y="1682496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0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真实上身效果·尺码推荐</a:t>
            </a:r>
            <a:endParaRPr sz="60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 rot="21543714">
            <a:off x="384048" y="2066543"/>
            <a:ext cx="1143000" cy="438912"/>
          </a:xfrm>
          <a:prstGeom prst="roundRect">
            <a:avLst>
              <a:gd name="adj" fmla="val 12000"/>
            </a:avLst>
          </a:prstGeom>
          <a:solidFill>
            <a:srgbClr val="3A5E8C">
              <a:alpha val="10000"/>
            </a:srgbClr>
          </a:solidFill>
          <a:ln w="5080">
            <a:solidFill>
              <a:srgbClr val="3A5E8C"/>
            </a:solidFill>
          </a:ln>
          <a:effectLst>
            <a:softEdge rad="2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 rot="35139">
            <a:off x="457200" y="2157984"/>
            <a:ext cx="64008" cy="64008"/>
          </a:xfrm>
          <a:prstGeom prst="ellipse">
            <a:avLst/>
          </a:prstGeom>
          <a:solidFill>
            <a:srgbClr val="3A5E8C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215798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3A5E8C"/>
                </a:solidFill>
                <a:latin typeface="Helvetica Neue"/>
                <a:ea typeface="微软雅黑" panose="020B0503020204020204" charset="-122"/>
              </a:rPr>
              <a:t>设计师/企业</a:t>
            </a:r>
            <a:endParaRPr sz="700" b="1" i="0">
              <a:solidFill>
                <a:srgbClr val="3A5E8C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 rot="21567356">
            <a:off x="1572768" y="2066543"/>
            <a:ext cx="1417320" cy="438912"/>
          </a:xfrm>
          <a:prstGeom prst="roundRect">
            <a:avLst>
              <a:gd name="adj" fmla="val 12000"/>
            </a:avLst>
          </a:prstGeom>
          <a:solidFill>
            <a:srgbClr val="F1F5F9">
              <a:alpha val="100000"/>
            </a:srgbClr>
          </a:solidFill>
          <a:ln>
            <a:noFill/>
          </a:ln>
          <a:effectLst>
            <a:softEdge rad="2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45920" y="215798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0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设计稿·商品图</a:t>
            </a:r>
            <a:endParaRPr sz="60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 rot="21566253">
            <a:off x="3035808" y="2066543"/>
            <a:ext cx="1325880" cy="438912"/>
          </a:xfrm>
          <a:prstGeom prst="roundRect">
            <a:avLst>
              <a:gd name="adj" fmla="val 12000"/>
            </a:avLst>
          </a:prstGeom>
          <a:solidFill>
            <a:srgbClr val="F1F5F9">
              <a:alpha val="100000"/>
            </a:srgbClr>
          </a:solidFill>
          <a:ln>
            <a:noFill/>
          </a:ln>
          <a:effectLst>
            <a:softEdge rad="2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8960" y="2157984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0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试穿偏好数据·版型验证</a:t>
            </a:r>
            <a:endParaRPr sz="60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 rot="813">
            <a:off x="384048" y="2542032"/>
            <a:ext cx="1143000" cy="438912"/>
          </a:xfrm>
          <a:prstGeom prst="roundRect">
            <a:avLst>
              <a:gd name="adj" fmla="val 12000"/>
            </a:avLst>
          </a:prstGeom>
          <a:solidFill>
            <a:srgbClr val="4E729E">
              <a:alpha val="10000"/>
            </a:srgbClr>
          </a:solidFill>
          <a:ln w="5080">
            <a:solidFill>
              <a:srgbClr val="4E729E"/>
            </a:solidFill>
          </a:ln>
          <a:effectLst>
            <a:softEdge rad="2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 rot="21539300">
            <a:off x="457200" y="2633472"/>
            <a:ext cx="64008" cy="64008"/>
          </a:xfrm>
          <a:prstGeom prst="ellipse">
            <a:avLst/>
          </a:prstGeom>
          <a:solidFill>
            <a:srgbClr val="4E72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263347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4E729E"/>
                </a:solidFill>
                <a:latin typeface="Helvetica Neue"/>
                <a:ea typeface="微软雅黑" panose="020B0503020204020204" charset="-122"/>
              </a:rPr>
              <a:t>平台/品牌</a:t>
            </a:r>
            <a:endParaRPr sz="700" b="1" i="0">
              <a:solidFill>
                <a:srgbClr val="4E729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 rot="26935">
            <a:off x="1572768" y="2542032"/>
            <a:ext cx="1417320" cy="438912"/>
          </a:xfrm>
          <a:prstGeom prst="roundRect">
            <a:avLst>
              <a:gd name="adj" fmla="val 12000"/>
            </a:avLst>
          </a:prstGeom>
          <a:solidFill>
            <a:srgbClr val="F1F5F9">
              <a:alpha val="100000"/>
            </a:srgbClr>
          </a:solidFill>
          <a:ln>
            <a:noFill/>
          </a:ln>
          <a:effectLst>
            <a:softEdge rad="2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45920" y="26334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0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商品库·流量入口</a:t>
            </a:r>
            <a:endParaRPr sz="60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 rot="48741">
            <a:off x="3035808" y="2542032"/>
            <a:ext cx="1325880" cy="438912"/>
          </a:xfrm>
          <a:prstGeom prst="roundRect">
            <a:avLst>
              <a:gd name="adj" fmla="val 12000"/>
            </a:avLst>
          </a:prstGeom>
          <a:solidFill>
            <a:srgbClr val="F1F5F9">
              <a:alpha val="100000"/>
            </a:srgbClr>
          </a:solidFill>
          <a:ln>
            <a:noFill/>
          </a:ln>
          <a:effectLst>
            <a:softEdge rad="2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0" y="263347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0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退货率降低·转化提升</a:t>
            </a:r>
            <a:endParaRPr sz="60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 rot="21571919">
            <a:off x="384048" y="3017520"/>
            <a:ext cx="1143000" cy="438912"/>
          </a:xfrm>
          <a:prstGeom prst="roundRect">
            <a:avLst>
              <a:gd name="adj" fmla="val 12000"/>
            </a:avLst>
          </a:prstGeom>
          <a:solidFill>
            <a:srgbClr val="2C4A6E">
              <a:alpha val="10000"/>
            </a:srgbClr>
          </a:solidFill>
          <a:ln w="5080">
            <a:solidFill>
              <a:srgbClr val="2C4A6E"/>
            </a:solidFill>
          </a:ln>
          <a:effectLst>
            <a:softEdge rad="2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 rot="58730">
            <a:off x="457200" y="3108960"/>
            <a:ext cx="64008" cy="64008"/>
          </a:xfrm>
          <a:prstGeom prst="ellipse">
            <a:avLst/>
          </a:prstGeom>
          <a:solidFill>
            <a:srgbClr val="2C4A6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31089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技术提供方</a:t>
            </a:r>
            <a:endParaRPr sz="700" b="1" i="0">
              <a:solidFill>
                <a:srgbClr val="2C4A6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 rot="24374">
            <a:off x="1572768" y="3017520"/>
            <a:ext cx="1417320" cy="438912"/>
          </a:xfrm>
          <a:prstGeom prst="roundRect">
            <a:avLst>
              <a:gd name="adj" fmla="val 12000"/>
            </a:avLst>
          </a:prstGeom>
          <a:solidFill>
            <a:srgbClr val="F1F5F9">
              <a:alpha val="100000"/>
            </a:srgbClr>
          </a:solidFill>
          <a:ln>
            <a:noFill/>
          </a:ln>
          <a:effectLst>
            <a:softEdge rad="2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45920" y="310896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0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AI算法·3D渲染·硬件</a:t>
            </a:r>
            <a:endParaRPr sz="60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 rot="21542177">
            <a:off x="3035808" y="3017520"/>
            <a:ext cx="1325880" cy="438912"/>
          </a:xfrm>
          <a:prstGeom prst="roundRect">
            <a:avLst>
              <a:gd name="adj" fmla="val 12000"/>
            </a:avLst>
          </a:prstGeom>
          <a:solidFill>
            <a:srgbClr val="F1F5F9">
              <a:alpha val="100000"/>
            </a:srgbClr>
          </a:solidFill>
          <a:ln>
            <a:noFill/>
          </a:ln>
          <a:effectLst>
            <a:softEdge rad="2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08960" y="310896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0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技术授权·硬件销售</a:t>
            </a:r>
            <a:endParaRPr sz="60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 rot="21560444">
            <a:off x="384048" y="3493008"/>
            <a:ext cx="1143000" cy="438912"/>
          </a:xfrm>
          <a:prstGeom prst="roundRect">
            <a:avLst>
              <a:gd name="adj" fmla="val 12000"/>
            </a:avLst>
          </a:prstGeom>
          <a:solidFill>
            <a:srgbClr val="3A5E8C">
              <a:alpha val="10000"/>
            </a:srgbClr>
          </a:solidFill>
          <a:ln w="5080">
            <a:solidFill>
              <a:srgbClr val="3A5E8C"/>
            </a:solidFill>
          </a:ln>
          <a:effectLst>
            <a:softEdge rad="2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 rot="21583999">
            <a:off x="457200" y="3584448"/>
            <a:ext cx="64008" cy="64008"/>
          </a:xfrm>
          <a:prstGeom prst="ellipse">
            <a:avLst/>
          </a:prstGeom>
          <a:solidFill>
            <a:srgbClr val="3A5E8C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358444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3A5E8C"/>
                </a:solidFill>
                <a:latin typeface="Helvetica Neue"/>
                <a:ea typeface="微软雅黑" panose="020B0503020204020204" charset="-122"/>
              </a:rPr>
              <a:t>政府/监管</a:t>
            </a:r>
            <a:endParaRPr sz="700" b="1" i="0">
              <a:solidFill>
                <a:srgbClr val="3A5E8C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 rot="19157">
            <a:off x="1572768" y="3493008"/>
            <a:ext cx="1417320" cy="438912"/>
          </a:xfrm>
          <a:prstGeom prst="roundRect">
            <a:avLst>
              <a:gd name="adj" fmla="val 12000"/>
            </a:avLst>
          </a:prstGeom>
          <a:solidFill>
            <a:srgbClr val="F1F5F9">
              <a:alpha val="100000"/>
            </a:srgbClr>
          </a:solidFill>
          <a:ln>
            <a:noFill/>
          </a:ln>
          <a:effectLst>
            <a:softEdge rad="2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645920" y="358444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0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政策支持·合规指导</a:t>
            </a:r>
            <a:endParaRPr sz="60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 rot="52908">
            <a:off x="3035808" y="3493008"/>
            <a:ext cx="1325880" cy="438912"/>
          </a:xfrm>
          <a:prstGeom prst="roundRect">
            <a:avLst>
              <a:gd name="adj" fmla="val 12000"/>
            </a:avLst>
          </a:prstGeom>
          <a:solidFill>
            <a:srgbClr val="F1F5F9">
              <a:alpha val="100000"/>
            </a:srgbClr>
          </a:solidFill>
          <a:ln>
            <a:noFill/>
          </a:ln>
          <a:effectLst>
            <a:softEdge rad="2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08960" y="3584448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0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行业可持续·减少浪费</a:t>
            </a:r>
            <a:endParaRPr sz="60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7" name="Rounded Rectangle 46"/>
          <p:cNvSpPr/>
          <p:nvPr/>
        </p:nvSpPr>
        <p:spPr>
          <a:xfrm rot="21566853">
            <a:off x="384048" y="3968496"/>
            <a:ext cx="1143000" cy="438912"/>
          </a:xfrm>
          <a:prstGeom prst="roundRect">
            <a:avLst>
              <a:gd name="adj" fmla="val 12000"/>
            </a:avLst>
          </a:prstGeom>
          <a:solidFill>
            <a:srgbClr val="4E729E">
              <a:alpha val="10000"/>
            </a:srgbClr>
          </a:solidFill>
          <a:ln w="5080">
            <a:solidFill>
              <a:srgbClr val="4E729E"/>
            </a:solidFill>
          </a:ln>
          <a:effectLst>
            <a:softEdge rad="2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 rot="24205">
            <a:off x="457200" y="4059935"/>
            <a:ext cx="64008" cy="64008"/>
          </a:xfrm>
          <a:prstGeom prst="ellipse">
            <a:avLst/>
          </a:prstGeom>
          <a:solidFill>
            <a:srgbClr val="4E72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6928" y="405993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4E729E"/>
                </a:solidFill>
                <a:latin typeface="Helvetica Neue"/>
                <a:ea typeface="微软雅黑" panose="020B0503020204020204" charset="-122"/>
              </a:rPr>
              <a:t>环保组织</a:t>
            </a:r>
            <a:endParaRPr sz="700" b="1" i="0">
              <a:solidFill>
                <a:srgbClr val="4E729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 rot="21546028">
            <a:off x="1572768" y="3968496"/>
            <a:ext cx="1417320" cy="438912"/>
          </a:xfrm>
          <a:prstGeom prst="roundRect">
            <a:avLst>
              <a:gd name="adj" fmla="val 12000"/>
            </a:avLst>
          </a:prstGeom>
          <a:solidFill>
            <a:srgbClr val="F1F5F9">
              <a:alpha val="100000"/>
            </a:srgbClr>
          </a:solidFill>
          <a:ln>
            <a:noFill/>
          </a:ln>
          <a:effectLst>
            <a:softEdge rad="2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645920" y="4059935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0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倡导减面料浪费·碳减排</a:t>
            </a:r>
            <a:endParaRPr sz="60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52" name="Rounded Rectangle 51"/>
          <p:cNvSpPr/>
          <p:nvPr/>
        </p:nvSpPr>
        <p:spPr>
          <a:xfrm rot="21590312">
            <a:off x="3035808" y="3968496"/>
            <a:ext cx="1325880" cy="438912"/>
          </a:xfrm>
          <a:prstGeom prst="roundRect">
            <a:avLst>
              <a:gd name="adj" fmla="val 12000"/>
            </a:avLst>
          </a:prstGeom>
          <a:solidFill>
            <a:srgbClr val="F1F5F9">
              <a:alpha val="100000"/>
            </a:srgbClr>
          </a:solidFill>
          <a:ln>
            <a:noFill/>
          </a:ln>
          <a:effectLst>
            <a:softEdge rad="2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108960" y="4059935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0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减少碳排放·可持续时尚</a:t>
            </a:r>
            <a:endParaRPr sz="60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 rot="21558812">
            <a:off x="384048" y="4526280"/>
            <a:ext cx="3977639" cy="384048"/>
          </a:xfrm>
          <a:prstGeom prst="roundRect">
            <a:avLst>
              <a:gd name="adj" fmla="val 15000"/>
            </a:avLst>
          </a:prstGeom>
          <a:solidFill>
            <a:srgbClr val="E4ECF4">
              <a:alpha val="100000"/>
            </a:srgbClr>
          </a:solidFill>
          <a:ln w="5080">
            <a:solidFill>
              <a:srgbClr val="2C4A6E"/>
            </a:solidFill>
          </a:ln>
          <a:effectLst>
            <a:softEdge rad="2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920" y="4572000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650" b="1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数据驱动设计优化 → 精准推荐 → 降本增效 → 可持续消费</a:t>
            </a:r>
            <a:endParaRPr sz="650" b="1" i="0">
              <a:solidFill>
                <a:srgbClr val="2C4A6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572000" y="1234440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242A33"/>
                </a:solidFill>
                <a:latin typeface="Helvetica Neue"/>
                <a:ea typeface="微软雅黑" panose="020B0503020204020204" charset="-122"/>
              </a:rPr>
              <a:t>需求总结 · Requirements R1–R10</a:t>
            </a:r>
            <a:endParaRPr sz="950" b="1" i="0">
              <a:solidFill>
                <a:srgbClr val="242A33"/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57" name="Connector 56"/>
          <p:cNvCxnSpPr/>
          <p:nvPr/>
        </p:nvCxnSpPr>
        <p:spPr>
          <a:xfrm>
            <a:off x="4590288" y="1517904"/>
            <a:ext cx="4187952" cy="0"/>
          </a:xfrm>
          <a:prstGeom prst="line">
            <a:avLst/>
          </a:prstGeom>
          <a:ln w="6350">
            <a:solidFill>
              <a:srgbClr val="E2E8F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 rot="21529520">
            <a:off x="4572000" y="1591056"/>
            <a:ext cx="2011680" cy="320040"/>
          </a:xfrm>
          <a:prstGeom prst="roundRect">
            <a:avLst>
              <a:gd name="adj" fmla="val 15000"/>
            </a:avLst>
          </a:prstGeom>
          <a:solidFill>
            <a:srgbClr val="F1F5F9">
              <a:alpha val="100000"/>
            </a:srgbClr>
          </a:solidFill>
          <a:ln w="5080">
            <a:solidFill>
              <a:srgbClr val="2C4A6E"/>
            </a:solidFill>
          </a:ln>
          <a:effectLst>
            <a:softEdge rad="2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 rot="21590555">
            <a:off x="4663440" y="1664208"/>
            <a:ext cx="64008" cy="64008"/>
          </a:xfrm>
          <a:prstGeom prst="ellipse">
            <a:avLst/>
          </a:prstGeom>
          <a:solidFill>
            <a:srgbClr val="2C4A6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73168" y="1655064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R1</a:t>
            </a:r>
            <a:endParaRPr sz="700" b="1" i="0">
              <a:solidFill>
                <a:srgbClr val="2C4A6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138928" y="1609344"/>
            <a:ext cx="914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1" i="0">
                <a:solidFill>
                  <a:srgbClr val="242A33"/>
                </a:solidFill>
                <a:latin typeface="Helvetica Neue"/>
                <a:ea typeface="微软雅黑" panose="020B0503020204020204" charset="-122"/>
              </a:rPr>
              <a:t>真实上身效果</a:t>
            </a:r>
            <a:endParaRPr sz="650" b="1" i="0">
              <a:solidFill>
                <a:srgbClr val="242A33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138928" y="1755648"/>
            <a:ext cx="13716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50" b="0" i="0">
                <a:solidFill>
                  <a:srgbClr val="6A7482"/>
                </a:solidFill>
                <a:latin typeface="Helvetica Neue"/>
                <a:ea typeface="微软雅黑" panose="020B0503020204020204" charset="-122"/>
              </a:rPr>
              <a:t>上传自拍生成真人级上身</a:t>
            </a:r>
            <a:endParaRPr sz="550" b="0" i="0">
              <a:solidFill>
                <a:srgbClr val="6A748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63" name="Rounded Rectangle 62"/>
          <p:cNvSpPr/>
          <p:nvPr/>
        </p:nvSpPr>
        <p:spPr>
          <a:xfrm rot="21554489">
            <a:off x="6675120" y="1591056"/>
            <a:ext cx="2011680" cy="320040"/>
          </a:xfrm>
          <a:prstGeom prst="roundRect">
            <a:avLst>
              <a:gd name="adj" fmla="val 15000"/>
            </a:avLst>
          </a:prstGeom>
          <a:solidFill>
            <a:srgbClr val="F1F5F9">
              <a:alpha val="100000"/>
            </a:srgbClr>
          </a:solidFill>
          <a:ln w="5080">
            <a:solidFill>
              <a:srgbClr val="3A5E8C"/>
            </a:solidFill>
          </a:ln>
          <a:effectLst>
            <a:softEdge rad="2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 rot="14105">
            <a:off x="6766559" y="1664208"/>
            <a:ext cx="64008" cy="64008"/>
          </a:xfrm>
          <a:prstGeom prst="ellipse">
            <a:avLst/>
          </a:prstGeom>
          <a:solidFill>
            <a:srgbClr val="3A5E8C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76288" y="1655064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3A5E8C"/>
                </a:solidFill>
                <a:latin typeface="Helvetica Neue"/>
                <a:ea typeface="微软雅黑" panose="020B0503020204020204" charset="-122"/>
              </a:rPr>
              <a:t>R2</a:t>
            </a:r>
            <a:endParaRPr sz="700" b="1" i="0">
              <a:solidFill>
                <a:srgbClr val="3A5E8C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7242048" y="1609344"/>
            <a:ext cx="914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1" i="0">
                <a:solidFill>
                  <a:srgbClr val="242A33"/>
                </a:solidFill>
                <a:latin typeface="Helvetica Neue"/>
                <a:ea typeface="微软雅黑" panose="020B0503020204020204" charset="-122"/>
              </a:rPr>
              <a:t>尺码智能推荐</a:t>
            </a:r>
            <a:endParaRPr sz="650" b="1" i="0">
              <a:solidFill>
                <a:srgbClr val="242A33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7242048" y="1755648"/>
            <a:ext cx="13716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50" b="0" i="0">
                <a:solidFill>
                  <a:srgbClr val="6A7482"/>
                </a:solidFill>
                <a:latin typeface="Helvetica Neue"/>
                <a:ea typeface="微软雅黑" panose="020B0503020204020204" charset="-122"/>
              </a:rPr>
              <a:t>身材数据预测尺码</a:t>
            </a:r>
            <a:endParaRPr sz="550" b="0" i="0">
              <a:solidFill>
                <a:srgbClr val="6A748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68" name="Rounded Rectangle 67"/>
          <p:cNvSpPr/>
          <p:nvPr/>
        </p:nvSpPr>
        <p:spPr>
          <a:xfrm rot="67194">
            <a:off x="4572000" y="1956816"/>
            <a:ext cx="2011680" cy="320040"/>
          </a:xfrm>
          <a:prstGeom prst="roundRect">
            <a:avLst>
              <a:gd name="adj" fmla="val 15000"/>
            </a:avLst>
          </a:prstGeom>
          <a:solidFill>
            <a:srgbClr val="F1F5F9">
              <a:alpha val="100000"/>
            </a:srgbClr>
          </a:solidFill>
          <a:ln w="5080">
            <a:solidFill>
              <a:srgbClr val="4E729E"/>
            </a:solidFill>
          </a:ln>
          <a:effectLst>
            <a:softEdge rad="2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 rot="21581423">
            <a:off x="4663440" y="2029968"/>
            <a:ext cx="64008" cy="64008"/>
          </a:xfrm>
          <a:prstGeom prst="ellipse">
            <a:avLst/>
          </a:prstGeom>
          <a:solidFill>
            <a:srgbClr val="4E72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773168" y="2020824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4E729E"/>
                </a:solidFill>
                <a:latin typeface="Helvetica Neue"/>
                <a:ea typeface="微软雅黑" panose="020B0503020204020204" charset="-122"/>
              </a:rPr>
              <a:t>R3</a:t>
            </a:r>
            <a:endParaRPr sz="700" b="1" i="0">
              <a:solidFill>
                <a:srgbClr val="4E729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5138928" y="1975104"/>
            <a:ext cx="914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1" i="0">
                <a:solidFill>
                  <a:srgbClr val="242A33"/>
                </a:solidFill>
                <a:latin typeface="Helvetica Neue"/>
                <a:ea typeface="微软雅黑" panose="020B0503020204020204" charset="-122"/>
              </a:rPr>
              <a:t>多件快速对比</a:t>
            </a:r>
            <a:endParaRPr sz="650" b="1" i="0">
              <a:solidFill>
                <a:srgbClr val="242A33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5138928" y="2121408"/>
            <a:ext cx="13716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50" b="0" i="0">
                <a:solidFill>
                  <a:srgbClr val="6A7482"/>
                </a:solidFill>
                <a:latin typeface="Helvetica Neue"/>
                <a:ea typeface="微软雅黑" panose="020B0503020204020204" charset="-122"/>
              </a:rPr>
              <a:t>一键切换同屏比对</a:t>
            </a:r>
            <a:endParaRPr sz="550" b="0" i="0">
              <a:solidFill>
                <a:srgbClr val="6A748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73" name="Rounded Rectangle 72"/>
          <p:cNvSpPr/>
          <p:nvPr/>
        </p:nvSpPr>
        <p:spPr>
          <a:xfrm rot="21575371">
            <a:off x="6675120" y="1956816"/>
            <a:ext cx="2011680" cy="320040"/>
          </a:xfrm>
          <a:prstGeom prst="roundRect">
            <a:avLst>
              <a:gd name="adj" fmla="val 15000"/>
            </a:avLst>
          </a:prstGeom>
          <a:solidFill>
            <a:srgbClr val="F1F5F9">
              <a:alpha val="100000"/>
            </a:srgbClr>
          </a:solidFill>
          <a:ln w="5080">
            <a:solidFill>
              <a:srgbClr val="2C4A6E"/>
            </a:solidFill>
          </a:ln>
          <a:effectLst>
            <a:softEdge rad="2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 rot="21591219">
            <a:off x="6766559" y="2029968"/>
            <a:ext cx="64008" cy="64008"/>
          </a:xfrm>
          <a:prstGeom prst="ellipse">
            <a:avLst/>
          </a:prstGeom>
          <a:solidFill>
            <a:srgbClr val="2C4A6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876288" y="2020824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R4</a:t>
            </a:r>
            <a:endParaRPr sz="700" b="1" i="0">
              <a:solidFill>
                <a:srgbClr val="2C4A6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7242048" y="1975104"/>
            <a:ext cx="914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1" i="0">
                <a:solidFill>
                  <a:srgbClr val="242A33"/>
                </a:solidFill>
                <a:latin typeface="Helvetica Neue"/>
                <a:ea typeface="微软雅黑" panose="020B0503020204020204" charset="-122"/>
              </a:rPr>
              <a:t>面料垂感展示</a:t>
            </a:r>
            <a:endParaRPr sz="650" b="1" i="0">
              <a:solidFill>
                <a:srgbClr val="242A33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7242048" y="2121408"/>
            <a:ext cx="13716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50" b="0" i="0">
                <a:solidFill>
                  <a:srgbClr val="6A7482"/>
                </a:solidFill>
                <a:latin typeface="Helvetica Neue"/>
                <a:ea typeface="微软雅黑" panose="020B0503020204020204" charset="-122"/>
              </a:rPr>
              <a:t>厚薄垂感真实还原</a:t>
            </a:r>
            <a:endParaRPr sz="550" b="0" i="0">
              <a:solidFill>
                <a:srgbClr val="6A748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78" name="Rounded Rectangle 77"/>
          <p:cNvSpPr/>
          <p:nvPr/>
        </p:nvSpPr>
        <p:spPr>
          <a:xfrm rot="65059">
            <a:off x="4572000" y="2322576"/>
            <a:ext cx="2011680" cy="320040"/>
          </a:xfrm>
          <a:prstGeom prst="roundRect">
            <a:avLst>
              <a:gd name="adj" fmla="val 15000"/>
            </a:avLst>
          </a:prstGeom>
          <a:solidFill>
            <a:srgbClr val="F1F5F9">
              <a:alpha val="100000"/>
            </a:srgbClr>
          </a:solidFill>
          <a:ln w="5080">
            <a:solidFill>
              <a:srgbClr val="3A5E8C"/>
            </a:solidFill>
          </a:ln>
          <a:effectLst>
            <a:softEdge rad="2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 rot="21552185">
            <a:off x="4663440" y="2395728"/>
            <a:ext cx="64008" cy="64008"/>
          </a:xfrm>
          <a:prstGeom prst="ellipse">
            <a:avLst/>
          </a:prstGeom>
          <a:solidFill>
            <a:srgbClr val="3A5E8C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773168" y="2386584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3A5E8C"/>
                </a:solidFill>
                <a:latin typeface="Helvetica Neue"/>
                <a:ea typeface="微软雅黑" panose="020B0503020204020204" charset="-122"/>
              </a:rPr>
              <a:t>R5</a:t>
            </a:r>
            <a:endParaRPr sz="700" b="1" i="0">
              <a:solidFill>
                <a:srgbClr val="3A5E8C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5138928" y="2340864"/>
            <a:ext cx="914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1" i="0">
                <a:solidFill>
                  <a:srgbClr val="242A33"/>
                </a:solidFill>
                <a:latin typeface="Helvetica Neue"/>
                <a:ea typeface="微软雅黑" panose="020B0503020204020204" charset="-122"/>
              </a:rPr>
              <a:t>不换衣试穿</a:t>
            </a:r>
            <a:endParaRPr sz="650" b="1" i="0">
              <a:solidFill>
                <a:srgbClr val="242A33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5138928" y="2487168"/>
            <a:ext cx="13716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50" b="0" i="0">
                <a:solidFill>
                  <a:srgbClr val="6A7482"/>
                </a:solidFill>
                <a:latin typeface="Helvetica Neue"/>
                <a:ea typeface="微软雅黑" panose="020B0503020204020204" charset="-122"/>
              </a:rPr>
              <a:t>无需进试衣间预览</a:t>
            </a:r>
            <a:endParaRPr sz="550" b="0" i="0">
              <a:solidFill>
                <a:srgbClr val="6A748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83" name="Rounded Rectangle 82"/>
          <p:cNvSpPr/>
          <p:nvPr/>
        </p:nvSpPr>
        <p:spPr>
          <a:xfrm rot="21551580">
            <a:off x="6675120" y="2322576"/>
            <a:ext cx="2011680" cy="320040"/>
          </a:xfrm>
          <a:prstGeom prst="roundRect">
            <a:avLst>
              <a:gd name="adj" fmla="val 15000"/>
            </a:avLst>
          </a:prstGeom>
          <a:solidFill>
            <a:srgbClr val="F1F5F9">
              <a:alpha val="100000"/>
            </a:srgbClr>
          </a:solidFill>
          <a:ln w="5080">
            <a:solidFill>
              <a:srgbClr val="4E729E"/>
            </a:solidFill>
          </a:ln>
          <a:effectLst>
            <a:softEdge rad="2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 rot="23541">
            <a:off x="6766559" y="2395728"/>
            <a:ext cx="64008" cy="64008"/>
          </a:xfrm>
          <a:prstGeom prst="ellipse">
            <a:avLst/>
          </a:prstGeom>
          <a:solidFill>
            <a:srgbClr val="4E72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876288" y="2386584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4E729E"/>
                </a:solidFill>
                <a:latin typeface="Helvetica Neue"/>
                <a:ea typeface="微软雅黑" panose="020B0503020204020204" charset="-122"/>
              </a:rPr>
              <a:t>R6</a:t>
            </a:r>
            <a:endParaRPr sz="700" b="1" i="0">
              <a:solidFill>
                <a:srgbClr val="4E729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7242048" y="2340864"/>
            <a:ext cx="914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1" i="0">
                <a:solidFill>
                  <a:srgbClr val="242A33"/>
                </a:solidFill>
                <a:latin typeface="Helvetica Neue"/>
                <a:ea typeface="微软雅黑" panose="020B0503020204020204" charset="-122"/>
              </a:rPr>
              <a:t>虚拟版型验证</a:t>
            </a:r>
            <a:endParaRPr sz="650" b="1" i="0">
              <a:solidFill>
                <a:srgbClr val="242A33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7242048" y="2487168"/>
            <a:ext cx="13716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50" b="0" i="0">
                <a:solidFill>
                  <a:srgbClr val="6A7482"/>
                </a:solidFill>
                <a:latin typeface="Helvetica Neue"/>
                <a:ea typeface="微软雅黑" panose="020B0503020204020204" charset="-122"/>
              </a:rPr>
              <a:t>上传稿30秒出效果</a:t>
            </a:r>
            <a:endParaRPr sz="550" b="0" i="0">
              <a:solidFill>
                <a:srgbClr val="6A748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88" name="Rounded Rectangle 87"/>
          <p:cNvSpPr/>
          <p:nvPr/>
        </p:nvSpPr>
        <p:spPr>
          <a:xfrm rot="45814">
            <a:off x="4572000" y="2688336"/>
            <a:ext cx="2011680" cy="320040"/>
          </a:xfrm>
          <a:prstGeom prst="roundRect">
            <a:avLst>
              <a:gd name="adj" fmla="val 15000"/>
            </a:avLst>
          </a:prstGeom>
          <a:solidFill>
            <a:srgbClr val="F1F5F9">
              <a:alpha val="100000"/>
            </a:srgbClr>
          </a:solidFill>
          <a:ln w="5080">
            <a:solidFill>
              <a:srgbClr val="2C4A6E"/>
            </a:solidFill>
          </a:ln>
          <a:effectLst>
            <a:softEdge rad="2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 rot="21594728">
            <a:off x="4663440" y="2761488"/>
            <a:ext cx="64008" cy="64008"/>
          </a:xfrm>
          <a:prstGeom prst="ellipse">
            <a:avLst/>
          </a:prstGeom>
          <a:solidFill>
            <a:srgbClr val="2C4A6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773168" y="2752344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R7</a:t>
            </a:r>
            <a:endParaRPr sz="700" b="1" i="0">
              <a:solidFill>
                <a:srgbClr val="2C4A6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5138928" y="2706624"/>
            <a:ext cx="914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1" i="0">
                <a:solidFill>
                  <a:srgbClr val="242A33"/>
                </a:solidFill>
                <a:latin typeface="Helvetica Neue"/>
                <a:ea typeface="微软雅黑" panose="020B0503020204020204" charset="-122"/>
              </a:rPr>
              <a:t>试穿数据回流</a:t>
            </a:r>
            <a:endParaRPr sz="650" b="1" i="0">
              <a:solidFill>
                <a:srgbClr val="242A33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5138928" y="2852928"/>
            <a:ext cx="13716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50" b="0" i="0">
                <a:solidFill>
                  <a:srgbClr val="6A7482"/>
                </a:solidFill>
                <a:latin typeface="Helvetica Neue"/>
                <a:ea typeface="微软雅黑" panose="020B0503020204020204" charset="-122"/>
              </a:rPr>
              <a:t>脱敏数据回流设计端</a:t>
            </a:r>
            <a:endParaRPr sz="550" b="0" i="0">
              <a:solidFill>
                <a:srgbClr val="6A748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93" name="Rounded Rectangle 92"/>
          <p:cNvSpPr/>
          <p:nvPr/>
        </p:nvSpPr>
        <p:spPr>
          <a:xfrm rot="21543225">
            <a:off x="6675120" y="2688336"/>
            <a:ext cx="2011680" cy="320040"/>
          </a:xfrm>
          <a:prstGeom prst="roundRect">
            <a:avLst>
              <a:gd name="adj" fmla="val 15000"/>
            </a:avLst>
          </a:prstGeom>
          <a:solidFill>
            <a:srgbClr val="F1F5F9">
              <a:alpha val="100000"/>
            </a:srgbClr>
          </a:solidFill>
          <a:ln w="5080">
            <a:solidFill>
              <a:srgbClr val="3A5E8C"/>
            </a:solidFill>
          </a:ln>
          <a:effectLst>
            <a:softEdge rad="2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 rot="21589048">
            <a:off x="6766559" y="2761488"/>
            <a:ext cx="64008" cy="64008"/>
          </a:xfrm>
          <a:prstGeom prst="ellipse">
            <a:avLst/>
          </a:prstGeom>
          <a:solidFill>
            <a:srgbClr val="3A5E8C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876288" y="2752344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3A5E8C"/>
                </a:solidFill>
                <a:latin typeface="Helvetica Neue"/>
                <a:ea typeface="微软雅黑" panose="020B0503020204020204" charset="-122"/>
              </a:rPr>
              <a:t>R8</a:t>
            </a:r>
            <a:endParaRPr sz="700" b="1" i="0">
              <a:solidFill>
                <a:srgbClr val="3A5E8C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7242048" y="2706624"/>
            <a:ext cx="914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1" i="0">
                <a:solidFill>
                  <a:srgbClr val="242A33"/>
                </a:solidFill>
                <a:latin typeface="Helvetica Neue"/>
                <a:ea typeface="微软雅黑" panose="020B0503020204020204" charset="-122"/>
              </a:rPr>
              <a:t>快速迭代</a:t>
            </a:r>
            <a:endParaRPr sz="650" b="1" i="0">
              <a:solidFill>
                <a:srgbClr val="242A33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7242048" y="2852928"/>
            <a:ext cx="13716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50" b="0" i="0">
                <a:solidFill>
                  <a:srgbClr val="6A7482"/>
                </a:solidFill>
                <a:latin typeface="Helvetica Neue"/>
                <a:ea typeface="微软雅黑" panose="020B0503020204020204" charset="-122"/>
              </a:rPr>
              <a:t>即时渲染支持优化</a:t>
            </a:r>
            <a:endParaRPr sz="550" b="0" i="0">
              <a:solidFill>
                <a:srgbClr val="6A748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98" name="Rounded Rectangle 97"/>
          <p:cNvSpPr/>
          <p:nvPr/>
        </p:nvSpPr>
        <p:spPr>
          <a:xfrm rot="51933">
            <a:off x="4572000" y="3054096"/>
            <a:ext cx="2011680" cy="320040"/>
          </a:xfrm>
          <a:prstGeom prst="roundRect">
            <a:avLst>
              <a:gd name="adj" fmla="val 15000"/>
            </a:avLst>
          </a:prstGeom>
          <a:solidFill>
            <a:srgbClr val="F1F5F9">
              <a:alpha val="100000"/>
            </a:srgbClr>
          </a:solidFill>
          <a:ln w="5080">
            <a:solidFill>
              <a:srgbClr val="4E729E"/>
            </a:solidFill>
          </a:ln>
          <a:effectLst>
            <a:softEdge rad="2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 rot="21581507">
            <a:off x="4663440" y="3127248"/>
            <a:ext cx="64008" cy="64008"/>
          </a:xfrm>
          <a:prstGeom prst="ellipse">
            <a:avLst/>
          </a:prstGeom>
          <a:solidFill>
            <a:srgbClr val="4E72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773168" y="3118103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4E729E"/>
                </a:solidFill>
                <a:latin typeface="Helvetica Neue"/>
                <a:ea typeface="微软雅黑" panose="020B0503020204020204" charset="-122"/>
              </a:rPr>
              <a:t>R9</a:t>
            </a:r>
            <a:endParaRPr sz="700" b="1" i="0">
              <a:solidFill>
                <a:srgbClr val="4E729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5138928" y="3072384"/>
            <a:ext cx="914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1" i="0">
                <a:solidFill>
                  <a:srgbClr val="242A33"/>
                </a:solidFill>
                <a:latin typeface="Helvetica Neue"/>
                <a:ea typeface="微软雅黑" panose="020B0503020204020204" charset="-122"/>
              </a:rPr>
              <a:t>数据闭环</a:t>
            </a:r>
            <a:endParaRPr sz="650" b="1" i="0">
              <a:solidFill>
                <a:srgbClr val="242A33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5138928" y="3218688"/>
            <a:ext cx="13716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50" b="0" i="0">
                <a:solidFill>
                  <a:srgbClr val="6A7482"/>
                </a:solidFill>
                <a:latin typeface="Helvetica Neue"/>
                <a:ea typeface="微软雅黑" panose="020B0503020204020204" charset="-122"/>
              </a:rPr>
              <a:t>C→B数据驱动按需生产</a:t>
            </a:r>
            <a:endParaRPr sz="550" b="0" i="0">
              <a:solidFill>
                <a:srgbClr val="6A748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03" name="Rounded Rectangle 102"/>
          <p:cNvSpPr/>
          <p:nvPr/>
        </p:nvSpPr>
        <p:spPr>
          <a:xfrm rot="26210">
            <a:off x="6675120" y="3054096"/>
            <a:ext cx="2011680" cy="320040"/>
          </a:xfrm>
          <a:prstGeom prst="roundRect">
            <a:avLst>
              <a:gd name="adj" fmla="val 15000"/>
            </a:avLst>
          </a:prstGeom>
          <a:solidFill>
            <a:srgbClr val="F1F5F9">
              <a:alpha val="100000"/>
            </a:srgbClr>
          </a:solidFill>
          <a:ln w="5080">
            <a:solidFill>
              <a:srgbClr val="2C4A6E"/>
            </a:solidFill>
          </a:ln>
          <a:effectLst>
            <a:softEdge rad="2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 rot="21567996">
            <a:off x="6766559" y="3127248"/>
            <a:ext cx="64008" cy="64008"/>
          </a:xfrm>
          <a:prstGeom prst="ellipse">
            <a:avLst/>
          </a:prstGeom>
          <a:solidFill>
            <a:srgbClr val="2C4A6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876288" y="3118103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R10</a:t>
            </a:r>
            <a:endParaRPr sz="700" b="1" i="0">
              <a:solidFill>
                <a:srgbClr val="2C4A6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7242048" y="3072384"/>
            <a:ext cx="914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1" i="0">
                <a:solidFill>
                  <a:srgbClr val="242A33"/>
                </a:solidFill>
                <a:latin typeface="Helvetica Neue"/>
                <a:ea typeface="微软雅黑" panose="020B0503020204020204" charset="-122"/>
              </a:rPr>
              <a:t>低成本落地</a:t>
            </a:r>
            <a:endParaRPr sz="650" b="1" i="0">
              <a:solidFill>
                <a:srgbClr val="242A33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7242048" y="3218688"/>
            <a:ext cx="13716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50" b="0" i="0">
                <a:solidFill>
                  <a:srgbClr val="6A7482"/>
                </a:solidFill>
                <a:latin typeface="Helvetica Neue"/>
                <a:ea typeface="微软雅黑" panose="020B0503020204020204" charset="-122"/>
              </a:rPr>
              <a:t>千元级硬件多场景部署</a:t>
            </a:r>
            <a:endParaRPr sz="550" b="0" i="0">
              <a:solidFill>
                <a:srgbClr val="6A748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08" name="Rounded Rectangle 107"/>
          <p:cNvSpPr/>
          <p:nvPr/>
        </p:nvSpPr>
        <p:spPr>
          <a:xfrm rot="24005">
            <a:off x="4572000" y="3931920"/>
            <a:ext cx="4206240" cy="1828800"/>
          </a:xfrm>
          <a:prstGeom prst="roundRect">
            <a:avLst>
              <a:gd name="adj" fmla="val 10000"/>
            </a:avLst>
          </a:prstGeom>
          <a:solidFill>
            <a:srgbClr val="E8EEF6">
              <a:alpha val="100000"/>
            </a:srgbClr>
          </a:solidFill>
          <a:ln w="6350">
            <a:solidFill>
              <a:srgbClr val="3A5E8C"/>
            </a:solidFill>
          </a:ln>
          <a:effectLst>
            <a:softEdge rad="3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709160" y="3986784"/>
            <a:ext cx="3931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3A5E8C"/>
                </a:solidFill>
                <a:latin typeface="Helvetica Neue"/>
                <a:ea typeface="微软雅黑" panose="020B0503020204020204" charset="-122"/>
              </a:rPr>
              <a:t>价值判断 · Value Judgment</a:t>
            </a:r>
            <a:endParaRPr sz="900" b="1" i="0">
              <a:solidFill>
                <a:srgbClr val="3A5E8C"/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110" name="Connector 109"/>
          <p:cNvCxnSpPr/>
          <p:nvPr/>
        </p:nvCxnSpPr>
        <p:spPr>
          <a:xfrm>
            <a:off x="4709160" y="4224528"/>
            <a:ext cx="3931920" cy="0"/>
          </a:xfrm>
          <a:prstGeom prst="line">
            <a:avLst/>
          </a:prstGeom>
          <a:ln w="6350">
            <a:solidFill>
              <a:srgbClr val="E2E8F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Oval 110"/>
          <p:cNvSpPr/>
          <p:nvPr/>
        </p:nvSpPr>
        <p:spPr>
          <a:xfrm rot="5269">
            <a:off x="4709160" y="4334256"/>
            <a:ext cx="64008" cy="64008"/>
          </a:xfrm>
          <a:prstGeom prst="ellipse">
            <a:avLst/>
          </a:prstGeom>
          <a:solidFill>
            <a:srgbClr val="2C4A6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846320" y="4297680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消费者价值</a:t>
            </a:r>
            <a:endParaRPr sz="750" b="1" i="0">
              <a:solidFill>
                <a:srgbClr val="2C4A6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5943600" y="431596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决策有依据·降退货·省时间·真实感</a:t>
            </a:r>
            <a:endParaRPr sz="6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14" name="Oval 113"/>
          <p:cNvSpPr/>
          <p:nvPr/>
        </p:nvSpPr>
        <p:spPr>
          <a:xfrm rot="34346">
            <a:off x="4709160" y="4681728"/>
            <a:ext cx="64008" cy="64008"/>
          </a:xfrm>
          <a:prstGeom prst="ellipse">
            <a:avLst/>
          </a:prstGeom>
          <a:solidFill>
            <a:srgbClr val="4E72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846320" y="4645152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4E729E"/>
                </a:solidFill>
                <a:latin typeface="Helvetica Neue"/>
                <a:ea typeface="微软雅黑" panose="020B0503020204020204" charset="-122"/>
              </a:rPr>
              <a:t>设计师价值</a:t>
            </a:r>
            <a:endParaRPr sz="750" b="1" i="0">
              <a:solidFill>
                <a:srgbClr val="4E729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5943600" y="466344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省打样·快速验证·数据驱动·降库存</a:t>
            </a:r>
            <a:endParaRPr sz="6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17" name="Oval 116"/>
          <p:cNvSpPr/>
          <p:nvPr/>
        </p:nvSpPr>
        <p:spPr>
          <a:xfrm rot="21546435">
            <a:off x="4709160" y="5029200"/>
            <a:ext cx="64008" cy="64008"/>
          </a:xfrm>
          <a:prstGeom prst="ellipse">
            <a:avLst/>
          </a:prstGeom>
          <a:solidFill>
            <a:srgbClr val="3A5E8C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846320" y="4992624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A5E8C"/>
                </a:solidFill>
                <a:latin typeface="Helvetica Neue"/>
                <a:ea typeface="微软雅黑" panose="020B0503020204020204" charset="-122"/>
              </a:rPr>
              <a:t>平台价值</a:t>
            </a:r>
            <a:endParaRPr sz="750" b="1" i="0">
              <a:solidFill>
                <a:srgbClr val="3A5E8C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5943600" y="501091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获客·转化率·黏性·数据资产</a:t>
            </a:r>
            <a:endParaRPr sz="6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20" name="Oval 119"/>
          <p:cNvSpPr/>
          <p:nvPr/>
        </p:nvSpPr>
        <p:spPr>
          <a:xfrm rot="21556210">
            <a:off x="4709160" y="5376672"/>
            <a:ext cx="64008" cy="64008"/>
          </a:xfrm>
          <a:prstGeom prst="ellipse">
            <a:avLst/>
          </a:prstGeom>
          <a:solidFill>
            <a:srgbClr val="6A92B8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846320" y="5340096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6A92B8"/>
                </a:solidFill>
                <a:latin typeface="Helvetica Neue"/>
                <a:ea typeface="微软雅黑" panose="020B0503020204020204" charset="-122"/>
              </a:rPr>
              <a:t>社会价值</a:t>
            </a:r>
            <a:endParaRPr sz="750" b="1" i="0">
              <a:solidFill>
                <a:srgbClr val="6A92B8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5943600" y="5358383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减面料浪费·降碳排放·可持续时尚</a:t>
            </a:r>
            <a:endParaRPr sz="6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24" name="Oval 123"/>
          <p:cNvSpPr/>
          <p:nvPr/>
        </p:nvSpPr>
        <p:spPr>
          <a:xfrm rot="21566244">
            <a:off x="502920" y="6455664"/>
            <a:ext cx="73152" cy="73152"/>
          </a:xfrm>
          <a:prstGeom prst="ellipse">
            <a:avLst/>
          </a:prstGeom>
          <a:solidFill>
            <a:srgbClr val="9AB6D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6" name="图片 1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905" y="868680"/>
            <a:ext cx="8874125" cy="49720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 txBox="1"/>
          <p:nvPr/>
        </p:nvSpPr>
        <p:spPr>
          <a:xfrm>
            <a:off x="1547886" y="2726637"/>
            <a:ext cx="6315373" cy="1102571"/>
          </a:xfrm>
          <a:prstGeom prst="rect">
            <a:avLst/>
          </a:prstGeom>
          <a:noFill/>
          <a:ln w="9525">
            <a:noFill/>
          </a:ln>
        </p:spPr>
        <p:txBody>
          <a:bodyPr lIns="66936" tIns="33468" rIns="66936" bIns="33468"/>
          <a:lstStyle/>
          <a:p>
            <a:pPr algn="ctr" defTabSz="892175"/>
            <a:r>
              <a:rPr lang="en-US" altLang="zh-CN" sz="3525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[2]  </a:t>
            </a:r>
            <a:r>
              <a:rPr lang="zh-CN" altLang="en-US" sz="3525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设计定义</a:t>
            </a:r>
            <a:endParaRPr lang="zh-CN" altLang="en-US" sz="3525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21589832">
            <a:off x="384068" y="478795"/>
            <a:ext cx="54867" cy="246901"/>
          </a:xfrm>
          <a:prstGeom prst="rect">
            <a:avLst/>
          </a:prstGeom>
          <a:solidFill>
            <a:srgbClr val="2C4A6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3" name="TextBox 2"/>
          <p:cNvSpPr txBox="1"/>
          <p:nvPr/>
        </p:nvSpPr>
        <p:spPr>
          <a:xfrm>
            <a:off x="493802" y="465078"/>
            <a:ext cx="6515439" cy="230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42A33"/>
                </a:solidFill>
                <a:latin typeface="Helvetica Neue"/>
                <a:ea typeface="微软雅黑" panose="020B0503020204020204" charset="-122"/>
              </a:rPr>
              <a:t>2.1  问题定义 · 问题转化</a:t>
            </a:r>
            <a:endParaRPr sz="1500" b="1" i="0">
              <a:solidFill>
                <a:srgbClr val="242A33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615" y="838473"/>
            <a:ext cx="6515439" cy="114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spc="40">
                <a:solidFill>
                  <a:srgbClr val="6A7482"/>
                </a:solidFill>
                <a:latin typeface="Helvetica Neue"/>
                <a:ea typeface="微软雅黑" panose="020B0503020204020204" charset="-122"/>
              </a:rPr>
              <a:t>PROBLEM TRANSFORMATION  /  PAIN → OPPORTUNITY</a:t>
            </a:r>
            <a:endParaRPr sz="750" b="0" i="0" spc="40">
              <a:solidFill>
                <a:srgbClr val="6A7482"/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384068" y="1323484"/>
            <a:ext cx="4691116" cy="0"/>
          </a:xfrm>
          <a:prstGeom prst="line">
            <a:avLst/>
          </a:prstGeom>
          <a:ln w="9525">
            <a:solidFill>
              <a:srgbClr val="E2E8F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77210" y="6437496"/>
            <a:ext cx="5143768" cy="114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9AA2AE"/>
                </a:solidFill>
                <a:latin typeface="Helvetica Neue"/>
                <a:ea typeface="微软雅黑" panose="020B0503020204020204" charset="-122"/>
              </a:rPr>
              <a:t>幻衣 · 产品系统设计 · STAGE 02</a:t>
            </a:r>
            <a:endParaRPr sz="750" b="0" i="0">
              <a:solidFill>
                <a:srgbClr val="9AA2AE"/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384068" y="6284333"/>
            <a:ext cx="8380913" cy="0"/>
          </a:xfrm>
          <a:prstGeom prst="line">
            <a:avLst/>
          </a:prstGeom>
          <a:ln w="6350">
            <a:solidFill>
              <a:srgbClr val="E2E8F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41523" y="1002569"/>
            <a:ext cx="7544193" cy="220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三类用户痛点 → 六大设计机遇 → 行动优先级四象限</a:t>
            </a:r>
            <a:endParaRPr sz="120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 rot="21540000">
            <a:off x="377210" y="1600121"/>
            <a:ext cx="2331841" cy="1063045"/>
          </a:xfrm>
          <a:prstGeom prst="roundRect">
            <a:avLst>
              <a:gd name="adj" fmla="val 4000"/>
            </a:avLst>
          </a:prstGeom>
          <a:solidFill>
            <a:srgbClr val="E4ECF4">
              <a:alpha val="100000"/>
            </a:srgbClr>
          </a:solidFill>
          <a:ln w="10160">
            <a:solidFill>
              <a:srgbClr val="4E72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11" name="Rectangle 10"/>
          <p:cNvSpPr/>
          <p:nvPr/>
        </p:nvSpPr>
        <p:spPr>
          <a:xfrm rot="21540000">
            <a:off x="377210" y="1600121"/>
            <a:ext cx="48009" cy="1063045"/>
          </a:xfrm>
          <a:prstGeom prst="rect">
            <a:avLst/>
          </a:prstGeom>
          <a:solidFill>
            <a:srgbClr val="2C4A6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12" name="TextBox 11"/>
          <p:cNvSpPr txBox="1"/>
          <p:nvPr/>
        </p:nvSpPr>
        <p:spPr>
          <a:xfrm>
            <a:off x="528094" y="1682422"/>
            <a:ext cx="1577422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小美 · 网购青年</a:t>
            </a:r>
            <a:endParaRPr sz="1200" b="1" i="0">
              <a:solidFill>
                <a:srgbClr val="2C4A6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091799" y="1696138"/>
            <a:ext cx="514377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A7482"/>
                </a:solidFill>
                <a:latin typeface="Helvetica Neue"/>
                <a:ea typeface="微软雅黑" panose="020B0503020204020204" charset="-122"/>
              </a:rPr>
              <a:t>22 岁</a:t>
            </a:r>
            <a:endParaRPr sz="900" b="0" i="0">
              <a:solidFill>
                <a:srgbClr val="6A7482"/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528094" y="1915606"/>
            <a:ext cx="2043790" cy="0"/>
          </a:xfrm>
          <a:prstGeom prst="line">
            <a:avLst/>
          </a:prstGeom>
          <a:ln w="6350">
            <a:solidFill>
              <a:srgbClr val="E2E8F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 rot="6837">
            <a:off x="528094" y="2011623"/>
            <a:ext cx="54867" cy="54867"/>
          </a:xfrm>
          <a:prstGeom prst="roundRect">
            <a:avLst>
              <a:gd name="adj" fmla="val 50000"/>
            </a:avLst>
          </a:prstGeom>
          <a:solidFill>
            <a:srgbClr val="2C4A6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16" name="TextBox 15"/>
          <p:cNvSpPr txBox="1"/>
          <p:nvPr/>
        </p:nvSpPr>
        <p:spPr>
          <a:xfrm>
            <a:off x="637827" y="1936181"/>
            <a:ext cx="1988924" cy="128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线上服装退货率超 60%, 尺码不合为退货首因</a:t>
            </a:r>
            <a:endParaRPr sz="7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 rot="38805">
            <a:off x="528094" y="2244807"/>
            <a:ext cx="54867" cy="54867"/>
          </a:xfrm>
          <a:prstGeom prst="roundRect">
            <a:avLst>
              <a:gd name="adj" fmla="val 50000"/>
            </a:avLst>
          </a:prstGeom>
          <a:solidFill>
            <a:srgbClr val="2C4A6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18" name="TextBox 17"/>
          <p:cNvSpPr txBox="1"/>
          <p:nvPr/>
        </p:nvSpPr>
        <p:spPr>
          <a:xfrm>
            <a:off x="637827" y="2169365"/>
            <a:ext cx="1988924" cy="128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不同品牌版型差异大, 凭身高体重盲选反复换码</a:t>
            </a:r>
            <a:endParaRPr sz="7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 rot="21594146">
            <a:off x="528094" y="2477990"/>
            <a:ext cx="54867" cy="54867"/>
          </a:xfrm>
          <a:prstGeom prst="roundRect">
            <a:avLst>
              <a:gd name="adj" fmla="val 50000"/>
            </a:avLst>
          </a:prstGeom>
          <a:solidFill>
            <a:srgbClr val="2C4A6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20" name="TextBox 19"/>
          <p:cNvSpPr txBox="1"/>
          <p:nvPr/>
        </p:nvSpPr>
        <p:spPr>
          <a:xfrm>
            <a:off x="637827" y="2402549"/>
            <a:ext cx="1988924" cy="128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模特图与实物差距大, 无法判断面料垂感厚薄</a:t>
            </a:r>
            <a:endParaRPr sz="7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 rot="48000">
            <a:off x="468655" y="2834620"/>
            <a:ext cx="2331841" cy="1063045"/>
          </a:xfrm>
          <a:prstGeom prst="roundRect">
            <a:avLst>
              <a:gd name="adj" fmla="val 4000"/>
            </a:avLst>
          </a:prstGeom>
          <a:solidFill>
            <a:srgbClr val="E8EEF6">
              <a:alpha val="100000"/>
            </a:srgbClr>
          </a:solidFill>
          <a:ln w="10160">
            <a:solidFill>
              <a:srgbClr val="3A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22" name="Rectangle 21"/>
          <p:cNvSpPr/>
          <p:nvPr/>
        </p:nvSpPr>
        <p:spPr>
          <a:xfrm rot="48000">
            <a:off x="462940" y="2840335"/>
            <a:ext cx="48009" cy="1063045"/>
          </a:xfrm>
          <a:prstGeom prst="rect">
            <a:avLst/>
          </a:prstGeom>
          <a:solidFill>
            <a:srgbClr val="2C4A6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23" name="TextBox 22"/>
          <p:cNvSpPr txBox="1"/>
          <p:nvPr/>
        </p:nvSpPr>
        <p:spPr>
          <a:xfrm>
            <a:off x="630968" y="2814051"/>
            <a:ext cx="1577422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小丽 · 实体消费者</a:t>
            </a:r>
            <a:endParaRPr sz="1200" b="1" i="0">
              <a:solidFill>
                <a:srgbClr val="2C4A6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194674" y="2827767"/>
            <a:ext cx="514377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A7482"/>
                </a:solidFill>
                <a:latin typeface="Helvetica Neue"/>
                <a:ea typeface="微软雅黑" panose="020B0503020204020204" charset="-122"/>
              </a:rPr>
              <a:t>25 岁</a:t>
            </a:r>
            <a:endParaRPr sz="900" b="0" i="0">
              <a:solidFill>
                <a:srgbClr val="6A7482"/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630968" y="3047235"/>
            <a:ext cx="2043790" cy="0"/>
          </a:xfrm>
          <a:prstGeom prst="line">
            <a:avLst/>
          </a:prstGeom>
          <a:ln w="6350">
            <a:solidFill>
              <a:srgbClr val="E2E8F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 rot="21586021">
            <a:off x="630968" y="3143252"/>
            <a:ext cx="54867" cy="54867"/>
          </a:xfrm>
          <a:prstGeom prst="roundRect">
            <a:avLst>
              <a:gd name="adj" fmla="val 50000"/>
            </a:avLst>
          </a:prstGeom>
          <a:solidFill>
            <a:srgbClr val="2C4A6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27" name="TextBox 26"/>
          <p:cNvSpPr txBox="1"/>
          <p:nvPr/>
        </p:nvSpPr>
        <p:spPr>
          <a:xfrm>
            <a:off x="740703" y="3067810"/>
            <a:ext cx="1988924" cy="128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试衣间排队 12 分钟以上, 情绪转负直接弃购</a:t>
            </a:r>
            <a:endParaRPr sz="7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 rot="21594454">
            <a:off x="630968" y="3370720"/>
            <a:ext cx="54867" cy="54867"/>
          </a:xfrm>
          <a:prstGeom prst="roundRect">
            <a:avLst>
              <a:gd name="adj" fmla="val 50000"/>
            </a:avLst>
          </a:prstGeom>
          <a:solidFill>
            <a:srgbClr val="2C4A6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29" name="TextBox 28"/>
          <p:cNvSpPr txBox="1"/>
          <p:nvPr/>
        </p:nvSpPr>
        <p:spPr>
          <a:xfrm>
            <a:off x="740703" y="3295279"/>
            <a:ext cx="1988924" cy="128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试 2–3 件后体力耗尽, 无法多件对比版型</a:t>
            </a:r>
            <a:endParaRPr sz="7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 rot="21581136">
            <a:off x="630968" y="3603904"/>
            <a:ext cx="54867" cy="54867"/>
          </a:xfrm>
          <a:prstGeom prst="roundRect">
            <a:avLst>
              <a:gd name="adj" fmla="val 50000"/>
            </a:avLst>
          </a:prstGeom>
          <a:solidFill>
            <a:srgbClr val="2C4A6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31" name="TextBox 30"/>
          <p:cNvSpPr txBox="1"/>
          <p:nvPr/>
        </p:nvSpPr>
        <p:spPr>
          <a:xfrm>
            <a:off x="740703" y="3528463"/>
            <a:ext cx="1988924" cy="128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镜子少、换装反复折腾, 决策效率极低</a:t>
            </a:r>
            <a:endParaRPr sz="7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 rot="21564000">
            <a:off x="377210" y="4183419"/>
            <a:ext cx="2331841" cy="1063045"/>
          </a:xfrm>
          <a:prstGeom prst="roundRect">
            <a:avLst>
              <a:gd name="adj" fmla="val 4000"/>
            </a:avLst>
          </a:prstGeom>
          <a:solidFill>
            <a:srgbClr val="ECF0F6">
              <a:alpha val="100000"/>
            </a:srgbClr>
          </a:solidFill>
          <a:ln w="10160">
            <a:solidFill>
              <a:srgbClr val="3E4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33" name="Rectangle 32"/>
          <p:cNvSpPr/>
          <p:nvPr/>
        </p:nvSpPr>
        <p:spPr>
          <a:xfrm rot="21564000">
            <a:off x="377210" y="4183419"/>
            <a:ext cx="48009" cy="1063045"/>
          </a:xfrm>
          <a:prstGeom prst="rect">
            <a:avLst/>
          </a:prstGeom>
          <a:solidFill>
            <a:srgbClr val="2C4A6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34" name="TextBox 33"/>
          <p:cNvSpPr txBox="1"/>
          <p:nvPr/>
        </p:nvSpPr>
        <p:spPr>
          <a:xfrm>
            <a:off x="528094" y="4265720"/>
            <a:ext cx="1577422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小张 · 独立设计师</a:t>
            </a:r>
            <a:endParaRPr sz="1200" b="1" i="0">
              <a:solidFill>
                <a:srgbClr val="2C4A6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091799" y="4279436"/>
            <a:ext cx="514377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A7482"/>
                </a:solidFill>
                <a:latin typeface="Helvetica Neue"/>
                <a:ea typeface="微软雅黑" panose="020B0503020204020204" charset="-122"/>
              </a:rPr>
              <a:t>28 岁</a:t>
            </a:r>
            <a:endParaRPr sz="900" b="0" i="0">
              <a:solidFill>
                <a:srgbClr val="6A7482"/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36" name="Connector 35"/>
          <p:cNvCxnSpPr/>
          <p:nvPr/>
        </p:nvCxnSpPr>
        <p:spPr>
          <a:xfrm>
            <a:off x="528094" y="4498904"/>
            <a:ext cx="2043790" cy="0"/>
          </a:xfrm>
          <a:prstGeom prst="line">
            <a:avLst/>
          </a:prstGeom>
          <a:ln w="6350">
            <a:solidFill>
              <a:srgbClr val="E2E8F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 rot="42720">
            <a:off x="528094" y="4594920"/>
            <a:ext cx="54867" cy="54867"/>
          </a:xfrm>
          <a:prstGeom prst="roundRect">
            <a:avLst>
              <a:gd name="adj" fmla="val 50000"/>
            </a:avLst>
          </a:prstGeom>
          <a:solidFill>
            <a:srgbClr val="2C4A6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38" name="TextBox 37"/>
          <p:cNvSpPr txBox="1"/>
          <p:nvPr/>
        </p:nvSpPr>
        <p:spPr>
          <a:xfrm>
            <a:off x="637827" y="4519479"/>
            <a:ext cx="198892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打样一次 36 元起, 改 2–3 轮才定版, 面料浪费严重</a:t>
            </a:r>
            <a:endParaRPr sz="7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 rot="16957">
            <a:off x="528094" y="4828104"/>
            <a:ext cx="54867" cy="54867"/>
          </a:xfrm>
          <a:prstGeom prst="roundRect">
            <a:avLst>
              <a:gd name="adj" fmla="val 50000"/>
            </a:avLst>
          </a:prstGeom>
          <a:solidFill>
            <a:srgbClr val="2C4A6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40" name="TextBox 39"/>
          <p:cNvSpPr txBox="1"/>
          <p:nvPr/>
        </p:nvSpPr>
        <p:spPr>
          <a:xfrm>
            <a:off x="637827" y="4752663"/>
            <a:ext cx="1988924" cy="128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凭经验判断版型, 约 60% 退货源于尺码不合</a:t>
            </a:r>
            <a:endParaRPr sz="7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 rot="21588553">
            <a:off x="528094" y="5061288"/>
            <a:ext cx="54867" cy="54867"/>
          </a:xfrm>
          <a:prstGeom prst="roundRect">
            <a:avLst>
              <a:gd name="adj" fmla="val 50000"/>
            </a:avLst>
          </a:prstGeom>
          <a:solidFill>
            <a:srgbClr val="2C4A6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42" name="TextBox 41"/>
          <p:cNvSpPr txBox="1"/>
          <p:nvPr/>
        </p:nvSpPr>
        <p:spPr>
          <a:xfrm>
            <a:off x="637827" y="4985847"/>
            <a:ext cx="1988924" cy="128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缺乏消费者试穿偏好数据, 库存积压周转 390 天</a:t>
            </a:r>
            <a:endParaRPr sz="7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 rot="21557888">
            <a:off x="2846218" y="1600121"/>
            <a:ext cx="2811926" cy="493802"/>
          </a:xfrm>
          <a:prstGeom prst="roundRect">
            <a:avLst>
              <a:gd name="adj" fmla="val 6000"/>
            </a:avLst>
          </a:prstGeom>
          <a:solidFill>
            <a:srgbClr val="F1F5F9">
              <a:alpha val="100000"/>
            </a:srgbClr>
          </a:solidFill>
          <a:ln w="889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44" name="Oval 43"/>
          <p:cNvSpPr/>
          <p:nvPr/>
        </p:nvSpPr>
        <p:spPr>
          <a:xfrm rot="6191">
            <a:off x="2914802" y="1696138"/>
            <a:ext cx="288051" cy="288051"/>
          </a:xfrm>
          <a:prstGeom prst="ellipse">
            <a:avLst/>
          </a:prstGeom>
          <a:solidFill>
            <a:srgbClr val="2C4A6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45" name="TextBox 44"/>
          <p:cNvSpPr txBox="1"/>
          <p:nvPr/>
        </p:nvSpPr>
        <p:spPr>
          <a:xfrm>
            <a:off x="2914802" y="1744147"/>
            <a:ext cx="288051" cy="161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F1F5F9"/>
                </a:solidFill>
                <a:latin typeface="Helvetica Neue"/>
                <a:ea typeface="微软雅黑" panose="020B0503020204020204" charset="-122"/>
              </a:rPr>
              <a:t>O1</a:t>
            </a:r>
            <a:endParaRPr sz="1050" b="1" i="0">
              <a:solidFill>
                <a:srgbClr val="F1F5F9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271436" y="1654988"/>
            <a:ext cx="2318125" cy="161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AI 虚拟试穿生成</a:t>
            </a:r>
            <a:endParaRPr sz="1050" b="1" i="0">
              <a:solidFill>
                <a:srgbClr val="2C4A6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271436" y="1847022"/>
            <a:ext cx="2318125" cy="253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上传自拍/商品图, 10 秒出真人级上身效果, 服务 C 端消费者与 B 端设计师</a:t>
            </a:r>
            <a:endParaRPr sz="7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 rot="22253">
            <a:off x="5761020" y="1600121"/>
            <a:ext cx="2743343" cy="493802"/>
          </a:xfrm>
          <a:prstGeom prst="roundRect">
            <a:avLst>
              <a:gd name="adj" fmla="val 6000"/>
            </a:avLst>
          </a:prstGeom>
          <a:solidFill>
            <a:srgbClr val="F1F5F9">
              <a:alpha val="100000"/>
            </a:srgbClr>
          </a:solidFill>
          <a:ln w="8890">
            <a:solidFill>
              <a:srgbClr val="3A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49" name="Oval 48"/>
          <p:cNvSpPr/>
          <p:nvPr/>
        </p:nvSpPr>
        <p:spPr>
          <a:xfrm rot="36776">
            <a:off x="5829604" y="1696138"/>
            <a:ext cx="288051" cy="288051"/>
          </a:xfrm>
          <a:prstGeom prst="ellipse">
            <a:avLst/>
          </a:prstGeom>
          <a:solidFill>
            <a:srgbClr val="3A5E8C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50" name="TextBox 49"/>
          <p:cNvSpPr txBox="1"/>
          <p:nvPr/>
        </p:nvSpPr>
        <p:spPr>
          <a:xfrm>
            <a:off x="5829604" y="1744147"/>
            <a:ext cx="288051" cy="161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F1F5F9"/>
                </a:solidFill>
                <a:latin typeface="Helvetica Neue"/>
                <a:ea typeface="微软雅黑" panose="020B0503020204020204" charset="-122"/>
              </a:rPr>
              <a:t>O2</a:t>
            </a:r>
            <a:endParaRPr sz="1050" b="1" i="0">
              <a:solidFill>
                <a:srgbClr val="F1F5F9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186238" y="1654988"/>
            <a:ext cx="2249541" cy="161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3A5E8C"/>
                </a:solidFill>
                <a:latin typeface="Helvetica Neue"/>
                <a:ea typeface="微软雅黑" panose="020B0503020204020204" charset="-122"/>
              </a:rPr>
              <a:t>多件快速对比</a:t>
            </a:r>
            <a:endParaRPr sz="1050" b="1" i="0">
              <a:solidFill>
                <a:srgbClr val="3A5E8C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186238" y="1847022"/>
            <a:ext cx="2249541" cy="253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一键切换不同款式颜色, 同屏比对版型、面料、尺码, 省去反复换装</a:t>
            </a:r>
            <a:endParaRPr sz="7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53" name="Rounded Rectangle 52"/>
          <p:cNvSpPr/>
          <p:nvPr/>
        </p:nvSpPr>
        <p:spPr>
          <a:xfrm rot="21538291">
            <a:off x="2846218" y="2183082"/>
            <a:ext cx="2811926" cy="493802"/>
          </a:xfrm>
          <a:prstGeom prst="roundRect">
            <a:avLst>
              <a:gd name="adj" fmla="val 6000"/>
            </a:avLst>
          </a:prstGeom>
          <a:solidFill>
            <a:srgbClr val="F1F5F9">
              <a:alpha val="100000"/>
            </a:srgbClr>
          </a:solidFill>
          <a:ln w="889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54" name="Oval 53"/>
          <p:cNvSpPr/>
          <p:nvPr/>
        </p:nvSpPr>
        <p:spPr>
          <a:xfrm rot="21084">
            <a:off x="2914802" y="2279099"/>
            <a:ext cx="288051" cy="288051"/>
          </a:xfrm>
          <a:prstGeom prst="ellipse">
            <a:avLst/>
          </a:prstGeom>
          <a:solidFill>
            <a:srgbClr val="2C4A6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55" name="TextBox 54"/>
          <p:cNvSpPr txBox="1"/>
          <p:nvPr/>
        </p:nvSpPr>
        <p:spPr>
          <a:xfrm>
            <a:off x="2914802" y="2327107"/>
            <a:ext cx="288051" cy="161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F1F5F9"/>
                </a:solidFill>
                <a:latin typeface="Helvetica Neue"/>
                <a:ea typeface="微软雅黑" panose="020B0503020204020204" charset="-122"/>
              </a:rPr>
              <a:t>O3</a:t>
            </a:r>
            <a:endParaRPr sz="1050" b="1" i="0">
              <a:solidFill>
                <a:srgbClr val="F1F5F9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271436" y="2237949"/>
            <a:ext cx="2318125" cy="161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智能尺码+面料预测</a:t>
            </a:r>
            <a:endParaRPr sz="1050" b="1" i="0">
              <a:solidFill>
                <a:srgbClr val="2C4A6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271436" y="2429983"/>
            <a:ext cx="2318125" cy="253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基于身材数据与试穿反馈预测尺码, 展示面料厚薄与垂感, 直接降退货</a:t>
            </a:r>
            <a:endParaRPr sz="7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58" name="Rounded Rectangle 57"/>
          <p:cNvSpPr/>
          <p:nvPr/>
        </p:nvSpPr>
        <p:spPr>
          <a:xfrm rot="25242">
            <a:off x="5761020" y="2183082"/>
            <a:ext cx="2743343" cy="493802"/>
          </a:xfrm>
          <a:prstGeom prst="roundRect">
            <a:avLst>
              <a:gd name="adj" fmla="val 6000"/>
            </a:avLst>
          </a:prstGeom>
          <a:solidFill>
            <a:srgbClr val="F1F5F9">
              <a:alpha val="100000"/>
            </a:srgbClr>
          </a:solidFill>
          <a:ln w="8890">
            <a:solidFill>
              <a:srgbClr val="3A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59" name="Oval 58"/>
          <p:cNvSpPr/>
          <p:nvPr/>
        </p:nvSpPr>
        <p:spPr>
          <a:xfrm rot="21200">
            <a:off x="5829604" y="2279099"/>
            <a:ext cx="288051" cy="288051"/>
          </a:xfrm>
          <a:prstGeom prst="ellipse">
            <a:avLst/>
          </a:prstGeom>
          <a:solidFill>
            <a:srgbClr val="3A5E8C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60" name="TextBox 59"/>
          <p:cNvSpPr txBox="1"/>
          <p:nvPr/>
        </p:nvSpPr>
        <p:spPr>
          <a:xfrm>
            <a:off x="5829604" y="2327107"/>
            <a:ext cx="288051" cy="161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F1F5F9"/>
                </a:solidFill>
                <a:latin typeface="Helvetica Neue"/>
                <a:ea typeface="微软雅黑" panose="020B0503020204020204" charset="-122"/>
              </a:rPr>
              <a:t>O4</a:t>
            </a:r>
            <a:endParaRPr sz="1050" b="1" i="0">
              <a:solidFill>
                <a:srgbClr val="F1F5F9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186238" y="2237949"/>
            <a:ext cx="2249541" cy="161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3A5E8C"/>
                </a:solidFill>
                <a:latin typeface="Helvetica Neue"/>
                <a:ea typeface="微软雅黑" panose="020B0503020204020204" charset="-122"/>
              </a:rPr>
              <a:t>虚拟版型验证</a:t>
            </a:r>
            <a:endParaRPr sz="1050" b="1" i="0">
              <a:solidFill>
                <a:srgbClr val="3A5E8C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186238" y="2429983"/>
            <a:ext cx="2249541" cy="253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设计师上传设计稿 30 秒出上身效果图, 省去实物打样, 降本提效</a:t>
            </a:r>
            <a:endParaRPr sz="7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63" name="Rounded Rectangle 62"/>
          <p:cNvSpPr/>
          <p:nvPr/>
        </p:nvSpPr>
        <p:spPr>
          <a:xfrm rot="66073">
            <a:off x="2846218" y="2766042"/>
            <a:ext cx="2811926" cy="493802"/>
          </a:xfrm>
          <a:prstGeom prst="roundRect">
            <a:avLst>
              <a:gd name="adj" fmla="val 6000"/>
            </a:avLst>
          </a:prstGeom>
          <a:solidFill>
            <a:srgbClr val="F1F5F9">
              <a:alpha val="100000"/>
            </a:srgbClr>
          </a:solidFill>
          <a:ln w="8890">
            <a:solidFill>
              <a:srgbClr val="4E72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64" name="Oval 63"/>
          <p:cNvSpPr/>
          <p:nvPr/>
        </p:nvSpPr>
        <p:spPr>
          <a:xfrm rot="21566282">
            <a:off x="2914802" y="2862059"/>
            <a:ext cx="288051" cy="288051"/>
          </a:xfrm>
          <a:prstGeom prst="ellipse">
            <a:avLst/>
          </a:prstGeom>
          <a:solidFill>
            <a:srgbClr val="4E72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65" name="TextBox 64"/>
          <p:cNvSpPr txBox="1"/>
          <p:nvPr/>
        </p:nvSpPr>
        <p:spPr>
          <a:xfrm>
            <a:off x="2914802" y="2910068"/>
            <a:ext cx="288051" cy="161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F1F5F9"/>
                </a:solidFill>
                <a:latin typeface="Helvetica Neue"/>
                <a:ea typeface="微软雅黑" panose="020B0503020204020204" charset="-122"/>
              </a:rPr>
              <a:t>O5</a:t>
            </a:r>
            <a:endParaRPr sz="1050" b="1" i="0">
              <a:solidFill>
                <a:srgbClr val="F1F5F9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3271436" y="2820909"/>
            <a:ext cx="2318125" cy="161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4E729E"/>
                </a:solidFill>
                <a:latin typeface="Helvetica Neue"/>
                <a:ea typeface="微软雅黑" panose="020B0503020204020204" charset="-122"/>
              </a:rPr>
              <a:t>试穿数据回流</a:t>
            </a:r>
            <a:endParaRPr sz="1050" b="1" i="0">
              <a:solidFill>
                <a:srgbClr val="4E729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3271436" y="3012943"/>
            <a:ext cx="2318125" cy="253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消费者脱敏试穿偏好回流设计师端, 驱动版型优化与按需生产</a:t>
            </a:r>
            <a:endParaRPr sz="7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68" name="Rounded Rectangle 67"/>
          <p:cNvSpPr/>
          <p:nvPr/>
        </p:nvSpPr>
        <p:spPr>
          <a:xfrm rot="21582853">
            <a:off x="5761020" y="2766042"/>
            <a:ext cx="2743343" cy="493802"/>
          </a:xfrm>
          <a:prstGeom prst="roundRect">
            <a:avLst>
              <a:gd name="adj" fmla="val 6000"/>
            </a:avLst>
          </a:prstGeom>
          <a:solidFill>
            <a:srgbClr val="F1F5F9">
              <a:alpha val="100000"/>
            </a:srgbClr>
          </a:solidFill>
          <a:ln w="8890">
            <a:solidFill>
              <a:srgbClr val="4E72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69" name="Oval 68"/>
          <p:cNvSpPr/>
          <p:nvPr/>
        </p:nvSpPr>
        <p:spPr>
          <a:xfrm rot="62343">
            <a:off x="5829604" y="2862059"/>
            <a:ext cx="288051" cy="288051"/>
          </a:xfrm>
          <a:prstGeom prst="ellipse">
            <a:avLst/>
          </a:prstGeom>
          <a:solidFill>
            <a:srgbClr val="4E72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70" name="TextBox 69"/>
          <p:cNvSpPr txBox="1"/>
          <p:nvPr/>
        </p:nvSpPr>
        <p:spPr>
          <a:xfrm>
            <a:off x="5829604" y="2910068"/>
            <a:ext cx="288051" cy="161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F1F5F9"/>
                </a:solidFill>
                <a:latin typeface="Helvetica Neue"/>
                <a:ea typeface="微软雅黑" panose="020B0503020204020204" charset="-122"/>
              </a:rPr>
              <a:t>O6</a:t>
            </a:r>
            <a:endParaRPr sz="1050" b="1" i="0">
              <a:solidFill>
                <a:srgbClr val="F1F5F9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6186238" y="2820909"/>
            <a:ext cx="2249541" cy="161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4E729E"/>
                </a:solidFill>
                <a:latin typeface="Helvetica Neue"/>
                <a:ea typeface="微软雅黑" panose="020B0503020204020204" charset="-122"/>
              </a:rPr>
              <a:t>低成本落地硬件</a:t>
            </a:r>
            <a:endParaRPr sz="1050" b="1" i="0">
              <a:solidFill>
                <a:srgbClr val="4E729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6186238" y="3012943"/>
            <a:ext cx="2249541" cy="253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千元级智能镜, 进卧室/工作室/门店多场景, 打破立式机柜门槛</a:t>
            </a:r>
            <a:endParaRPr sz="7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73" name="Connector 72"/>
          <p:cNvCxnSpPr/>
          <p:nvPr/>
        </p:nvCxnSpPr>
        <p:spPr>
          <a:xfrm>
            <a:off x="2743343" y="2148790"/>
            <a:ext cx="102875" cy="274334"/>
          </a:xfrm>
          <a:prstGeom prst="line">
            <a:avLst/>
          </a:prstGeom>
          <a:ln w="8890">
            <a:solidFill>
              <a:srgbClr val="9AA2AE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2743343" y="3006085"/>
            <a:ext cx="102875" cy="274334"/>
          </a:xfrm>
          <a:prstGeom prst="line">
            <a:avLst/>
          </a:prstGeom>
          <a:ln w="8890">
            <a:solidFill>
              <a:srgbClr val="9AA2AE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2912895" y="3598083"/>
            <a:ext cx="5658145" cy="161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242A33"/>
                </a:solidFill>
                <a:latin typeface="Helvetica Neue"/>
                <a:ea typeface="微软雅黑" panose="020B0503020204020204" charset="-122"/>
              </a:rPr>
              <a:t>行动优先级四象限 · Action Priority Matrix（用户价值 × 落地可行性）</a:t>
            </a:r>
            <a:endParaRPr sz="1050" b="1" i="0">
              <a:solidFill>
                <a:srgbClr val="242A33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76" name="Rectangle 75"/>
          <p:cNvSpPr/>
          <p:nvPr/>
        </p:nvSpPr>
        <p:spPr>
          <a:xfrm rot="21531264">
            <a:off x="2872890" y="4111488"/>
            <a:ext cx="2829072" cy="857295"/>
          </a:xfrm>
          <a:prstGeom prst="rect">
            <a:avLst/>
          </a:prstGeom>
          <a:solidFill>
            <a:srgbClr val="4E729E">
              <a:alpha val="14000"/>
            </a:srgbClr>
          </a:solidFill>
          <a:ln>
            <a:noFill/>
          </a:ln>
          <a:effectLst>
            <a:softEdge rad="5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77" name="Rectangle 76"/>
          <p:cNvSpPr/>
          <p:nvPr/>
        </p:nvSpPr>
        <p:spPr>
          <a:xfrm rot="36767">
            <a:off x="5701962" y="4134348"/>
            <a:ext cx="2829072" cy="857295"/>
          </a:xfrm>
          <a:prstGeom prst="rect">
            <a:avLst/>
          </a:prstGeom>
          <a:solidFill>
            <a:srgbClr val="3A5E8C">
              <a:alpha val="16000"/>
            </a:srgbClr>
          </a:solidFill>
          <a:ln>
            <a:noFill/>
          </a:ln>
          <a:effectLst>
            <a:softEdge rad="5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78" name="Rectangle 77"/>
          <p:cNvSpPr/>
          <p:nvPr/>
        </p:nvSpPr>
        <p:spPr>
          <a:xfrm rot="6968">
            <a:off x="2872890" y="4968783"/>
            <a:ext cx="2829072" cy="857295"/>
          </a:xfrm>
          <a:prstGeom prst="rect">
            <a:avLst/>
          </a:prstGeom>
          <a:solidFill>
            <a:srgbClr val="9AA2AE">
              <a:alpha val="10000"/>
            </a:srgbClr>
          </a:solidFill>
          <a:ln>
            <a:noFill/>
          </a:ln>
          <a:effectLst>
            <a:softEdge rad="5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79" name="Rectangle 78"/>
          <p:cNvSpPr/>
          <p:nvPr/>
        </p:nvSpPr>
        <p:spPr>
          <a:xfrm rot="18760">
            <a:off x="5701962" y="4991643"/>
            <a:ext cx="2829072" cy="857295"/>
          </a:xfrm>
          <a:prstGeom prst="rect">
            <a:avLst/>
          </a:prstGeom>
          <a:solidFill>
            <a:srgbClr val="2C4A6E">
              <a:alpha val="12000"/>
            </a:srgbClr>
          </a:solidFill>
          <a:ln>
            <a:noFill/>
          </a:ln>
          <a:effectLst>
            <a:softEdge rad="5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cxnSp>
        <p:nvCxnSpPr>
          <p:cNvPr id="80" name="Connector 79"/>
          <p:cNvCxnSpPr/>
          <p:nvPr/>
        </p:nvCxnSpPr>
        <p:spPr>
          <a:xfrm>
            <a:off x="5701962" y="4111488"/>
            <a:ext cx="0" cy="1714589"/>
          </a:xfrm>
          <a:prstGeom prst="line">
            <a:avLst/>
          </a:prstGeom>
          <a:ln w="7620">
            <a:solidFill>
              <a:srgbClr val="6A748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872890" y="5025933"/>
            <a:ext cx="5658145" cy="0"/>
          </a:xfrm>
          <a:prstGeom prst="line">
            <a:avLst/>
          </a:prstGeom>
          <a:ln w="7620">
            <a:solidFill>
              <a:srgbClr val="6A748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2907181" y="5688911"/>
            <a:ext cx="891586" cy="114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6A7482"/>
                </a:solidFill>
                <a:latin typeface="Helvetica Neue"/>
                <a:ea typeface="微软雅黑" panose="020B0503020204020204" charset="-122"/>
              </a:rPr>
              <a:t>低价值</a:t>
            </a:r>
            <a:endParaRPr sz="750" b="0" i="0">
              <a:solidFill>
                <a:srgbClr val="6A748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5016126" y="5839794"/>
            <a:ext cx="1371671" cy="114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6A7482"/>
                </a:solidFill>
                <a:latin typeface="Helvetica Neue"/>
                <a:ea typeface="微软雅黑" panose="020B0503020204020204" charset="-122"/>
              </a:rPr>
              <a:t>低可行性 →</a:t>
            </a:r>
            <a:endParaRPr sz="750" b="0" i="0">
              <a:solidFill>
                <a:srgbClr val="6A748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5770546" y="5839794"/>
            <a:ext cx="1371671" cy="114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6A7482"/>
                </a:solidFill>
                <a:latin typeface="Helvetica Neue"/>
                <a:ea typeface="微软雅黑" panose="020B0503020204020204" charset="-122"/>
              </a:rPr>
              <a:t>→ 高可行性</a:t>
            </a:r>
            <a:endParaRPr sz="750" b="0" i="0">
              <a:solidFill>
                <a:srgbClr val="6A748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2955190" y="4207505"/>
            <a:ext cx="2691905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4E729E"/>
                </a:solidFill>
                <a:latin typeface="Helvetica Neue"/>
                <a:ea typeface="微软雅黑" panose="020B0503020204020204" charset="-122"/>
              </a:rPr>
              <a:t>Ⅱ 投入储备</a:t>
            </a:r>
            <a:endParaRPr sz="900" b="1" i="0">
              <a:solidFill>
                <a:srgbClr val="4E729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2955190" y="4372106"/>
            <a:ext cx="269190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O2 多件对比(依赖 O1)、O6 低成本硬件。高价值但依赖核心引擎先行, 待 O1 验证后跟进。</a:t>
            </a:r>
            <a:endParaRPr sz="7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5784262" y="4230365"/>
            <a:ext cx="2691905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3A5E8C"/>
                </a:solidFill>
                <a:latin typeface="Helvetica Neue"/>
                <a:ea typeface="微软雅黑" panose="020B0503020204020204" charset="-122"/>
              </a:rPr>
              <a:t>Ⅰ P0 战略投入</a:t>
            </a:r>
            <a:endParaRPr sz="900" b="1" i="0">
              <a:solidFill>
                <a:srgbClr val="3A5E8C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5784262" y="4394966"/>
            <a:ext cx="269190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O1 AI 虚拟试穿(C+B 双端核心)、O3 尺码预测(直接降退货)。价值最高, 首版必须落地。</a:t>
            </a:r>
            <a:endParaRPr sz="7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2955190" y="5037367"/>
            <a:ext cx="2691905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6A7482"/>
                </a:solidFill>
                <a:latin typeface="Helvetica Neue"/>
                <a:ea typeface="微软雅黑" panose="020B0503020204020204" charset="-122"/>
              </a:rPr>
              <a:t>Ⅲ 观察</a:t>
            </a:r>
            <a:endParaRPr sz="900" b="1" i="0">
              <a:solidFill>
                <a:srgbClr val="6A748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2955190" y="5201967"/>
            <a:ext cx="269190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O4 虚拟版型验证(设计师端刚需, 但需版型数据库积累)。中长期跟进。</a:t>
            </a:r>
            <a:endParaRPr sz="7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5784262" y="5060227"/>
            <a:ext cx="2691905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Ⅳ 快速落地</a:t>
            </a:r>
            <a:endParaRPr sz="900" b="1" i="0">
              <a:solidFill>
                <a:srgbClr val="2C4A6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5784262" y="5224827"/>
            <a:ext cx="269190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O5 试穿数据回流(形成 C→B 数据闭环, 差异化竞争力)。优先落地构筑壁垒。</a:t>
            </a:r>
            <a:endParaRPr sz="7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" name="Rectangle 91"/>
          <p:cNvSpPr/>
          <p:nvPr/>
        </p:nvSpPr>
        <p:spPr>
          <a:xfrm>
            <a:off x="800139" y="3821341"/>
            <a:ext cx="7989986" cy="438935"/>
          </a:xfrm>
          <a:prstGeom prst="rect">
            <a:avLst/>
          </a:prstGeom>
          <a:solidFill>
            <a:srgbClr val="E8EEF6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115" name="Rectangle 91"/>
          <p:cNvSpPr/>
          <p:nvPr/>
        </p:nvSpPr>
        <p:spPr>
          <a:xfrm>
            <a:off x="782994" y="2635161"/>
            <a:ext cx="7989986" cy="438935"/>
          </a:xfrm>
          <a:prstGeom prst="rect">
            <a:avLst/>
          </a:prstGeom>
          <a:solidFill>
            <a:srgbClr val="E8EEF6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2" name="Rectangle 1"/>
          <p:cNvSpPr/>
          <p:nvPr/>
        </p:nvSpPr>
        <p:spPr>
          <a:xfrm rot="21554674">
            <a:off x="384068" y="478795"/>
            <a:ext cx="54867" cy="246901"/>
          </a:xfrm>
          <a:prstGeom prst="rect">
            <a:avLst/>
          </a:prstGeom>
          <a:solidFill>
            <a:srgbClr val="2C4A6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3" name="TextBox 2"/>
          <p:cNvSpPr txBox="1"/>
          <p:nvPr/>
        </p:nvSpPr>
        <p:spPr>
          <a:xfrm>
            <a:off x="634772" y="495558"/>
            <a:ext cx="6515439" cy="230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42A33"/>
                </a:solidFill>
                <a:latin typeface="Helvetica Neue"/>
                <a:ea typeface="微软雅黑" panose="020B0503020204020204" charset="-122"/>
              </a:rPr>
              <a:t>2.1  问题定义 · 服务蓝图</a:t>
            </a:r>
            <a:endParaRPr sz="1500" b="1" i="0">
              <a:solidFill>
                <a:srgbClr val="242A33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63440" y="795293"/>
            <a:ext cx="6515439" cy="120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90" b="0" i="0" spc="40">
                <a:solidFill>
                  <a:srgbClr val="6A7482"/>
                </a:solidFill>
                <a:latin typeface="Helvetica Neue"/>
                <a:ea typeface="微软雅黑" panose="020B0503020204020204" charset="-122"/>
              </a:rPr>
              <a:t>SERVICE BLUEPRINT  /  6 STAGES × 5 LAYERS</a:t>
            </a:r>
            <a:endParaRPr sz="790" b="0" i="0" spc="40">
              <a:solidFill>
                <a:srgbClr val="6A7482"/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384068" y="711979"/>
            <a:ext cx="4691116" cy="0"/>
          </a:xfrm>
          <a:prstGeom prst="line">
            <a:avLst/>
          </a:prstGeom>
          <a:ln w="9525">
            <a:solidFill>
              <a:srgbClr val="E2E8F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77210" y="6351771"/>
            <a:ext cx="5143768" cy="114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9AA2AE"/>
                </a:solidFill>
                <a:latin typeface="Helvetica Neue"/>
                <a:ea typeface="微软雅黑" panose="020B0503020204020204" charset="-122"/>
              </a:rPr>
              <a:t>幻衣 · 产品系统设计 · STAGE 02</a:t>
            </a:r>
            <a:endParaRPr sz="750" b="0" i="0">
              <a:solidFill>
                <a:srgbClr val="9AA2AE"/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384068" y="6324338"/>
            <a:ext cx="8380913" cy="0"/>
          </a:xfrm>
          <a:prstGeom prst="line">
            <a:avLst/>
          </a:prstGeom>
          <a:ln w="6350">
            <a:solidFill>
              <a:srgbClr val="E2E8F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84068" y="1246407"/>
            <a:ext cx="7544193" cy="220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AI 试穿引擎为核心枢纽, 贯穿前台触点与后台数据。</a:t>
            </a:r>
            <a:endParaRPr sz="120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 rot="14857">
            <a:off x="832524" y="1962703"/>
            <a:ext cx="1297373" cy="493802"/>
          </a:xfrm>
          <a:prstGeom prst="rect">
            <a:avLst/>
          </a:prstGeom>
          <a:solidFill>
            <a:srgbClr val="4E729E">
              <a:alpha val="14000"/>
            </a:srgbClr>
          </a:solidFill>
          <a:ln>
            <a:noFill/>
          </a:ln>
          <a:effectLst>
            <a:softEdge rad="4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11" name="Rounded Rectangle 10"/>
          <p:cNvSpPr/>
          <p:nvPr/>
        </p:nvSpPr>
        <p:spPr>
          <a:xfrm>
            <a:off x="832524" y="1962703"/>
            <a:ext cx="1297373" cy="493802"/>
          </a:xfrm>
          <a:prstGeom prst="roundRect">
            <a:avLst>
              <a:gd name="adj" fmla="val 6000"/>
            </a:avLst>
          </a:prstGeom>
          <a:noFill/>
          <a:ln w="10160">
            <a:solidFill>
              <a:srgbClr val="4E72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12" name="TextBox 11"/>
          <p:cNvSpPr txBox="1"/>
          <p:nvPr/>
        </p:nvSpPr>
        <p:spPr>
          <a:xfrm>
            <a:off x="832524" y="2127303"/>
            <a:ext cx="1331664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4E729E"/>
                </a:solidFill>
                <a:latin typeface="Helvetica Neue"/>
                <a:ea typeface="微软雅黑" panose="020B0503020204020204" charset="-122"/>
              </a:rPr>
              <a:t>01 进店浏览</a:t>
            </a:r>
            <a:endParaRPr sz="1200" b="1" i="0">
              <a:solidFill>
                <a:srgbClr val="4E729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 rot="33599">
            <a:off x="2164189" y="1962703"/>
            <a:ext cx="1297373" cy="493802"/>
          </a:xfrm>
          <a:prstGeom prst="rect">
            <a:avLst/>
          </a:prstGeom>
          <a:solidFill>
            <a:srgbClr val="3A5E8C">
              <a:alpha val="14000"/>
            </a:srgbClr>
          </a:solidFill>
          <a:ln>
            <a:noFill/>
          </a:ln>
          <a:effectLst>
            <a:softEdge rad="4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14" name="Rounded Rectangle 13"/>
          <p:cNvSpPr/>
          <p:nvPr/>
        </p:nvSpPr>
        <p:spPr>
          <a:xfrm>
            <a:off x="2164189" y="1962703"/>
            <a:ext cx="1297373" cy="493802"/>
          </a:xfrm>
          <a:prstGeom prst="roundRect">
            <a:avLst>
              <a:gd name="adj" fmla="val 6000"/>
            </a:avLst>
          </a:prstGeom>
          <a:noFill/>
          <a:ln w="10160">
            <a:solidFill>
              <a:srgbClr val="3A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15" name="TextBox 14"/>
          <p:cNvSpPr txBox="1"/>
          <p:nvPr/>
        </p:nvSpPr>
        <p:spPr>
          <a:xfrm>
            <a:off x="2164189" y="2127303"/>
            <a:ext cx="1331664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3A5E8C"/>
                </a:solidFill>
                <a:latin typeface="Helvetica Neue"/>
                <a:ea typeface="微软雅黑" panose="020B0503020204020204" charset="-122"/>
              </a:rPr>
              <a:t>02 扫码识别</a:t>
            </a:r>
            <a:endParaRPr sz="1200" b="1" i="0">
              <a:solidFill>
                <a:srgbClr val="3A5E8C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 rot="21564575">
            <a:off x="3495853" y="1962703"/>
            <a:ext cx="1297373" cy="493802"/>
          </a:xfrm>
          <a:prstGeom prst="rect">
            <a:avLst/>
          </a:prstGeom>
          <a:solidFill>
            <a:srgbClr val="2C4A6E">
              <a:alpha val="14000"/>
            </a:srgbClr>
          </a:solidFill>
          <a:ln>
            <a:noFill/>
          </a:ln>
          <a:effectLst>
            <a:softEdge rad="4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17" name="Rounded Rectangle 16"/>
          <p:cNvSpPr/>
          <p:nvPr/>
        </p:nvSpPr>
        <p:spPr>
          <a:xfrm>
            <a:off x="3495853" y="1962703"/>
            <a:ext cx="1297373" cy="493802"/>
          </a:xfrm>
          <a:prstGeom prst="roundRect">
            <a:avLst>
              <a:gd name="adj" fmla="val 6000"/>
            </a:avLst>
          </a:prstGeom>
          <a:noFill/>
          <a:ln w="1016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18" name="TextBox 17"/>
          <p:cNvSpPr txBox="1"/>
          <p:nvPr/>
        </p:nvSpPr>
        <p:spPr>
          <a:xfrm>
            <a:off x="3495853" y="2127303"/>
            <a:ext cx="1331664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03 身材录入</a:t>
            </a:r>
            <a:endParaRPr sz="1200" b="1" i="0">
              <a:solidFill>
                <a:srgbClr val="2C4A6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827517" y="1962703"/>
            <a:ext cx="1297373" cy="493802"/>
          </a:xfrm>
          <a:prstGeom prst="roundRect">
            <a:avLst>
              <a:gd name="adj" fmla="val 6000"/>
            </a:avLst>
          </a:prstGeom>
          <a:noFill/>
          <a:ln w="10160">
            <a:solidFill>
              <a:srgbClr val="24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21" name="TextBox 20"/>
          <p:cNvSpPr txBox="1"/>
          <p:nvPr/>
        </p:nvSpPr>
        <p:spPr>
          <a:xfrm>
            <a:off x="4827517" y="2127303"/>
            <a:ext cx="1331664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242A33"/>
                </a:solidFill>
                <a:latin typeface="Helvetica Neue"/>
                <a:ea typeface="微软雅黑" panose="020B0503020204020204" charset="-122"/>
              </a:rPr>
              <a:t>04 AI 试穿</a:t>
            </a:r>
            <a:endParaRPr sz="1200" b="1" i="0">
              <a:solidFill>
                <a:srgbClr val="242A33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 rot="21599008">
            <a:off x="6159182" y="1962703"/>
            <a:ext cx="1297373" cy="493802"/>
          </a:xfrm>
          <a:prstGeom prst="rect">
            <a:avLst/>
          </a:prstGeom>
          <a:solidFill>
            <a:srgbClr val="3A5E8C">
              <a:alpha val="14000"/>
            </a:srgbClr>
          </a:solidFill>
          <a:ln>
            <a:noFill/>
          </a:ln>
          <a:effectLst>
            <a:softEdge rad="4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23" name="Rounded Rectangle 22"/>
          <p:cNvSpPr/>
          <p:nvPr/>
        </p:nvSpPr>
        <p:spPr>
          <a:xfrm>
            <a:off x="6159182" y="1962703"/>
            <a:ext cx="1297373" cy="493802"/>
          </a:xfrm>
          <a:prstGeom prst="roundRect">
            <a:avLst>
              <a:gd name="adj" fmla="val 6000"/>
            </a:avLst>
          </a:prstGeom>
          <a:noFill/>
          <a:ln w="10160">
            <a:solidFill>
              <a:srgbClr val="3A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24" name="TextBox 23"/>
          <p:cNvSpPr txBox="1"/>
          <p:nvPr/>
        </p:nvSpPr>
        <p:spPr>
          <a:xfrm>
            <a:off x="6159182" y="2127303"/>
            <a:ext cx="1331664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3A5E8C"/>
                </a:solidFill>
                <a:latin typeface="Helvetica Neue"/>
                <a:ea typeface="微软雅黑" panose="020B0503020204020204" charset="-122"/>
              </a:rPr>
              <a:t>05 对比选款</a:t>
            </a:r>
            <a:endParaRPr sz="1200" b="1" i="0">
              <a:solidFill>
                <a:srgbClr val="3A5E8C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 rot="52270">
            <a:off x="7490846" y="1962703"/>
            <a:ext cx="1297373" cy="493802"/>
          </a:xfrm>
          <a:prstGeom prst="rect">
            <a:avLst/>
          </a:prstGeom>
          <a:solidFill>
            <a:srgbClr val="4E729E">
              <a:alpha val="14000"/>
            </a:srgbClr>
          </a:solidFill>
          <a:ln>
            <a:noFill/>
          </a:ln>
          <a:effectLst>
            <a:softEdge rad="4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26" name="Rounded Rectangle 25"/>
          <p:cNvSpPr/>
          <p:nvPr/>
        </p:nvSpPr>
        <p:spPr>
          <a:xfrm>
            <a:off x="7490846" y="1962703"/>
            <a:ext cx="1297373" cy="493802"/>
          </a:xfrm>
          <a:prstGeom prst="roundRect">
            <a:avLst>
              <a:gd name="adj" fmla="val 6000"/>
            </a:avLst>
          </a:prstGeom>
          <a:noFill/>
          <a:ln w="10160">
            <a:solidFill>
              <a:srgbClr val="4E72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27" name="TextBox 26"/>
          <p:cNvSpPr txBox="1"/>
          <p:nvPr/>
        </p:nvSpPr>
        <p:spPr>
          <a:xfrm>
            <a:off x="7490846" y="2127303"/>
            <a:ext cx="1331664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4E729E"/>
                </a:solidFill>
                <a:latin typeface="Helvetica Neue"/>
                <a:ea typeface="微软雅黑" panose="020B0503020204020204" charset="-122"/>
              </a:rPr>
              <a:t>06 下单支付</a:t>
            </a:r>
            <a:endParaRPr sz="1200" b="1" i="0">
              <a:solidFill>
                <a:srgbClr val="4E729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 rot="6657">
            <a:off x="146689" y="2691968"/>
            <a:ext cx="617252" cy="308626"/>
          </a:xfrm>
          <a:prstGeom prst="roundRect">
            <a:avLst>
              <a:gd name="adj" fmla="val 8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29" name="TextBox 28"/>
          <p:cNvSpPr txBox="1"/>
          <p:nvPr/>
        </p:nvSpPr>
        <p:spPr>
          <a:xfrm>
            <a:off x="146689" y="2739977"/>
            <a:ext cx="617252" cy="114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用户行为</a:t>
            </a:r>
            <a:endParaRPr sz="750" b="1" i="0">
              <a:solidFill>
                <a:srgbClr val="2C4A6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 rot="21599242">
            <a:off x="866816" y="2705685"/>
            <a:ext cx="41150" cy="301768"/>
          </a:xfrm>
          <a:prstGeom prst="rect">
            <a:avLst/>
          </a:prstGeom>
          <a:solidFill>
            <a:srgbClr val="4E729E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32" name="TextBox 31"/>
          <p:cNvSpPr txBox="1"/>
          <p:nvPr/>
        </p:nvSpPr>
        <p:spPr>
          <a:xfrm>
            <a:off x="942258" y="2705685"/>
            <a:ext cx="1194497" cy="113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35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走进门店, 浏览货架陈列</a:t>
            </a:r>
            <a:endParaRPr sz="735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 rot="26440">
            <a:off x="2198480" y="2705685"/>
            <a:ext cx="41150" cy="301768"/>
          </a:xfrm>
          <a:prstGeom prst="rect">
            <a:avLst/>
          </a:prstGeom>
          <a:solidFill>
            <a:srgbClr val="3A5E8C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34" name="TextBox 33"/>
          <p:cNvSpPr txBox="1"/>
          <p:nvPr/>
        </p:nvSpPr>
        <p:spPr>
          <a:xfrm>
            <a:off x="2273922" y="2705685"/>
            <a:ext cx="1194497" cy="113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35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在幻衣镜前扫码进入流程</a:t>
            </a:r>
            <a:endParaRPr sz="735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 rot="21566376">
            <a:off x="3530145" y="2705685"/>
            <a:ext cx="41150" cy="301768"/>
          </a:xfrm>
          <a:prstGeom prst="rect">
            <a:avLst/>
          </a:prstGeom>
          <a:solidFill>
            <a:srgbClr val="2C4A6E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36" name="TextBox 35"/>
          <p:cNvSpPr txBox="1"/>
          <p:nvPr/>
        </p:nvSpPr>
        <p:spPr>
          <a:xfrm>
            <a:off x="3605587" y="2705685"/>
            <a:ext cx="1194497" cy="113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35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输入身高/体重/三围</a:t>
            </a:r>
            <a:endParaRPr sz="735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 rot="21579370">
            <a:off x="4861809" y="2705685"/>
            <a:ext cx="41150" cy="301768"/>
          </a:xfrm>
          <a:prstGeom prst="rect">
            <a:avLst/>
          </a:prstGeom>
          <a:solidFill>
            <a:srgbClr val="242A33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38" name="TextBox 37"/>
          <p:cNvSpPr txBox="1"/>
          <p:nvPr/>
        </p:nvSpPr>
        <p:spPr>
          <a:xfrm>
            <a:off x="4937251" y="2705685"/>
            <a:ext cx="1194497" cy="113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35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AI 生成 3 套上身效果</a:t>
            </a:r>
            <a:endParaRPr sz="735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 rot="11631">
            <a:off x="6193474" y="2705685"/>
            <a:ext cx="41150" cy="301768"/>
          </a:xfrm>
          <a:prstGeom prst="rect">
            <a:avLst/>
          </a:prstGeom>
          <a:solidFill>
            <a:srgbClr val="3A5E8C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40" name="TextBox 39"/>
          <p:cNvSpPr txBox="1"/>
          <p:nvPr/>
        </p:nvSpPr>
        <p:spPr>
          <a:xfrm>
            <a:off x="6268915" y="2705685"/>
            <a:ext cx="1194497" cy="113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35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对比版型面料选定尺码</a:t>
            </a:r>
            <a:endParaRPr sz="735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 rot="21535208">
            <a:off x="7525138" y="2705685"/>
            <a:ext cx="41150" cy="301768"/>
          </a:xfrm>
          <a:prstGeom prst="rect">
            <a:avLst/>
          </a:prstGeom>
          <a:solidFill>
            <a:srgbClr val="4E729E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42" name="TextBox 41"/>
          <p:cNvSpPr txBox="1"/>
          <p:nvPr/>
        </p:nvSpPr>
        <p:spPr>
          <a:xfrm>
            <a:off x="7600580" y="2705685"/>
            <a:ext cx="1194497" cy="113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35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扫码支付或线上下单</a:t>
            </a:r>
            <a:endParaRPr sz="735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43" name="Connector 42"/>
          <p:cNvCxnSpPr/>
          <p:nvPr/>
        </p:nvCxnSpPr>
        <p:spPr>
          <a:xfrm>
            <a:off x="832524" y="3010885"/>
            <a:ext cx="7989986" cy="0"/>
          </a:xfrm>
          <a:prstGeom prst="line">
            <a:avLst/>
          </a:prstGeom>
          <a:ln w="6350">
            <a:solidFill>
              <a:srgbClr val="E2E8F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 rot="66415">
            <a:off x="146689" y="3268063"/>
            <a:ext cx="617252" cy="308626"/>
          </a:xfrm>
          <a:prstGeom prst="roundRect">
            <a:avLst>
              <a:gd name="adj" fmla="val 8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45" name="TextBox 44"/>
          <p:cNvSpPr txBox="1"/>
          <p:nvPr/>
        </p:nvSpPr>
        <p:spPr>
          <a:xfrm>
            <a:off x="146689" y="3316072"/>
            <a:ext cx="617252" cy="114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前台触点</a:t>
            </a:r>
            <a:endParaRPr sz="750" b="1" i="0">
              <a:solidFill>
                <a:srgbClr val="2C4A6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 rot="21586937">
            <a:off x="866816" y="3281780"/>
            <a:ext cx="41150" cy="301768"/>
          </a:xfrm>
          <a:prstGeom prst="rect">
            <a:avLst/>
          </a:prstGeom>
          <a:solidFill>
            <a:srgbClr val="4E729E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47" name="TextBox 46"/>
          <p:cNvSpPr txBox="1"/>
          <p:nvPr/>
        </p:nvSpPr>
        <p:spPr>
          <a:xfrm>
            <a:off x="942258" y="3281780"/>
            <a:ext cx="1194497" cy="113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35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门店陈列区 · 导购在场</a:t>
            </a:r>
            <a:endParaRPr sz="735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 rot="37467">
            <a:off x="2198480" y="3281780"/>
            <a:ext cx="41150" cy="301768"/>
          </a:xfrm>
          <a:prstGeom prst="rect">
            <a:avLst/>
          </a:prstGeom>
          <a:solidFill>
            <a:srgbClr val="3A5E8C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49" name="TextBox 48"/>
          <p:cNvSpPr txBox="1"/>
          <p:nvPr/>
        </p:nvSpPr>
        <p:spPr>
          <a:xfrm>
            <a:off x="2273922" y="3281780"/>
            <a:ext cx="1194497" cy="113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35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幻衣智能试衣镜</a:t>
            </a:r>
            <a:endParaRPr sz="735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50" name="Rectangle 49"/>
          <p:cNvSpPr/>
          <p:nvPr/>
        </p:nvSpPr>
        <p:spPr>
          <a:xfrm rot="45649">
            <a:off x="3530145" y="3281780"/>
            <a:ext cx="41150" cy="301768"/>
          </a:xfrm>
          <a:prstGeom prst="rect">
            <a:avLst/>
          </a:prstGeom>
          <a:solidFill>
            <a:srgbClr val="2C4A6E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51" name="TextBox 50"/>
          <p:cNvSpPr txBox="1"/>
          <p:nvPr/>
        </p:nvSpPr>
        <p:spPr>
          <a:xfrm>
            <a:off x="3605587" y="3281780"/>
            <a:ext cx="1194497" cy="113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35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触屏数据录入界面</a:t>
            </a:r>
            <a:endParaRPr sz="735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52" name="Rectangle 51"/>
          <p:cNvSpPr/>
          <p:nvPr/>
        </p:nvSpPr>
        <p:spPr>
          <a:xfrm rot="33714">
            <a:off x="4861809" y="3281780"/>
            <a:ext cx="41150" cy="301768"/>
          </a:xfrm>
          <a:prstGeom prst="rect">
            <a:avLst/>
          </a:prstGeom>
          <a:solidFill>
            <a:srgbClr val="242A33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53" name="TextBox 52"/>
          <p:cNvSpPr txBox="1"/>
          <p:nvPr/>
        </p:nvSpPr>
        <p:spPr>
          <a:xfrm>
            <a:off x="4937251" y="3281780"/>
            <a:ext cx="1194497" cy="113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35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AI 虚拟试穿界面</a:t>
            </a:r>
            <a:endParaRPr sz="735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54" name="Rectangle 53"/>
          <p:cNvSpPr/>
          <p:nvPr/>
        </p:nvSpPr>
        <p:spPr>
          <a:xfrm rot="21559013">
            <a:off x="6193474" y="3281780"/>
            <a:ext cx="41150" cy="301768"/>
          </a:xfrm>
          <a:prstGeom prst="rect">
            <a:avLst/>
          </a:prstGeom>
          <a:solidFill>
            <a:srgbClr val="3A5E8C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55" name="TextBox 54"/>
          <p:cNvSpPr txBox="1"/>
          <p:nvPr/>
        </p:nvSpPr>
        <p:spPr>
          <a:xfrm>
            <a:off x="6268915" y="3281780"/>
            <a:ext cx="1194497" cy="113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35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多件对比选款界面</a:t>
            </a:r>
            <a:endParaRPr sz="735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56" name="Rectangle 55"/>
          <p:cNvSpPr/>
          <p:nvPr/>
        </p:nvSpPr>
        <p:spPr>
          <a:xfrm rot="70248">
            <a:off x="7525138" y="3281780"/>
            <a:ext cx="41150" cy="301768"/>
          </a:xfrm>
          <a:prstGeom prst="rect">
            <a:avLst/>
          </a:prstGeom>
          <a:solidFill>
            <a:srgbClr val="4E729E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57" name="TextBox 56"/>
          <p:cNvSpPr txBox="1"/>
          <p:nvPr/>
        </p:nvSpPr>
        <p:spPr>
          <a:xfrm>
            <a:off x="7600580" y="3281780"/>
            <a:ext cx="1194497" cy="113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35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支付码 / 电商下单页</a:t>
            </a:r>
            <a:endParaRPr sz="735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58" name="Connector 57"/>
          <p:cNvCxnSpPr/>
          <p:nvPr/>
        </p:nvCxnSpPr>
        <p:spPr>
          <a:xfrm>
            <a:off x="832524" y="3769859"/>
            <a:ext cx="7989986" cy="0"/>
          </a:xfrm>
          <a:prstGeom prst="line">
            <a:avLst/>
          </a:prstGeom>
          <a:ln w="6350">
            <a:solidFill>
              <a:srgbClr val="E2E8F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 rot="21567561">
            <a:off x="146689" y="3889878"/>
            <a:ext cx="617252" cy="308626"/>
          </a:xfrm>
          <a:prstGeom prst="roundRect">
            <a:avLst>
              <a:gd name="adj" fmla="val 8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60" name="TextBox 59"/>
          <p:cNvSpPr txBox="1"/>
          <p:nvPr/>
        </p:nvSpPr>
        <p:spPr>
          <a:xfrm>
            <a:off x="146689" y="3937886"/>
            <a:ext cx="617252" cy="114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后台系统</a:t>
            </a:r>
            <a:endParaRPr sz="750" b="1" i="0">
              <a:solidFill>
                <a:srgbClr val="2C4A6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62" name="Rectangle 61"/>
          <p:cNvSpPr/>
          <p:nvPr/>
        </p:nvSpPr>
        <p:spPr>
          <a:xfrm rot="69931">
            <a:off x="866816" y="3903595"/>
            <a:ext cx="41150" cy="301768"/>
          </a:xfrm>
          <a:prstGeom prst="rect">
            <a:avLst/>
          </a:prstGeom>
          <a:solidFill>
            <a:srgbClr val="4E729E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63" name="TextBox 62"/>
          <p:cNvSpPr txBox="1"/>
          <p:nvPr/>
        </p:nvSpPr>
        <p:spPr>
          <a:xfrm>
            <a:off x="942258" y="3903595"/>
            <a:ext cx="1194497" cy="113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35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导购远程响应, 客流监测</a:t>
            </a:r>
            <a:endParaRPr sz="735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64" name="Rectangle 63"/>
          <p:cNvSpPr/>
          <p:nvPr/>
        </p:nvSpPr>
        <p:spPr>
          <a:xfrm rot="69180">
            <a:off x="2198480" y="3903595"/>
            <a:ext cx="41150" cy="301768"/>
          </a:xfrm>
          <a:prstGeom prst="rect">
            <a:avLst/>
          </a:prstGeom>
          <a:solidFill>
            <a:srgbClr val="3A5E8C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65" name="TextBox 64"/>
          <p:cNvSpPr txBox="1"/>
          <p:nvPr/>
        </p:nvSpPr>
        <p:spPr>
          <a:xfrm>
            <a:off x="2273922" y="3903595"/>
            <a:ext cx="1194497" cy="113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35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图像识别, 用户 ID 绑定</a:t>
            </a:r>
            <a:endParaRPr sz="735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66" name="Rectangle 65"/>
          <p:cNvSpPr/>
          <p:nvPr/>
        </p:nvSpPr>
        <p:spPr>
          <a:xfrm rot="53920">
            <a:off x="3530145" y="3903595"/>
            <a:ext cx="41150" cy="301768"/>
          </a:xfrm>
          <a:prstGeom prst="rect">
            <a:avLst/>
          </a:prstGeom>
          <a:solidFill>
            <a:srgbClr val="2C4A6E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67" name="TextBox 66"/>
          <p:cNvSpPr txBox="1"/>
          <p:nvPr/>
        </p:nvSpPr>
        <p:spPr>
          <a:xfrm>
            <a:off x="3605587" y="3903595"/>
            <a:ext cx="1194497" cy="113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35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身材数据建模</a:t>
            </a:r>
            <a:endParaRPr sz="735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68" name="Rectangle 67"/>
          <p:cNvSpPr/>
          <p:nvPr/>
        </p:nvSpPr>
        <p:spPr>
          <a:xfrm rot="63071">
            <a:off x="4861809" y="3903595"/>
            <a:ext cx="41150" cy="301768"/>
          </a:xfrm>
          <a:prstGeom prst="rect">
            <a:avLst/>
          </a:prstGeom>
          <a:solidFill>
            <a:srgbClr val="242A33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69" name="TextBox 68"/>
          <p:cNvSpPr txBox="1"/>
          <p:nvPr/>
        </p:nvSpPr>
        <p:spPr>
          <a:xfrm>
            <a:off x="4937251" y="3903595"/>
            <a:ext cx="1194497" cy="113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35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虚拟试穿引擎渲染</a:t>
            </a:r>
            <a:endParaRPr sz="735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70" name="Rectangle 69"/>
          <p:cNvSpPr/>
          <p:nvPr/>
        </p:nvSpPr>
        <p:spPr>
          <a:xfrm rot="66156">
            <a:off x="6193474" y="3903595"/>
            <a:ext cx="41150" cy="301768"/>
          </a:xfrm>
          <a:prstGeom prst="rect">
            <a:avLst/>
          </a:prstGeom>
          <a:solidFill>
            <a:srgbClr val="3A5E8C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71" name="TextBox 70"/>
          <p:cNvSpPr txBox="1"/>
          <p:nvPr/>
        </p:nvSpPr>
        <p:spPr>
          <a:xfrm>
            <a:off x="6268915" y="3903595"/>
            <a:ext cx="1194497" cy="113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35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门店库存实时查询</a:t>
            </a:r>
            <a:endParaRPr sz="735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72" name="Rectangle 71"/>
          <p:cNvSpPr/>
          <p:nvPr/>
        </p:nvSpPr>
        <p:spPr>
          <a:xfrm rot="21531">
            <a:off x="7525138" y="3903595"/>
            <a:ext cx="41150" cy="301768"/>
          </a:xfrm>
          <a:prstGeom prst="rect">
            <a:avLst/>
          </a:prstGeom>
          <a:solidFill>
            <a:srgbClr val="4E729E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73" name="TextBox 72"/>
          <p:cNvSpPr txBox="1"/>
          <p:nvPr/>
        </p:nvSpPr>
        <p:spPr>
          <a:xfrm>
            <a:off x="7600580" y="3903595"/>
            <a:ext cx="1194497" cy="113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35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CRM 会员 · 订单生成</a:t>
            </a:r>
            <a:endParaRPr sz="735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74" name="Connector 73"/>
          <p:cNvCxnSpPr/>
          <p:nvPr/>
        </p:nvCxnSpPr>
        <p:spPr>
          <a:xfrm>
            <a:off x="832524" y="4591699"/>
            <a:ext cx="7989986" cy="0"/>
          </a:xfrm>
          <a:prstGeom prst="line">
            <a:avLst/>
          </a:prstGeom>
          <a:ln w="6350">
            <a:solidFill>
              <a:srgbClr val="E2E8F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 rot="52717">
            <a:off x="146689" y="4528838"/>
            <a:ext cx="617252" cy="308626"/>
          </a:xfrm>
          <a:prstGeom prst="roundRect">
            <a:avLst>
              <a:gd name="adj" fmla="val 8000"/>
            </a:avLst>
          </a:prstGeom>
          <a:solidFill>
            <a:srgbClr val="2C4A6E">
              <a:alpha val="100000"/>
            </a:srgbClr>
          </a:solidFill>
          <a:ln w="6350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76" name="TextBox 75"/>
          <p:cNvSpPr txBox="1"/>
          <p:nvPr/>
        </p:nvSpPr>
        <p:spPr>
          <a:xfrm>
            <a:off x="146689" y="4576846"/>
            <a:ext cx="617252" cy="114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F1F5F9"/>
                </a:solidFill>
                <a:latin typeface="Helvetica Neue"/>
                <a:ea typeface="微软雅黑" panose="020B0503020204020204" charset="-122"/>
              </a:rPr>
              <a:t>AI 引擎</a:t>
            </a:r>
            <a:endParaRPr sz="750" b="1" i="0">
              <a:solidFill>
                <a:srgbClr val="F1F5F9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77" name="Rectangle 76"/>
          <p:cNvSpPr/>
          <p:nvPr/>
        </p:nvSpPr>
        <p:spPr>
          <a:xfrm rot="14019">
            <a:off x="866816" y="4542554"/>
            <a:ext cx="41150" cy="301768"/>
          </a:xfrm>
          <a:prstGeom prst="rect">
            <a:avLst/>
          </a:prstGeom>
          <a:solidFill>
            <a:srgbClr val="4E729E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78" name="TextBox 77"/>
          <p:cNvSpPr txBox="1"/>
          <p:nvPr/>
        </p:nvSpPr>
        <p:spPr>
          <a:xfrm>
            <a:off x="942258" y="4542554"/>
            <a:ext cx="1194497" cy="113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35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客流识别 · 体态预采集</a:t>
            </a:r>
            <a:endParaRPr sz="735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79" name="Rectangle 78"/>
          <p:cNvSpPr/>
          <p:nvPr/>
        </p:nvSpPr>
        <p:spPr>
          <a:xfrm rot="21579191">
            <a:off x="2198480" y="4542554"/>
            <a:ext cx="41150" cy="301768"/>
          </a:xfrm>
          <a:prstGeom prst="rect">
            <a:avLst/>
          </a:prstGeom>
          <a:solidFill>
            <a:srgbClr val="3A5E8C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80" name="TextBox 79"/>
          <p:cNvSpPr txBox="1"/>
          <p:nvPr/>
        </p:nvSpPr>
        <p:spPr>
          <a:xfrm>
            <a:off x="2273922" y="4542554"/>
            <a:ext cx="1194497" cy="113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35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人脸/体态识别</a:t>
            </a:r>
            <a:endParaRPr sz="735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81" name="Rectangle 80"/>
          <p:cNvSpPr/>
          <p:nvPr/>
        </p:nvSpPr>
        <p:spPr>
          <a:xfrm rot="21568412">
            <a:off x="3530145" y="4542554"/>
            <a:ext cx="41150" cy="301768"/>
          </a:xfrm>
          <a:prstGeom prst="rect">
            <a:avLst/>
          </a:prstGeom>
          <a:solidFill>
            <a:srgbClr val="2C4A6E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82" name="TextBox 81"/>
          <p:cNvSpPr txBox="1"/>
          <p:nvPr/>
        </p:nvSpPr>
        <p:spPr>
          <a:xfrm>
            <a:off x="3605587" y="4542554"/>
            <a:ext cx="1194497" cy="113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35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尺码智能推荐</a:t>
            </a:r>
            <a:endParaRPr sz="735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83" name="Rectangle 82"/>
          <p:cNvSpPr/>
          <p:nvPr/>
        </p:nvSpPr>
        <p:spPr>
          <a:xfrm rot="3361">
            <a:off x="4861809" y="4542554"/>
            <a:ext cx="41150" cy="301768"/>
          </a:xfrm>
          <a:prstGeom prst="rect">
            <a:avLst/>
          </a:prstGeom>
          <a:solidFill>
            <a:srgbClr val="242A33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84" name="TextBox 83"/>
          <p:cNvSpPr txBox="1"/>
          <p:nvPr/>
        </p:nvSpPr>
        <p:spPr>
          <a:xfrm>
            <a:off x="4937251" y="4542554"/>
            <a:ext cx="1194497" cy="113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35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多件一键试穿</a:t>
            </a:r>
            <a:endParaRPr sz="735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85" name="Rectangle 84"/>
          <p:cNvSpPr/>
          <p:nvPr/>
        </p:nvSpPr>
        <p:spPr>
          <a:xfrm rot="21576247">
            <a:off x="6193474" y="4542554"/>
            <a:ext cx="41150" cy="301768"/>
          </a:xfrm>
          <a:prstGeom prst="rect">
            <a:avLst/>
          </a:prstGeom>
          <a:solidFill>
            <a:srgbClr val="3A5E8C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86" name="TextBox 85"/>
          <p:cNvSpPr txBox="1"/>
          <p:nvPr/>
        </p:nvSpPr>
        <p:spPr>
          <a:xfrm>
            <a:off x="6268915" y="4542554"/>
            <a:ext cx="1194497" cy="113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35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库存联动校验</a:t>
            </a:r>
            <a:endParaRPr sz="735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87" name="Rectangle 86"/>
          <p:cNvSpPr/>
          <p:nvPr/>
        </p:nvSpPr>
        <p:spPr>
          <a:xfrm rot="59462">
            <a:off x="7525138" y="4542554"/>
            <a:ext cx="41150" cy="301768"/>
          </a:xfrm>
          <a:prstGeom prst="rect">
            <a:avLst/>
          </a:prstGeom>
          <a:solidFill>
            <a:srgbClr val="4E729E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88" name="TextBox 87"/>
          <p:cNvSpPr txBox="1"/>
          <p:nvPr/>
        </p:nvSpPr>
        <p:spPr>
          <a:xfrm>
            <a:off x="7600580" y="4542554"/>
            <a:ext cx="1194497" cy="113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35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偏好数据沉淀</a:t>
            </a:r>
            <a:endParaRPr sz="735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89" name="Connector 88"/>
          <p:cNvCxnSpPr/>
          <p:nvPr/>
        </p:nvCxnSpPr>
        <p:spPr>
          <a:xfrm>
            <a:off x="832524" y="5007774"/>
            <a:ext cx="7989986" cy="0"/>
          </a:xfrm>
          <a:prstGeom prst="line">
            <a:avLst/>
          </a:prstGeom>
          <a:ln w="6350">
            <a:solidFill>
              <a:srgbClr val="E2E8F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/>
          <p:cNvSpPr/>
          <p:nvPr/>
        </p:nvSpPr>
        <p:spPr>
          <a:xfrm rot="66527">
            <a:off x="146689" y="5076358"/>
            <a:ext cx="617252" cy="308626"/>
          </a:xfrm>
          <a:prstGeom prst="roundRect">
            <a:avLst>
              <a:gd name="adj" fmla="val 8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91" name="TextBox 90"/>
          <p:cNvSpPr txBox="1"/>
          <p:nvPr/>
        </p:nvSpPr>
        <p:spPr>
          <a:xfrm>
            <a:off x="146689" y="5124366"/>
            <a:ext cx="617252" cy="114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数据层</a:t>
            </a:r>
            <a:endParaRPr sz="750" b="1" i="0">
              <a:solidFill>
                <a:srgbClr val="2C4A6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832524" y="5021491"/>
            <a:ext cx="7989986" cy="438935"/>
          </a:xfrm>
          <a:prstGeom prst="rect">
            <a:avLst/>
          </a:prstGeom>
          <a:solidFill>
            <a:srgbClr val="E8EEF6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93" name="Rectangle 92"/>
          <p:cNvSpPr/>
          <p:nvPr/>
        </p:nvSpPr>
        <p:spPr>
          <a:xfrm rot="57918">
            <a:off x="866816" y="5090074"/>
            <a:ext cx="41150" cy="301768"/>
          </a:xfrm>
          <a:prstGeom prst="rect">
            <a:avLst/>
          </a:prstGeom>
          <a:solidFill>
            <a:srgbClr val="4E729E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94" name="TextBox 93"/>
          <p:cNvSpPr txBox="1"/>
          <p:nvPr/>
        </p:nvSpPr>
        <p:spPr>
          <a:xfrm>
            <a:off x="942258" y="5090074"/>
            <a:ext cx="1194497" cy="113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35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客流热力 · 商品曝光</a:t>
            </a:r>
            <a:endParaRPr sz="735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95" name="Rectangle 94"/>
          <p:cNvSpPr/>
          <p:nvPr/>
        </p:nvSpPr>
        <p:spPr>
          <a:xfrm rot="21559826">
            <a:off x="2198480" y="5090074"/>
            <a:ext cx="41150" cy="301768"/>
          </a:xfrm>
          <a:prstGeom prst="rect">
            <a:avLst/>
          </a:prstGeom>
          <a:solidFill>
            <a:srgbClr val="3A5E8C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96" name="TextBox 95"/>
          <p:cNvSpPr txBox="1"/>
          <p:nvPr/>
        </p:nvSpPr>
        <p:spPr>
          <a:xfrm>
            <a:off x="2273922" y="5090074"/>
            <a:ext cx="1194497" cy="113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35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用户 ID · 扫码记录</a:t>
            </a:r>
            <a:endParaRPr sz="735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97" name="Rectangle 96"/>
          <p:cNvSpPr/>
          <p:nvPr/>
        </p:nvSpPr>
        <p:spPr>
          <a:xfrm rot="23920">
            <a:off x="3530145" y="5090074"/>
            <a:ext cx="41150" cy="301768"/>
          </a:xfrm>
          <a:prstGeom prst="rect">
            <a:avLst/>
          </a:prstGeom>
          <a:solidFill>
            <a:srgbClr val="2C4A6E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98" name="TextBox 97"/>
          <p:cNvSpPr txBox="1"/>
          <p:nvPr/>
        </p:nvSpPr>
        <p:spPr>
          <a:xfrm>
            <a:off x="3605587" y="5090074"/>
            <a:ext cx="1194497" cy="113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35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身材档案数据</a:t>
            </a:r>
            <a:endParaRPr sz="735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99" name="Rectangle 98"/>
          <p:cNvSpPr/>
          <p:nvPr/>
        </p:nvSpPr>
        <p:spPr>
          <a:xfrm rot="69226">
            <a:off x="4861809" y="5090074"/>
            <a:ext cx="41150" cy="301768"/>
          </a:xfrm>
          <a:prstGeom prst="rect">
            <a:avLst/>
          </a:prstGeom>
          <a:solidFill>
            <a:srgbClr val="242A33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100" name="TextBox 99"/>
          <p:cNvSpPr txBox="1"/>
          <p:nvPr/>
        </p:nvSpPr>
        <p:spPr>
          <a:xfrm>
            <a:off x="4937251" y="5090074"/>
            <a:ext cx="1194497" cy="113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35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试穿偏好记录</a:t>
            </a:r>
            <a:endParaRPr sz="735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01" name="Rectangle 100"/>
          <p:cNvSpPr/>
          <p:nvPr/>
        </p:nvSpPr>
        <p:spPr>
          <a:xfrm rot="67776">
            <a:off x="6193474" y="5090074"/>
            <a:ext cx="41150" cy="301768"/>
          </a:xfrm>
          <a:prstGeom prst="rect">
            <a:avLst/>
          </a:prstGeom>
          <a:solidFill>
            <a:srgbClr val="3A5E8C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102" name="TextBox 101"/>
          <p:cNvSpPr txBox="1"/>
          <p:nvPr/>
        </p:nvSpPr>
        <p:spPr>
          <a:xfrm>
            <a:off x="6268915" y="5090074"/>
            <a:ext cx="1194497" cy="113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35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款式偏好标签</a:t>
            </a:r>
            <a:endParaRPr sz="735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03" name="Rectangle 102"/>
          <p:cNvSpPr/>
          <p:nvPr/>
        </p:nvSpPr>
        <p:spPr>
          <a:xfrm rot="58915">
            <a:off x="7525138" y="5090074"/>
            <a:ext cx="41150" cy="301768"/>
          </a:xfrm>
          <a:prstGeom prst="rect">
            <a:avLst/>
          </a:prstGeom>
          <a:solidFill>
            <a:srgbClr val="4E729E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104" name="TextBox 103"/>
          <p:cNvSpPr txBox="1"/>
          <p:nvPr/>
        </p:nvSpPr>
        <p:spPr>
          <a:xfrm>
            <a:off x="7600580" y="5090074"/>
            <a:ext cx="1194497" cy="113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35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订单 · 积分 · 评价</a:t>
            </a:r>
            <a:endParaRPr sz="735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105" name="Connector 104"/>
          <p:cNvCxnSpPr/>
          <p:nvPr/>
        </p:nvCxnSpPr>
        <p:spPr>
          <a:xfrm>
            <a:off x="832524" y="5446709"/>
            <a:ext cx="7989986" cy="0"/>
          </a:xfrm>
          <a:prstGeom prst="line">
            <a:avLst/>
          </a:prstGeom>
          <a:ln w="6350">
            <a:solidFill>
              <a:srgbClr val="E2E8F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2164189" y="2277028"/>
            <a:ext cx="0" cy="2743343"/>
          </a:xfrm>
          <a:prstGeom prst="line">
            <a:avLst/>
          </a:prstGeom>
          <a:ln w="5080">
            <a:solidFill>
              <a:srgbClr val="E2E8F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3495853" y="2277028"/>
            <a:ext cx="0" cy="2743343"/>
          </a:xfrm>
          <a:prstGeom prst="line">
            <a:avLst/>
          </a:prstGeom>
          <a:ln w="5080">
            <a:solidFill>
              <a:srgbClr val="E2E8F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4827517" y="2277028"/>
            <a:ext cx="0" cy="2743343"/>
          </a:xfrm>
          <a:prstGeom prst="line">
            <a:avLst/>
          </a:prstGeom>
          <a:ln w="5080">
            <a:solidFill>
              <a:srgbClr val="E2E8F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6159182" y="2277028"/>
            <a:ext cx="0" cy="2743343"/>
          </a:xfrm>
          <a:prstGeom prst="line">
            <a:avLst/>
          </a:prstGeom>
          <a:ln w="5080">
            <a:solidFill>
              <a:srgbClr val="E2E8F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7490846" y="2277028"/>
            <a:ext cx="0" cy="2743343"/>
          </a:xfrm>
          <a:prstGeom prst="line">
            <a:avLst/>
          </a:prstGeom>
          <a:ln w="5080">
            <a:solidFill>
              <a:srgbClr val="E2E8F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Rounded Rectangle 112"/>
          <p:cNvSpPr/>
          <p:nvPr/>
        </p:nvSpPr>
        <p:spPr>
          <a:xfrm rot="21593344">
            <a:off x="377210" y="5823678"/>
            <a:ext cx="8367196" cy="377210"/>
          </a:xfrm>
          <a:prstGeom prst="roundRect">
            <a:avLst>
              <a:gd name="adj" fmla="val 6000"/>
            </a:avLst>
          </a:prstGeom>
          <a:solidFill>
            <a:srgbClr val="ECF0F6">
              <a:alpha val="100000"/>
            </a:srgbClr>
          </a:solidFill>
          <a:ln w="6350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114" name="TextBox 113"/>
          <p:cNvSpPr txBox="1"/>
          <p:nvPr/>
        </p:nvSpPr>
        <p:spPr>
          <a:xfrm>
            <a:off x="514377" y="5878545"/>
            <a:ext cx="8092862" cy="2908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9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流程解读: 用户从进店浏览到扫码识别, 经身材录入后由 AI 引擎生成上身效果, 对比选款后下单支付。AI 引擎层是唯一贯穿全流程的智能层, 在第 04 阶段(AI 试穿)达价值峰值; 数据层于第 06 阶段沉淀订单与偏好, 回流设计端形成闭环。后台系统层负责导购响应、图像识别、库存与 CRM 协同。</a:t>
            </a:r>
            <a:endParaRPr sz="79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11" name="Rectangle 12"/>
          <p:cNvSpPr/>
          <p:nvPr/>
        </p:nvSpPr>
        <p:spPr>
          <a:xfrm rot="33599">
            <a:off x="4831824" y="1969053"/>
            <a:ext cx="1297373" cy="493802"/>
          </a:xfrm>
          <a:prstGeom prst="rect">
            <a:avLst/>
          </a:prstGeom>
          <a:solidFill>
            <a:srgbClr val="3A5E8C">
              <a:alpha val="14000"/>
            </a:srgbClr>
          </a:solidFill>
          <a:ln>
            <a:noFill/>
          </a:ln>
          <a:effectLst>
            <a:softEdge rad="4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42162">
            <a:off x="384068" y="404500"/>
            <a:ext cx="54867" cy="246901"/>
          </a:xfrm>
          <a:prstGeom prst="rect">
            <a:avLst/>
          </a:prstGeom>
          <a:solidFill>
            <a:srgbClr val="2C4A6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TextBox 2"/>
          <p:cNvSpPr txBox="1"/>
          <p:nvPr/>
        </p:nvSpPr>
        <p:spPr>
          <a:xfrm>
            <a:off x="493802" y="390783"/>
            <a:ext cx="6515439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242A33"/>
                </a:solidFill>
                <a:latin typeface="Helvetica Neue"/>
                <a:ea typeface="微软雅黑" panose="020B0503020204020204" charset="-122"/>
              </a:rPr>
              <a:t>2.2  服务定义 · 商业模式定位</a:t>
            </a:r>
            <a:endParaRPr sz="1600" b="1" i="0">
              <a:solidFill>
                <a:srgbClr val="242A33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16805" y="665118"/>
            <a:ext cx="6515439" cy="136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90" b="0" i="0" spc="40">
                <a:solidFill>
                  <a:srgbClr val="6A7482"/>
                </a:solidFill>
                <a:latin typeface="Helvetica Neue"/>
                <a:ea typeface="微软雅黑" panose="020B0503020204020204" charset="-122"/>
              </a:rPr>
              <a:t>BUSINESS MODEL  /  STAKEHOLDER MAP</a:t>
            </a:r>
            <a:endParaRPr sz="890" b="0" i="0" spc="40">
              <a:solidFill>
                <a:srgbClr val="6A7482"/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384068" y="637684"/>
            <a:ext cx="4691116" cy="0"/>
          </a:xfrm>
          <a:prstGeom prst="line">
            <a:avLst/>
          </a:prstGeom>
          <a:ln w="9525">
            <a:solidFill>
              <a:srgbClr val="E2E8F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77210" y="6311766"/>
            <a:ext cx="5143768" cy="130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9AA2AE"/>
                </a:solidFill>
                <a:latin typeface="Helvetica Neue"/>
                <a:ea typeface="微软雅黑" panose="020B0503020204020204" charset="-122"/>
              </a:rPr>
              <a:t>幻衣 · 产品系统设计 · STAGE 02</a:t>
            </a:r>
            <a:endParaRPr sz="850" b="0" i="0">
              <a:solidFill>
                <a:srgbClr val="9AA2AE"/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384068" y="6284333"/>
            <a:ext cx="8380913" cy="0"/>
          </a:xfrm>
          <a:prstGeom prst="line">
            <a:avLst/>
          </a:prstGeom>
          <a:ln w="6350">
            <a:solidFill>
              <a:srgbClr val="E2E8F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84068" y="1542952"/>
            <a:ext cx="7544193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C 端 / B 端 / 平台三方商业逻辑 + 利益相关者图谱</a:t>
            </a:r>
            <a:endParaRPr sz="140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0" name="Oval 9"/>
          <p:cNvSpPr/>
          <p:nvPr/>
        </p:nvSpPr>
        <p:spPr>
          <a:xfrm rot="1066">
            <a:off x="1224026" y="2018750"/>
            <a:ext cx="1959395" cy="1959395"/>
          </a:xfrm>
          <a:prstGeom prst="ellipse">
            <a:avLst/>
          </a:prstGeom>
          <a:solidFill>
            <a:srgbClr val="4E729E">
              <a:alpha val="22000"/>
            </a:srgbClr>
          </a:solidFill>
          <a:ln w="7620">
            <a:solidFill>
              <a:srgbClr val="D8E2EE"/>
            </a:solidFill>
          </a:ln>
          <a:effectLst>
            <a:softEdge rad="3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1224026" y="2210689"/>
            <a:ext cx="1959395" cy="19593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C 端
消费者</a:t>
            </a:r>
            <a:endParaRPr sz="1200" b="1" i="0">
              <a:solidFill>
                <a:srgbClr val="2C4A6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24026" y="3706192"/>
            <a:ext cx="1959395" cy="5805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820" b="0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免费获客
数据入口</a:t>
            </a:r>
            <a:endParaRPr sz="820" b="0" i="0">
              <a:solidFill>
                <a:srgbClr val="2C4A6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3" name="Oval 12"/>
          <p:cNvSpPr/>
          <p:nvPr/>
        </p:nvSpPr>
        <p:spPr>
          <a:xfrm rot="21592214">
            <a:off x="1965110" y="2018750"/>
            <a:ext cx="1959395" cy="1959395"/>
          </a:xfrm>
          <a:prstGeom prst="ellipse">
            <a:avLst/>
          </a:prstGeom>
          <a:solidFill>
            <a:srgbClr val="3A5E8C">
              <a:alpha val="22000"/>
            </a:srgbClr>
          </a:solidFill>
          <a:ln w="7620">
            <a:solidFill>
              <a:srgbClr val="D8E2EE"/>
            </a:solidFill>
          </a:ln>
          <a:effectLst>
            <a:softEdge rad="3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1965110" y="2210689"/>
            <a:ext cx="1959395" cy="19593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3A5E8C"/>
                </a:solidFill>
                <a:latin typeface="Helvetica Neue"/>
                <a:ea typeface="微软雅黑" panose="020B0503020204020204" charset="-122"/>
              </a:rPr>
              <a:t>B 端
设计师/品牌</a:t>
            </a:r>
            <a:endParaRPr sz="1200" b="1" i="0">
              <a:solidFill>
                <a:srgbClr val="3A5E8C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965110" y="3706192"/>
            <a:ext cx="1959395" cy="5805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820" b="0" i="0">
                <a:solidFill>
                  <a:srgbClr val="3A5E8C"/>
                </a:solidFill>
                <a:latin typeface="Helvetica Neue"/>
                <a:ea typeface="微软雅黑" panose="020B0503020204020204" charset="-122"/>
              </a:rPr>
              <a:t>SaaS 订阅
核心收入</a:t>
            </a:r>
            <a:endParaRPr sz="820" b="0" i="0">
              <a:solidFill>
                <a:srgbClr val="3A5E8C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6" name="Oval 15"/>
          <p:cNvSpPr/>
          <p:nvPr/>
        </p:nvSpPr>
        <p:spPr>
          <a:xfrm rot="38717">
            <a:off x="1594568" y="2805556"/>
            <a:ext cx="1959395" cy="1959395"/>
          </a:xfrm>
          <a:prstGeom prst="ellipse">
            <a:avLst/>
          </a:prstGeom>
          <a:solidFill>
            <a:srgbClr val="2C4A6E">
              <a:alpha val="22000"/>
            </a:srgbClr>
          </a:solidFill>
          <a:ln w="7620">
            <a:solidFill>
              <a:srgbClr val="D8E2EE"/>
            </a:solidFill>
          </a:ln>
          <a:effectLst>
            <a:softEdge rad="3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1594568" y="2997495"/>
            <a:ext cx="1959395" cy="19593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平台/品牌方</a:t>
            </a:r>
            <a:endParaRPr sz="1200" b="1" i="0">
              <a:solidFill>
                <a:srgbClr val="2C4A6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594568" y="4492998"/>
            <a:ext cx="1959395" cy="5805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820" b="0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交易佣金
硬件销售</a:t>
            </a:r>
            <a:endParaRPr sz="820" b="0" i="0">
              <a:solidFill>
                <a:srgbClr val="2C4A6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 rot="21578872">
            <a:off x="1585995" y="3071794"/>
            <a:ext cx="1799842" cy="580579"/>
          </a:xfrm>
          <a:prstGeom prst="roundRect">
            <a:avLst>
              <a:gd name="adj" fmla="val 10000"/>
            </a:avLst>
          </a:prstGeom>
          <a:solidFill>
            <a:srgbClr val="F1F5F9">
              <a:alpha val="100000"/>
            </a:srgbClr>
          </a:solidFill>
          <a:ln w="8890">
            <a:solidFill>
              <a:srgbClr val="4E72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TextBox 19"/>
          <p:cNvSpPr txBox="1"/>
          <p:nvPr/>
        </p:nvSpPr>
        <p:spPr>
          <a:xfrm>
            <a:off x="1585995" y="3129899"/>
            <a:ext cx="1799366" cy="52199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790" b="1" i="0">
                <a:solidFill>
                  <a:srgbClr val="4E729E"/>
                </a:solidFill>
                <a:latin typeface="Helvetica Neue"/>
                <a:ea typeface="微软雅黑" panose="020B0503020204020204" charset="-122"/>
              </a:rPr>
              <a:t>C∩技术
SaaS 技术授权</a:t>
            </a:r>
            <a:endParaRPr sz="790" b="1" i="0">
              <a:solidFill>
                <a:srgbClr val="4E729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 rot="21534087">
            <a:off x="2048934" y="3363274"/>
            <a:ext cx="1799842" cy="580579"/>
          </a:xfrm>
          <a:prstGeom prst="roundRect">
            <a:avLst>
              <a:gd name="adj" fmla="val 10000"/>
            </a:avLst>
          </a:prstGeom>
          <a:solidFill>
            <a:srgbClr val="F1F5F9">
              <a:alpha val="100000"/>
            </a:srgbClr>
          </a:solidFill>
          <a:ln w="8890">
            <a:solidFill>
              <a:srgbClr val="3A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TextBox 21"/>
          <p:cNvSpPr txBox="1"/>
          <p:nvPr/>
        </p:nvSpPr>
        <p:spPr>
          <a:xfrm>
            <a:off x="2048934" y="3421380"/>
            <a:ext cx="1799366" cy="52199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790" b="1" i="0">
                <a:solidFill>
                  <a:srgbClr val="3A5E8C"/>
                </a:solidFill>
                <a:latin typeface="Helvetica Neue"/>
                <a:ea typeface="微软雅黑" panose="020B0503020204020204" charset="-122"/>
              </a:rPr>
              <a:t>B∩技术
设备销售分润</a:t>
            </a:r>
            <a:endParaRPr sz="790" b="1" i="0">
              <a:solidFill>
                <a:srgbClr val="3A5E8C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 rot="21570954">
            <a:off x="1169255" y="3363274"/>
            <a:ext cx="1799842" cy="580579"/>
          </a:xfrm>
          <a:prstGeom prst="roundRect">
            <a:avLst>
              <a:gd name="adj" fmla="val 10000"/>
            </a:avLst>
          </a:prstGeom>
          <a:solidFill>
            <a:srgbClr val="F1F5F9">
              <a:alpha val="100000"/>
            </a:srgbClr>
          </a:solidFill>
          <a:ln w="889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4" name="TextBox 23"/>
          <p:cNvSpPr txBox="1"/>
          <p:nvPr/>
        </p:nvSpPr>
        <p:spPr>
          <a:xfrm>
            <a:off x="1169255" y="3421380"/>
            <a:ext cx="1799366" cy="52199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790" b="1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C∩B
交易佣金抽成</a:t>
            </a:r>
            <a:endParaRPr sz="790" b="1" i="0">
              <a:solidFill>
                <a:srgbClr val="2C4A6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25" name="Oval 24"/>
          <p:cNvSpPr/>
          <p:nvPr/>
        </p:nvSpPr>
        <p:spPr>
          <a:xfrm rot="2708">
            <a:off x="1796985" y="3177051"/>
            <a:ext cx="1102576" cy="1102576"/>
          </a:xfrm>
          <a:prstGeom prst="ellipse">
            <a:avLst/>
          </a:prstGeom>
          <a:solidFill>
            <a:srgbClr val="E4ECF4">
              <a:alpha val="85000"/>
            </a:srgbClr>
          </a:solidFill>
          <a:ln w="7620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6" name="TextBox 25"/>
          <p:cNvSpPr txBox="1"/>
          <p:nvPr/>
        </p:nvSpPr>
        <p:spPr>
          <a:xfrm>
            <a:off x="1796985" y="3545687"/>
            <a:ext cx="1101624" cy="50770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820" b="1" i="0">
                <a:solidFill>
                  <a:srgbClr val="3A5E8C"/>
                </a:solidFill>
                <a:latin typeface="Helvetica Neue"/>
                <a:ea typeface="微软雅黑" panose="020B0503020204020204" charset="-122"/>
              </a:rPr>
              <a:t>数据闭环
多元变现</a:t>
            </a:r>
            <a:endParaRPr sz="820" b="1" i="0">
              <a:solidFill>
                <a:srgbClr val="3A5E8C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206880" y="2763644"/>
            <a:ext cx="2177528" cy="3195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820" b="1" i="0">
                <a:solidFill>
                  <a:srgbClr val="4E729E"/>
                </a:solidFill>
                <a:latin typeface="Helvetica Neue"/>
                <a:ea typeface="微软雅黑" panose="020B0503020204020204" charset="-122"/>
              </a:rPr>
              <a:t>免费获客</a:t>
            </a:r>
            <a:endParaRPr sz="820" b="1" i="0">
              <a:solidFill>
                <a:srgbClr val="4E729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085131" y="2763644"/>
            <a:ext cx="2177528" cy="3195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820" b="1" i="0">
                <a:solidFill>
                  <a:srgbClr val="3A5E8C"/>
                </a:solidFill>
                <a:latin typeface="Helvetica Neue"/>
                <a:ea typeface="微软雅黑" panose="020B0503020204020204" charset="-122"/>
              </a:rPr>
              <a:t>SaaS 订阅</a:t>
            </a:r>
            <a:endParaRPr sz="820" b="1" i="0">
              <a:solidFill>
                <a:srgbClr val="3A5E8C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714589" y="4613495"/>
            <a:ext cx="2032265" cy="3195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820" b="1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佣金+硬件</a:t>
            </a:r>
            <a:endParaRPr sz="820" b="1" i="0">
              <a:solidFill>
                <a:srgbClr val="2C4A6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663683" y="1740606"/>
            <a:ext cx="4046431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42A33"/>
                </a:solidFill>
                <a:latin typeface="Helvetica Neue"/>
                <a:ea typeface="微软雅黑" panose="020B0503020204020204" charset="-122"/>
              </a:rPr>
              <a:t>利益相关者图谱 · Stakeholder Map</a:t>
            </a:r>
            <a:endParaRPr sz="1400" b="1" i="0">
              <a:solidFill>
                <a:srgbClr val="242A33"/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4677400" y="1980648"/>
            <a:ext cx="4018997" cy="0"/>
          </a:xfrm>
          <a:prstGeom prst="line">
            <a:avLst/>
          </a:prstGeom>
          <a:ln w="7620">
            <a:solidFill>
              <a:srgbClr val="E2E8F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 rot="13387">
            <a:off x="6172521" y="3146569"/>
            <a:ext cx="1646006" cy="651544"/>
          </a:xfrm>
          <a:prstGeom prst="roundRect">
            <a:avLst>
              <a:gd name="adj" fmla="val 10000"/>
            </a:avLst>
          </a:prstGeom>
          <a:solidFill>
            <a:srgbClr val="2C4A6E">
              <a:alpha val="100000"/>
            </a:srgbClr>
          </a:solidFill>
          <a:ln w="10160">
            <a:solidFill>
              <a:srgbClr val="2C4A6E"/>
            </a:solidFill>
          </a:ln>
          <a:effectLst>
            <a:softEdge rad="3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3" name="TextBox 32"/>
          <p:cNvSpPr txBox="1"/>
          <p:nvPr/>
        </p:nvSpPr>
        <p:spPr>
          <a:xfrm>
            <a:off x="6172521" y="3228869"/>
            <a:ext cx="1646006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1F5F9"/>
                </a:solidFill>
                <a:latin typeface="Helvetica Neue"/>
                <a:ea typeface="微软雅黑" panose="020B0503020204020204" charset="-122"/>
              </a:rPr>
              <a:t>幻衣平台</a:t>
            </a:r>
            <a:endParaRPr sz="1400" b="1" i="0">
              <a:solidFill>
                <a:srgbClr val="F1F5F9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172521" y="3434620"/>
            <a:ext cx="1646006" cy="130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E2E8F0"/>
                </a:solidFill>
                <a:latin typeface="Helvetica Neue"/>
                <a:ea typeface="微软雅黑" panose="020B0503020204020204" charset="-122"/>
              </a:rPr>
              <a:t>AI 引擎 + 数据中台</a:t>
            </a:r>
            <a:endParaRPr sz="850" b="0" i="0">
              <a:solidFill>
                <a:srgbClr val="E2E8F0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 rot="21586774">
            <a:off x="4869434" y="2220691"/>
            <a:ext cx="1303088" cy="425218"/>
          </a:xfrm>
          <a:prstGeom prst="roundRect">
            <a:avLst>
              <a:gd name="adj" fmla="val 10000"/>
            </a:avLst>
          </a:prstGeom>
          <a:solidFill>
            <a:srgbClr val="E4ECF4">
              <a:alpha val="100000"/>
            </a:srgbClr>
          </a:solidFill>
          <a:ln w="8890">
            <a:solidFill>
              <a:srgbClr val="4E72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6" name="TextBox 35"/>
          <p:cNvSpPr txBox="1"/>
          <p:nvPr/>
        </p:nvSpPr>
        <p:spPr>
          <a:xfrm>
            <a:off x="4869434" y="2268699"/>
            <a:ext cx="1303088" cy="153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1000" b="1" i="0">
                <a:solidFill>
                  <a:srgbClr val="4E729E"/>
                </a:solidFill>
                <a:latin typeface="Helvetica Neue"/>
                <a:ea typeface="微软雅黑" panose="020B0503020204020204" charset="-122"/>
              </a:rPr>
              <a:t>消费者</a:t>
            </a:r>
            <a:r>
              <a:rPr sz="1000" b="1" i="0">
                <a:solidFill>
                  <a:srgbClr val="4E729E"/>
                </a:solidFill>
                <a:latin typeface="Helvetica Neue"/>
                <a:ea typeface="微软雅黑" panose="020B0503020204020204" charset="-122"/>
              </a:rPr>
              <a:t>用户</a:t>
            </a:r>
            <a:endParaRPr sz="1000" b="1" i="0">
              <a:solidFill>
                <a:srgbClr val="4E729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924300" y="2440158"/>
            <a:ext cx="603535" cy="116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60" b="0" i="0">
                <a:solidFill>
                  <a:srgbClr val="6A7482"/>
                </a:solidFill>
                <a:latin typeface="Helvetica Neue"/>
                <a:ea typeface="微软雅黑" panose="020B0503020204020204" charset="-122"/>
              </a:rPr>
              <a:t>提供试穿数据</a:t>
            </a:r>
            <a:endParaRPr sz="760" b="0" i="0">
              <a:solidFill>
                <a:srgbClr val="6A748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534694" y="2440158"/>
            <a:ext cx="603535" cy="116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60" b="0" i="0">
                <a:solidFill>
                  <a:srgbClr val="6A7482"/>
                </a:solidFill>
                <a:latin typeface="Helvetica Neue"/>
                <a:ea typeface="微软雅黑" panose="020B0503020204020204" charset="-122"/>
              </a:rPr>
              <a:t>获得试穿体验</a:t>
            </a:r>
            <a:endParaRPr sz="760" b="0" i="0">
              <a:solidFill>
                <a:srgbClr val="6A748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 rot="21573637">
            <a:off x="7544193" y="2254983"/>
            <a:ext cx="1303088" cy="425218"/>
          </a:xfrm>
          <a:prstGeom prst="roundRect">
            <a:avLst>
              <a:gd name="adj" fmla="val 10000"/>
            </a:avLst>
          </a:prstGeom>
          <a:solidFill>
            <a:srgbClr val="E8EEF6">
              <a:alpha val="100000"/>
            </a:srgbClr>
          </a:solidFill>
          <a:ln w="8890">
            <a:solidFill>
              <a:srgbClr val="3A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0" name="TextBox 39"/>
          <p:cNvSpPr txBox="1"/>
          <p:nvPr/>
        </p:nvSpPr>
        <p:spPr>
          <a:xfrm>
            <a:off x="7544193" y="2302991"/>
            <a:ext cx="1303088" cy="153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3A5E8C"/>
                </a:solidFill>
                <a:latin typeface="Helvetica Neue"/>
                <a:ea typeface="微软雅黑" panose="020B0503020204020204" charset="-122"/>
              </a:rPr>
              <a:t>快时尚品牌方</a:t>
            </a:r>
            <a:endParaRPr sz="1000" b="1" i="0">
              <a:solidFill>
                <a:srgbClr val="3A5E8C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599060" y="2474450"/>
            <a:ext cx="603535" cy="116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60" b="0" i="0">
                <a:solidFill>
                  <a:srgbClr val="6A7482"/>
                </a:solidFill>
                <a:latin typeface="Helvetica Neue"/>
                <a:ea typeface="微软雅黑" panose="020B0503020204020204" charset="-122"/>
              </a:rPr>
              <a:t>提供渠道商品</a:t>
            </a:r>
            <a:endParaRPr sz="760" b="0" i="0">
              <a:solidFill>
                <a:srgbClr val="6A748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209454" y="2474450"/>
            <a:ext cx="603535" cy="116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60" b="0" i="0">
                <a:solidFill>
                  <a:srgbClr val="6A7482"/>
                </a:solidFill>
                <a:latin typeface="Helvetica Neue"/>
                <a:ea typeface="微软雅黑" panose="020B0503020204020204" charset="-122"/>
              </a:rPr>
              <a:t>获得销售数据</a:t>
            </a:r>
            <a:endParaRPr sz="760" b="0" i="0">
              <a:solidFill>
                <a:srgbClr val="6A748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 rot="5031">
            <a:off x="4869434" y="4209614"/>
            <a:ext cx="1303088" cy="425218"/>
          </a:xfrm>
          <a:prstGeom prst="roundRect">
            <a:avLst>
              <a:gd name="adj" fmla="val 10000"/>
            </a:avLst>
          </a:prstGeom>
          <a:solidFill>
            <a:srgbClr val="ECF0F6">
              <a:alpha val="100000"/>
            </a:srgbClr>
          </a:solidFill>
          <a:ln w="8890">
            <a:solidFill>
              <a:srgbClr val="3E4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4" name="TextBox 43"/>
          <p:cNvSpPr txBox="1"/>
          <p:nvPr/>
        </p:nvSpPr>
        <p:spPr>
          <a:xfrm>
            <a:off x="4869434" y="4257623"/>
            <a:ext cx="1303088" cy="153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算法供应商</a:t>
            </a:r>
            <a:endParaRPr sz="1000" b="1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924300" y="4429082"/>
            <a:ext cx="603535" cy="116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60" b="0" i="0">
                <a:solidFill>
                  <a:srgbClr val="6A7482"/>
                </a:solidFill>
                <a:latin typeface="Helvetica Neue"/>
                <a:ea typeface="微软雅黑" panose="020B0503020204020204" charset="-122"/>
              </a:rPr>
              <a:t>提供技术授权</a:t>
            </a:r>
            <a:endParaRPr sz="760" b="0" i="0">
              <a:solidFill>
                <a:srgbClr val="6A748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534694" y="4429082"/>
            <a:ext cx="603535" cy="116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60" b="0" i="0">
                <a:solidFill>
                  <a:srgbClr val="6A7482"/>
                </a:solidFill>
                <a:latin typeface="Helvetica Neue"/>
                <a:ea typeface="微软雅黑" panose="020B0503020204020204" charset="-122"/>
              </a:rPr>
              <a:t>获得技术分成</a:t>
            </a:r>
            <a:endParaRPr sz="760" b="0" i="0">
              <a:solidFill>
                <a:srgbClr val="6A748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7" name="Rounded Rectangle 46"/>
          <p:cNvSpPr/>
          <p:nvPr/>
        </p:nvSpPr>
        <p:spPr>
          <a:xfrm rot="20874">
            <a:off x="7544193" y="4175323"/>
            <a:ext cx="1303088" cy="425218"/>
          </a:xfrm>
          <a:prstGeom prst="roundRect">
            <a:avLst>
              <a:gd name="adj" fmla="val 10000"/>
            </a:avLst>
          </a:prstGeom>
          <a:solidFill>
            <a:srgbClr val="E4ECF4">
              <a:alpha val="100000"/>
            </a:srgbClr>
          </a:solidFill>
          <a:ln w="8890">
            <a:solidFill>
              <a:srgbClr val="4E72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8" name="TextBox 47"/>
          <p:cNvSpPr txBox="1"/>
          <p:nvPr/>
        </p:nvSpPr>
        <p:spPr>
          <a:xfrm>
            <a:off x="7544193" y="4223331"/>
            <a:ext cx="1303088" cy="153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4E729E"/>
                </a:solidFill>
                <a:latin typeface="Helvetica Neue"/>
                <a:ea typeface="微软雅黑" panose="020B0503020204020204" charset="-122"/>
              </a:rPr>
              <a:t>门店导购</a:t>
            </a:r>
            <a:endParaRPr sz="1000" b="1" i="0">
              <a:solidFill>
                <a:srgbClr val="4E729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599060" y="4394790"/>
            <a:ext cx="603535" cy="116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60" b="0" i="0">
                <a:solidFill>
                  <a:srgbClr val="6A7482"/>
                </a:solidFill>
                <a:latin typeface="Helvetica Neue"/>
                <a:ea typeface="微软雅黑" panose="020B0503020204020204" charset="-122"/>
              </a:rPr>
              <a:t>提供现场服务</a:t>
            </a:r>
            <a:endParaRPr sz="760" b="0" i="0">
              <a:solidFill>
                <a:srgbClr val="6A748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209454" y="4394790"/>
            <a:ext cx="603535" cy="116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60" b="0" i="0">
                <a:solidFill>
                  <a:srgbClr val="6A7482"/>
                </a:solidFill>
                <a:latin typeface="Helvetica Neue"/>
                <a:ea typeface="微软雅黑" panose="020B0503020204020204" charset="-122"/>
              </a:rPr>
              <a:t>获得佣金提成</a:t>
            </a:r>
            <a:endParaRPr sz="760" b="0" i="0">
              <a:solidFill>
                <a:srgbClr val="6A748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 rot="21546709">
            <a:off x="6241105" y="4834963"/>
            <a:ext cx="1303088" cy="425218"/>
          </a:xfrm>
          <a:prstGeom prst="roundRect">
            <a:avLst>
              <a:gd name="adj" fmla="val 10000"/>
            </a:avLst>
          </a:prstGeom>
          <a:solidFill>
            <a:srgbClr val="E8EEF6">
              <a:alpha val="100000"/>
            </a:srgbClr>
          </a:solidFill>
          <a:ln w="8890">
            <a:solidFill>
              <a:srgbClr val="3A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2" name="TextBox 51"/>
          <p:cNvSpPr txBox="1"/>
          <p:nvPr/>
        </p:nvSpPr>
        <p:spPr>
          <a:xfrm>
            <a:off x="6172521" y="4909167"/>
            <a:ext cx="1303088" cy="153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3A5E8C"/>
                </a:solidFill>
                <a:latin typeface="Helvetica Neue"/>
                <a:ea typeface="微软雅黑" panose="020B0503020204020204" charset="-122"/>
              </a:rPr>
              <a:t>物流合作方</a:t>
            </a:r>
            <a:endParaRPr sz="1000" b="1" i="0">
              <a:solidFill>
                <a:srgbClr val="3A5E8C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309784" y="5060146"/>
            <a:ext cx="603535" cy="116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60" b="0" i="0">
                <a:solidFill>
                  <a:srgbClr val="6A7482"/>
                </a:solidFill>
                <a:latin typeface="Helvetica Neue"/>
                <a:ea typeface="微软雅黑" panose="020B0503020204020204" charset="-122"/>
              </a:rPr>
              <a:t>提供配送履约</a:t>
            </a:r>
            <a:endParaRPr sz="760" b="0" i="0">
              <a:solidFill>
                <a:srgbClr val="6A748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920178" y="5060146"/>
            <a:ext cx="603535" cy="116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60" b="0" i="0">
                <a:solidFill>
                  <a:srgbClr val="6A7482"/>
                </a:solidFill>
                <a:latin typeface="Helvetica Neue"/>
                <a:ea typeface="微软雅黑" panose="020B0503020204020204" charset="-122"/>
              </a:rPr>
              <a:t>获得物流费用</a:t>
            </a:r>
            <a:endParaRPr sz="760" b="0" i="0">
              <a:solidFill>
                <a:srgbClr val="6A7482"/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55" name="Connector 54"/>
          <p:cNvCxnSpPr/>
          <p:nvPr/>
        </p:nvCxnSpPr>
        <p:spPr>
          <a:xfrm>
            <a:off x="5623853" y="2460733"/>
            <a:ext cx="685836" cy="685836"/>
          </a:xfrm>
          <a:prstGeom prst="line">
            <a:avLst/>
          </a:prstGeom>
          <a:ln w="10160">
            <a:solidFill>
              <a:srgbClr val="4E72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7749944" y="2495025"/>
            <a:ext cx="480085" cy="651544"/>
          </a:xfrm>
          <a:prstGeom prst="line">
            <a:avLst/>
          </a:prstGeom>
          <a:ln w="10160">
            <a:solidFill>
              <a:srgbClr val="3A5E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623853" y="3763821"/>
            <a:ext cx="823003" cy="445793"/>
          </a:xfrm>
          <a:prstGeom prst="line">
            <a:avLst/>
          </a:prstGeom>
          <a:ln w="10160">
            <a:solidFill>
              <a:srgbClr val="3E465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 flipV="1">
            <a:off x="7749944" y="3763821"/>
            <a:ext cx="480085" cy="411501"/>
          </a:xfrm>
          <a:prstGeom prst="line">
            <a:avLst/>
          </a:prstGeom>
          <a:ln w="10160">
            <a:solidFill>
              <a:srgbClr val="4E729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6858357" y="3763821"/>
            <a:ext cx="205751" cy="1097337"/>
          </a:xfrm>
          <a:prstGeom prst="line">
            <a:avLst/>
          </a:prstGeom>
          <a:ln w="10160">
            <a:solidFill>
              <a:srgbClr val="3A5E8C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418102" y="2700776"/>
            <a:ext cx="823003" cy="116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0" b="1" i="0">
                <a:solidFill>
                  <a:srgbClr val="4E729E"/>
                </a:solidFill>
                <a:latin typeface="Helvetica Neue"/>
                <a:ea typeface="微软雅黑" panose="020B0503020204020204" charset="-122"/>
              </a:rPr>
              <a:t>试穿数据→</a:t>
            </a:r>
            <a:endParaRPr sz="760" b="1" i="0">
              <a:solidFill>
                <a:srgbClr val="4E729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681360" y="2700776"/>
            <a:ext cx="823003" cy="116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0" b="1" i="0">
                <a:solidFill>
                  <a:srgbClr val="3A5E8C"/>
                </a:solidFill>
                <a:latin typeface="Helvetica Neue"/>
                <a:ea typeface="微软雅黑" panose="020B0503020204020204" charset="-122"/>
              </a:rPr>
              <a:t>←渠道商品</a:t>
            </a:r>
            <a:endParaRPr sz="760" b="1" i="0">
              <a:solidFill>
                <a:srgbClr val="3A5E8C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377210" y="5212173"/>
            <a:ext cx="4080723" cy="411501"/>
          </a:xfrm>
          <a:prstGeom prst="roundRect">
            <a:avLst>
              <a:gd name="adj" fmla="val 6000"/>
            </a:avLst>
          </a:prstGeom>
          <a:solidFill>
            <a:srgbClr val="E4ECF4">
              <a:alpha val="100000"/>
            </a:srgbClr>
          </a:solidFill>
          <a:ln w="6350">
            <a:solidFill>
              <a:srgbClr val="4E72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3" name="TextBox 62"/>
          <p:cNvSpPr txBox="1"/>
          <p:nvPr/>
        </p:nvSpPr>
        <p:spPr>
          <a:xfrm>
            <a:off x="480085" y="5260181"/>
            <a:ext cx="3874972" cy="153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4E729E"/>
                </a:solidFill>
                <a:latin typeface="Helvetica Neue"/>
                <a:ea typeface="微软雅黑" panose="020B0503020204020204" charset="-122"/>
              </a:rPr>
              <a:t>社会价值 · Social Value</a:t>
            </a:r>
            <a:endParaRPr sz="1000" b="1" i="0">
              <a:solidFill>
                <a:srgbClr val="4E729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80085" y="5424782"/>
            <a:ext cx="3874972" cy="130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减少打样报废与退货积压面料浪费, 推动服装行业可持续发展, 降低碳排放。</a:t>
            </a:r>
            <a:endParaRPr sz="8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65" name="Rounded Rectangle 64"/>
          <p:cNvSpPr/>
          <p:nvPr/>
        </p:nvSpPr>
        <p:spPr>
          <a:xfrm rot="21554917">
            <a:off x="4510799" y="5212173"/>
            <a:ext cx="4115014" cy="411501"/>
          </a:xfrm>
          <a:prstGeom prst="roundRect">
            <a:avLst>
              <a:gd name="adj" fmla="val 6000"/>
            </a:avLst>
          </a:prstGeom>
          <a:solidFill>
            <a:srgbClr val="ECF0F6">
              <a:alpha val="100000"/>
            </a:srgbClr>
          </a:solidFill>
          <a:ln w="635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6" name="TextBox 65"/>
          <p:cNvSpPr txBox="1"/>
          <p:nvPr/>
        </p:nvSpPr>
        <p:spPr>
          <a:xfrm>
            <a:off x="4663683" y="5260181"/>
            <a:ext cx="3909264" cy="153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商业约束 · Business Constraints</a:t>
            </a:r>
            <a:endParaRPr sz="1000" b="1" i="0">
              <a:solidFill>
                <a:srgbClr val="2C4A6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4663683" y="5424782"/>
            <a:ext cx="3909264" cy="2609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需通过算法准确率与隐私合规双门槛; 硬件成本需控制在千元级; 需与品牌方建立数据分润信任。</a:t>
            </a:r>
            <a:endParaRPr sz="8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21565335">
            <a:off x="384068" y="461650"/>
            <a:ext cx="54867" cy="246901"/>
          </a:xfrm>
          <a:prstGeom prst="rect">
            <a:avLst/>
          </a:prstGeom>
          <a:solidFill>
            <a:srgbClr val="2C4A6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3" name="TextBox 2"/>
          <p:cNvSpPr txBox="1"/>
          <p:nvPr/>
        </p:nvSpPr>
        <p:spPr>
          <a:xfrm>
            <a:off x="493802" y="447933"/>
            <a:ext cx="6515439" cy="230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42A33"/>
                </a:solidFill>
                <a:latin typeface="Helvetica Neue"/>
                <a:ea typeface="微软雅黑" panose="020B0503020204020204" charset="-122"/>
              </a:rPr>
              <a:t>2.2  服务定义 · 故事版</a:t>
            </a:r>
            <a:endParaRPr sz="1500" b="1" i="0">
              <a:solidFill>
                <a:srgbClr val="242A33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16805" y="722268"/>
            <a:ext cx="6515439" cy="120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90" b="0" i="0" spc="40">
                <a:solidFill>
                  <a:srgbClr val="6A7482"/>
                </a:solidFill>
                <a:latin typeface="Helvetica Neue"/>
                <a:ea typeface="微软雅黑" panose="020B0503020204020204" charset="-122"/>
              </a:rPr>
              <a:t>STORYBOARD  /  4-ACT TRY-ON JOURNEY WITH INSIGHTS</a:t>
            </a:r>
            <a:endParaRPr sz="790" b="0" i="0" spc="40">
              <a:solidFill>
                <a:srgbClr val="6A7482"/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384068" y="694834"/>
            <a:ext cx="4691116" cy="0"/>
          </a:xfrm>
          <a:prstGeom prst="line">
            <a:avLst/>
          </a:prstGeom>
          <a:ln w="9525">
            <a:solidFill>
              <a:srgbClr val="E2E8F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77210" y="6506076"/>
            <a:ext cx="5143768" cy="114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9AA2AE"/>
                </a:solidFill>
                <a:latin typeface="Helvetica Neue"/>
                <a:ea typeface="微软雅黑" panose="020B0503020204020204" charset="-122"/>
              </a:rPr>
              <a:t>幻衣 · 产品系统设计 · STAGE 02</a:t>
            </a:r>
            <a:endParaRPr sz="750" b="0" i="0">
              <a:solidFill>
                <a:srgbClr val="9AA2AE"/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384068" y="6478643"/>
            <a:ext cx="8380913" cy="0"/>
          </a:xfrm>
          <a:prstGeom prst="line">
            <a:avLst/>
          </a:prstGeom>
          <a:ln w="6350">
            <a:solidFill>
              <a:srgbClr val="E2E8F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39948" y="1425477"/>
            <a:ext cx="7544193" cy="220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四幕速写分镜 · 每幕含剧情 / 用户心理 / 行为动机 / 设计洞察</a:t>
            </a:r>
            <a:endParaRPr sz="120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 rot="21480000">
            <a:off x="1141154" y="1915875"/>
            <a:ext cx="2753821" cy="1699825"/>
          </a:xfrm>
          <a:prstGeom prst="roundRect">
            <a:avLst>
              <a:gd name="adj" fmla="val 2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E4EC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11" name="Rectangle 10"/>
          <p:cNvSpPr/>
          <p:nvPr/>
        </p:nvSpPr>
        <p:spPr>
          <a:xfrm rot="21480000">
            <a:off x="1141631" y="1929687"/>
            <a:ext cx="67631" cy="1699825"/>
          </a:xfrm>
          <a:prstGeom prst="rect">
            <a:avLst/>
          </a:prstGeom>
          <a:solidFill>
            <a:srgbClr val="2C4A6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14" name="TextBox 13"/>
          <p:cNvSpPr txBox="1"/>
          <p:nvPr/>
        </p:nvSpPr>
        <p:spPr>
          <a:xfrm>
            <a:off x="1239743" y="1984459"/>
            <a:ext cx="347204" cy="21051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50" b="1" i="0">
                <a:solidFill>
                  <a:schemeClr val="accent1">
                    <a:lumMod val="75000"/>
                  </a:schemeClr>
                </a:solidFill>
                <a:latin typeface="Helvetica Neue"/>
                <a:ea typeface="微软雅黑" panose="020B0503020204020204" charset="-122"/>
              </a:rPr>
              <a:t>①</a:t>
            </a:r>
            <a:endParaRPr sz="1050" b="1" i="0">
              <a:solidFill>
                <a:schemeClr val="accent1">
                  <a:lumMod val="75000"/>
                </a:schemeClr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1854614" y="2341665"/>
            <a:ext cx="0" cy="222897"/>
          </a:xfrm>
          <a:prstGeom prst="line">
            <a:avLst/>
          </a:prstGeom>
          <a:ln w="10160">
            <a:solidFill>
              <a:srgbClr val="3E4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 rot="21480000">
            <a:off x="1774124" y="2511695"/>
            <a:ext cx="231946" cy="447222"/>
          </a:xfrm>
          <a:prstGeom prst="rect">
            <a:avLst/>
          </a:prstGeom>
          <a:solidFill>
            <a:srgbClr val="4E729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cxnSp>
        <p:nvCxnSpPr>
          <p:cNvPr id="19" name="Connector 18"/>
          <p:cNvCxnSpPr/>
          <p:nvPr/>
        </p:nvCxnSpPr>
        <p:spPr>
          <a:xfrm>
            <a:off x="2197532" y="2341665"/>
            <a:ext cx="0" cy="222897"/>
          </a:xfrm>
          <a:prstGeom prst="line">
            <a:avLst/>
          </a:prstGeom>
          <a:ln w="10160">
            <a:solidFill>
              <a:srgbClr val="3E4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 rot="21480000">
            <a:off x="2117042" y="2511695"/>
            <a:ext cx="231946" cy="447222"/>
          </a:xfrm>
          <a:prstGeom prst="rect">
            <a:avLst/>
          </a:prstGeom>
          <a:solidFill>
            <a:srgbClr val="4E729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22" name="TextBox 21"/>
          <p:cNvSpPr txBox="1"/>
          <p:nvPr/>
        </p:nvSpPr>
        <p:spPr>
          <a:xfrm>
            <a:off x="1381197" y="3093703"/>
            <a:ext cx="2560453" cy="2705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75" b="0" i="1">
                <a:solidFill>
                  <a:srgbClr val="242A33"/>
                </a:solidFill>
                <a:latin typeface="Helvetica Neue"/>
                <a:ea typeface="微软雅黑" panose="020B0503020204020204" charset="-122"/>
              </a:rPr>
              <a:t>心理 「翻了半天都找不到合身的, 这件看着显胖…」</a:t>
            </a:r>
            <a:endParaRPr sz="675" b="0" i="1">
              <a:solidFill>
                <a:srgbClr val="242A33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381197" y="3244682"/>
            <a:ext cx="2560453" cy="2705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75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动机 想找一件显瘦又合身的裙子, 但货架款式多且版型未知</a:t>
            </a:r>
            <a:endParaRPr sz="675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381197" y="3395661"/>
            <a:ext cx="2560453" cy="1352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75" b="1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洞察 信息过载与版型不可见是决策瘫痪的根源</a:t>
            </a:r>
            <a:endParaRPr sz="675" b="1" i="0">
              <a:solidFill>
                <a:srgbClr val="2C4A6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 rot="90000">
            <a:off x="5122812" y="2018750"/>
            <a:ext cx="2657137" cy="1565992"/>
          </a:xfrm>
          <a:prstGeom prst="roundRect">
            <a:avLst>
              <a:gd name="adj" fmla="val 2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26" name="Rectangle 25"/>
          <p:cNvSpPr/>
          <p:nvPr/>
        </p:nvSpPr>
        <p:spPr>
          <a:xfrm rot="90000">
            <a:off x="5122812" y="2008749"/>
            <a:ext cx="67631" cy="1565992"/>
          </a:xfrm>
          <a:prstGeom prst="rect">
            <a:avLst/>
          </a:prstGeom>
          <a:solidFill>
            <a:srgbClr val="3A5E8C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27" name="Rounded Rectangle 26"/>
          <p:cNvSpPr/>
          <p:nvPr/>
        </p:nvSpPr>
        <p:spPr>
          <a:xfrm rot="90000">
            <a:off x="5228069" y="2100193"/>
            <a:ext cx="2367086" cy="782996"/>
          </a:xfrm>
          <a:prstGeom prst="roundRect">
            <a:avLst>
              <a:gd name="adj" fmla="val 3000"/>
            </a:avLst>
          </a:prstGeom>
          <a:solidFill>
            <a:srgbClr val="E8EEF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29" name="TextBox 28"/>
          <p:cNvSpPr txBox="1"/>
          <p:nvPr/>
        </p:nvSpPr>
        <p:spPr>
          <a:xfrm>
            <a:off x="5230450" y="2069235"/>
            <a:ext cx="347204" cy="21051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50" b="1" i="0">
                <a:solidFill>
                  <a:schemeClr val="accent1">
                    <a:lumMod val="75000"/>
                  </a:schemeClr>
                </a:solidFill>
                <a:latin typeface="Helvetica Neue"/>
                <a:ea typeface="微软雅黑" panose="020B0503020204020204" charset="-122"/>
              </a:rPr>
              <a:t>②</a:t>
            </a:r>
            <a:endParaRPr sz="1050" b="1" i="0">
              <a:solidFill>
                <a:schemeClr val="accent1">
                  <a:lumMod val="75000"/>
                </a:schemeClr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204255" y="3128471"/>
            <a:ext cx="2463770" cy="2705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75" b="0" i="1">
                <a:solidFill>
                  <a:srgbClr val="242A33"/>
                </a:solidFill>
                <a:latin typeface="Helvetica Neue"/>
                <a:ea typeface="微软雅黑" panose="020B0503020204020204" charset="-122"/>
              </a:rPr>
              <a:t>心理 「试试这个镜子, 听说不用换衣服就能看效果」</a:t>
            </a:r>
            <a:endParaRPr sz="675" b="0" i="1">
              <a:solidFill>
                <a:srgbClr val="242A33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204255" y="3278973"/>
            <a:ext cx="2463770" cy="2705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75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动机 对排队试衣已疲惫, 愿意尝试新工具降低决策成本</a:t>
            </a:r>
            <a:endParaRPr sz="675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204255" y="3429953"/>
            <a:ext cx="2463770" cy="2705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75" b="1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洞察 零等待试穿是吸引用户首次使用的关键钩子</a:t>
            </a:r>
            <a:endParaRPr sz="675" b="1" i="0">
              <a:solidFill>
                <a:srgbClr val="2C4A6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 rot="21540000">
            <a:off x="1156872" y="3982431"/>
            <a:ext cx="2898608" cy="1744595"/>
          </a:xfrm>
          <a:prstGeom prst="roundRect">
            <a:avLst>
              <a:gd name="adj" fmla="val 2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E4EC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41" name="Rectangle 40"/>
          <p:cNvSpPr/>
          <p:nvPr/>
        </p:nvSpPr>
        <p:spPr>
          <a:xfrm rot="21540000">
            <a:off x="1156872" y="3989575"/>
            <a:ext cx="67631" cy="1744595"/>
          </a:xfrm>
          <a:prstGeom prst="rect">
            <a:avLst/>
          </a:prstGeom>
          <a:solidFill>
            <a:srgbClr val="2C4A6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42" name="Rounded Rectangle 41"/>
          <p:cNvSpPr/>
          <p:nvPr/>
        </p:nvSpPr>
        <p:spPr>
          <a:xfrm rot="21540000">
            <a:off x="1258318" y="4065303"/>
            <a:ext cx="2609033" cy="872059"/>
          </a:xfrm>
          <a:prstGeom prst="roundRect">
            <a:avLst>
              <a:gd name="adj" fmla="val 3000"/>
            </a:avLst>
          </a:prstGeom>
          <a:solidFill>
            <a:srgbClr val="E4ECF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44" name="TextBox 43"/>
          <p:cNvSpPr txBox="1"/>
          <p:nvPr/>
        </p:nvSpPr>
        <p:spPr>
          <a:xfrm>
            <a:off x="1256413" y="4106263"/>
            <a:ext cx="347204" cy="21051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50" b="1" i="0">
                <a:solidFill>
                  <a:schemeClr val="accent1">
                    <a:lumMod val="75000"/>
                  </a:schemeClr>
                </a:solidFill>
                <a:latin typeface="Helvetica Neue"/>
                <a:ea typeface="微软雅黑" panose="020B0503020204020204" charset="-122"/>
              </a:rPr>
              <a:t>③</a:t>
            </a:r>
            <a:endParaRPr sz="1050" b="1" i="0">
              <a:solidFill>
                <a:schemeClr val="accent1">
                  <a:lumMod val="75000"/>
                </a:schemeClr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339285" y="5255514"/>
            <a:ext cx="2705717" cy="2705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75" b="0" i="1">
                <a:solidFill>
                  <a:srgbClr val="242A33"/>
                </a:solidFill>
                <a:latin typeface="Helvetica Neue"/>
                <a:ea typeface="微软雅黑" panose="020B0503020204020204" charset="-122"/>
              </a:rPr>
              <a:t>心理 「哇, 三套同时穿在我身上, 第二套面料看起来最垂」</a:t>
            </a:r>
            <a:endParaRPr sz="675" b="0" i="1">
              <a:solidFill>
                <a:srgbClr val="242A33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354526" y="5413637"/>
            <a:ext cx="2705717" cy="1352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75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动机 需要同时对比多件效果并判断面料真实质感</a:t>
            </a:r>
            <a:endParaRPr sz="675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339285" y="5557472"/>
            <a:ext cx="2705717" cy="2705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75" b="1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洞察 多件同屏对比+面料还原是替代实体试穿的核心价值</a:t>
            </a:r>
            <a:endParaRPr sz="675" b="1" i="0">
              <a:solidFill>
                <a:srgbClr val="2C4A6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52" name="Rounded Rectangle 51"/>
          <p:cNvSpPr/>
          <p:nvPr/>
        </p:nvSpPr>
        <p:spPr>
          <a:xfrm rot="150000">
            <a:off x="5092807" y="4032440"/>
            <a:ext cx="2801925" cy="1610285"/>
          </a:xfrm>
          <a:prstGeom prst="roundRect">
            <a:avLst>
              <a:gd name="adj" fmla="val 2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53" name="Rectangle 52"/>
          <p:cNvSpPr/>
          <p:nvPr/>
        </p:nvSpPr>
        <p:spPr>
          <a:xfrm rot="150000">
            <a:off x="5093283" y="4015294"/>
            <a:ext cx="67631" cy="1610285"/>
          </a:xfrm>
          <a:prstGeom prst="rect">
            <a:avLst/>
          </a:prstGeom>
          <a:solidFill>
            <a:srgbClr val="4E72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54" name="Rounded Rectangle 53"/>
          <p:cNvSpPr/>
          <p:nvPr/>
        </p:nvSpPr>
        <p:spPr>
          <a:xfrm rot="150000">
            <a:off x="5199968" y="4112931"/>
            <a:ext cx="2512350" cy="804904"/>
          </a:xfrm>
          <a:prstGeom prst="roundRect">
            <a:avLst>
              <a:gd name="adj" fmla="val 3000"/>
            </a:avLst>
          </a:prstGeom>
          <a:solidFill>
            <a:srgbClr val="E8EEF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56" name="TextBox 55"/>
          <p:cNvSpPr txBox="1"/>
          <p:nvPr/>
        </p:nvSpPr>
        <p:spPr>
          <a:xfrm>
            <a:off x="5204255" y="4131505"/>
            <a:ext cx="347204" cy="21051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50" b="1" i="0">
                <a:solidFill>
                  <a:schemeClr val="tx2">
                    <a:lumMod val="60000"/>
                    <a:lumOff val="40000"/>
                  </a:schemeClr>
                </a:solidFill>
                <a:latin typeface="Helvetica Neue"/>
                <a:ea typeface="微软雅黑" panose="020B0503020204020204" charset="-122"/>
              </a:rPr>
              <a:t>④</a:t>
            </a:r>
            <a:endParaRPr sz="1050" b="1" i="0">
              <a:solidFill>
                <a:schemeClr val="tx2">
                  <a:lumMod val="60000"/>
                  <a:lumOff val="40000"/>
                </a:schemeClr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58" name="Connector 57"/>
          <p:cNvCxnSpPr/>
          <p:nvPr/>
        </p:nvCxnSpPr>
        <p:spPr>
          <a:xfrm>
            <a:off x="5684340" y="4632070"/>
            <a:ext cx="1158777" cy="0"/>
          </a:xfrm>
          <a:prstGeom prst="line">
            <a:avLst/>
          </a:prstGeom>
          <a:ln w="6350">
            <a:solidFill>
              <a:srgbClr val="6A74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684340" y="4755521"/>
            <a:ext cx="820621" cy="0"/>
          </a:xfrm>
          <a:prstGeom prst="line">
            <a:avLst/>
          </a:prstGeom>
          <a:ln w="6350">
            <a:solidFill>
              <a:srgbClr val="6A74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5313322" y="5207886"/>
            <a:ext cx="2609033" cy="2705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75" b="0" i="1">
                <a:solidFill>
                  <a:srgbClr val="242A33"/>
                </a:solidFill>
                <a:latin typeface="Helvetica Neue"/>
                <a:ea typeface="微软雅黑" panose="020B0503020204020204" charset="-122"/>
              </a:rPr>
              <a:t>心理 「尺码 M 推荐匹配 92%, 直接下单不用再跑一趟」</a:t>
            </a:r>
            <a:endParaRPr sz="675" b="0" i="1">
              <a:solidFill>
                <a:srgbClr val="242A33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313322" y="5358866"/>
            <a:ext cx="2609033" cy="1352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75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动机 已有充分决策依据, 想快速完成购买并离开</a:t>
            </a:r>
            <a:endParaRPr sz="675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313322" y="5509368"/>
            <a:ext cx="2609033" cy="1352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75" b="1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洞察 尺码智能推荐是临门一脚, 直接降低退货率</a:t>
            </a:r>
            <a:endParaRPr sz="675" b="1" i="0">
              <a:solidFill>
                <a:srgbClr val="2C4A6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64" name="Freeform 63"/>
          <p:cNvSpPr/>
          <p:nvPr/>
        </p:nvSpPr>
        <p:spPr>
          <a:xfrm>
            <a:off x="3054827" y="2581707"/>
            <a:ext cx="2898608" cy="90016"/>
          </a:xfrm>
          <a:custGeom>
            <a:avLst/>
            <a:gdLst/>
            <a:ahLst/>
            <a:cxnLst/>
            <a:rect l="l" t="t" r="r" b="b"/>
            <a:pathLst>
              <a:path w="2743200" h="92182">
                <a:moveTo>
                  <a:pt x="0" y="91440"/>
                </a:moveTo>
                <a:lnTo>
                  <a:pt x="20739" y="89670"/>
                </a:lnTo>
                <a:lnTo>
                  <a:pt x="45541" y="87287"/>
                </a:lnTo>
                <a:lnTo>
                  <a:pt x="74004" y="84391"/>
                </a:lnTo>
                <a:lnTo>
                  <a:pt x="105727" y="81081"/>
                </a:lnTo>
                <a:lnTo>
                  <a:pt x="140307" y="77459"/>
                </a:lnTo>
                <a:lnTo>
                  <a:pt x="177343" y="73625"/>
                </a:lnTo>
                <a:lnTo>
                  <a:pt x="216433" y="69679"/>
                </a:lnTo>
                <a:lnTo>
                  <a:pt x="257175" y="65722"/>
                </a:lnTo>
                <a:lnTo>
                  <a:pt x="299166" y="61854"/>
                </a:lnTo>
                <a:lnTo>
                  <a:pt x="342007" y="58176"/>
                </a:lnTo>
                <a:lnTo>
                  <a:pt x="385293" y="54789"/>
                </a:lnTo>
                <a:lnTo>
                  <a:pt x="428625" y="51792"/>
                </a:lnTo>
                <a:lnTo>
                  <a:pt x="471599" y="49286"/>
                </a:lnTo>
                <a:lnTo>
                  <a:pt x="513814" y="47371"/>
                </a:lnTo>
                <a:lnTo>
                  <a:pt x="554868" y="46149"/>
                </a:lnTo>
                <a:lnTo>
                  <a:pt x="594360" y="45720"/>
                </a:lnTo>
                <a:lnTo>
                  <a:pt x="631518" y="46317"/>
                </a:lnTo>
                <a:lnTo>
                  <a:pt x="666243" y="47997"/>
                </a:lnTo>
                <a:lnTo>
                  <a:pt x="699138" y="50592"/>
                </a:lnTo>
                <a:lnTo>
                  <a:pt x="730805" y="53935"/>
                </a:lnTo>
                <a:lnTo>
                  <a:pt x="761847" y="57858"/>
                </a:lnTo>
                <a:lnTo>
                  <a:pt x="792866" y="62195"/>
                </a:lnTo>
                <a:lnTo>
                  <a:pt x="824466" y="66777"/>
                </a:lnTo>
                <a:lnTo>
                  <a:pt x="857249" y="71437"/>
                </a:lnTo>
                <a:lnTo>
                  <a:pt x="891819" y="76008"/>
                </a:lnTo>
                <a:lnTo>
                  <a:pt x="928776" y="80322"/>
                </a:lnTo>
                <a:lnTo>
                  <a:pt x="968725" y="84212"/>
                </a:lnTo>
                <a:lnTo>
                  <a:pt x="1012269" y="87510"/>
                </a:lnTo>
                <a:lnTo>
                  <a:pt x="1060009" y="90050"/>
                </a:lnTo>
                <a:lnTo>
                  <a:pt x="1112549" y="91663"/>
                </a:lnTo>
                <a:lnTo>
                  <a:pt x="1170492" y="92182"/>
                </a:lnTo>
                <a:lnTo>
                  <a:pt x="1234440" y="91440"/>
                </a:lnTo>
                <a:lnTo>
                  <a:pt x="1307641" y="89324"/>
                </a:lnTo>
                <a:lnTo>
                  <a:pt x="1391781" y="85948"/>
                </a:lnTo>
                <a:lnTo>
                  <a:pt x="1485118" y="81477"/>
                </a:lnTo>
                <a:lnTo>
                  <a:pt x="1585912" y="76080"/>
                </a:lnTo>
                <a:lnTo>
                  <a:pt x="1692421" y="69925"/>
                </a:lnTo>
                <a:lnTo>
                  <a:pt x="1802903" y="63177"/>
                </a:lnTo>
                <a:lnTo>
                  <a:pt x="1915618" y="56005"/>
                </a:lnTo>
                <a:lnTo>
                  <a:pt x="2028825" y="48577"/>
                </a:lnTo>
                <a:lnTo>
                  <a:pt x="2140780" y="41059"/>
                </a:lnTo>
                <a:lnTo>
                  <a:pt x="2249745" y="33620"/>
                </a:lnTo>
                <a:lnTo>
                  <a:pt x="2353977" y="26426"/>
                </a:lnTo>
                <a:lnTo>
                  <a:pt x="2451735" y="19645"/>
                </a:lnTo>
                <a:lnTo>
                  <a:pt x="2541277" y="13444"/>
                </a:lnTo>
                <a:lnTo>
                  <a:pt x="2620863" y="7992"/>
                </a:lnTo>
                <a:lnTo>
                  <a:pt x="2688751" y="3454"/>
                </a:lnTo>
                <a:lnTo>
                  <a:pt x="2743200" y="0"/>
                </a:lnTo>
              </a:path>
            </a:pathLst>
          </a:custGeom>
          <a:noFill/>
          <a:ln w="12700">
            <a:solidFill>
              <a:srgbClr val="9AA2AE">
                <a:alpha val="100000"/>
              </a:srgb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65" name="Freeform 64"/>
          <p:cNvSpPr/>
          <p:nvPr/>
        </p:nvSpPr>
        <p:spPr>
          <a:xfrm>
            <a:off x="4143115" y="4722562"/>
            <a:ext cx="1207833" cy="57153"/>
          </a:xfrm>
          <a:custGeom>
            <a:avLst/>
            <a:gdLst/>
            <a:ahLst/>
            <a:cxnLst/>
            <a:rect l="l" t="t" r="r" b="b"/>
            <a:pathLst>
              <a:path w="1143000" h="45720">
                <a:moveTo>
                  <a:pt x="0" y="45720"/>
                </a:moveTo>
                <a:lnTo>
                  <a:pt x="20906" y="43950"/>
                </a:lnTo>
                <a:lnTo>
                  <a:pt x="46166" y="41567"/>
                </a:lnTo>
                <a:lnTo>
                  <a:pt x="75310" y="38671"/>
                </a:lnTo>
                <a:lnTo>
                  <a:pt x="107870" y="35361"/>
                </a:lnTo>
                <a:lnTo>
                  <a:pt x="143377" y="31739"/>
                </a:lnTo>
                <a:lnTo>
                  <a:pt x="181361" y="27905"/>
                </a:lnTo>
                <a:lnTo>
                  <a:pt x="221355" y="23959"/>
                </a:lnTo>
                <a:lnTo>
                  <a:pt x="262889" y="20002"/>
                </a:lnTo>
                <a:lnTo>
                  <a:pt x="305495" y="16134"/>
                </a:lnTo>
                <a:lnTo>
                  <a:pt x="348704" y="12456"/>
                </a:lnTo>
                <a:lnTo>
                  <a:pt x="392046" y="9069"/>
                </a:lnTo>
                <a:lnTo>
                  <a:pt x="435054" y="6072"/>
                </a:lnTo>
                <a:lnTo>
                  <a:pt x="477258" y="3566"/>
                </a:lnTo>
                <a:lnTo>
                  <a:pt x="518189" y="1651"/>
                </a:lnTo>
                <a:lnTo>
                  <a:pt x="557379" y="429"/>
                </a:lnTo>
                <a:lnTo>
                  <a:pt x="594360" y="0"/>
                </a:lnTo>
                <a:lnTo>
                  <a:pt x="630910" y="429"/>
                </a:lnTo>
                <a:lnTo>
                  <a:pt x="668878" y="1651"/>
                </a:lnTo>
                <a:lnTo>
                  <a:pt x="707895" y="3566"/>
                </a:lnTo>
                <a:lnTo>
                  <a:pt x="747593" y="6072"/>
                </a:lnTo>
                <a:lnTo>
                  <a:pt x="787604" y="9069"/>
                </a:lnTo>
                <a:lnTo>
                  <a:pt x="827558" y="12456"/>
                </a:lnTo>
                <a:lnTo>
                  <a:pt x="867089" y="16134"/>
                </a:lnTo>
                <a:lnTo>
                  <a:pt x="905827" y="20002"/>
                </a:lnTo>
                <a:lnTo>
                  <a:pt x="943404" y="23959"/>
                </a:lnTo>
                <a:lnTo>
                  <a:pt x="979452" y="27905"/>
                </a:lnTo>
                <a:lnTo>
                  <a:pt x="1013603" y="31739"/>
                </a:lnTo>
                <a:lnTo>
                  <a:pt x="1045487" y="35361"/>
                </a:lnTo>
                <a:lnTo>
                  <a:pt x="1074738" y="38671"/>
                </a:lnTo>
                <a:lnTo>
                  <a:pt x="1100985" y="41567"/>
                </a:lnTo>
                <a:lnTo>
                  <a:pt x="1123862" y="43950"/>
                </a:lnTo>
                <a:lnTo>
                  <a:pt x="1143000" y="45720"/>
                </a:lnTo>
              </a:path>
            </a:pathLst>
          </a:custGeom>
          <a:noFill/>
          <a:ln w="12700">
            <a:solidFill>
              <a:srgbClr val="9AA2AE">
                <a:alpha val="100000"/>
              </a:srgb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pic>
        <p:nvPicPr>
          <p:cNvPr id="72" name="图片 71"/>
          <p:cNvPicPr>
            <a:picLocks noChangeAspect="1"/>
          </p:cNvPicPr>
          <p:nvPr/>
        </p:nvPicPr>
        <p:blipFill>
          <a:blip r:embed="rId1"/>
          <a:srcRect t="19618"/>
          <a:stretch>
            <a:fillRect/>
          </a:stretch>
        </p:blipFill>
        <p:spPr>
          <a:xfrm>
            <a:off x="1489311" y="1984459"/>
            <a:ext cx="2204676" cy="1073523"/>
          </a:xfrm>
          <a:prstGeom prst="rect">
            <a:avLst/>
          </a:prstGeom>
        </p:spPr>
      </p:pic>
      <p:pic>
        <p:nvPicPr>
          <p:cNvPr id="73" name="图片 72"/>
          <p:cNvPicPr>
            <a:picLocks noChangeAspect="1"/>
          </p:cNvPicPr>
          <p:nvPr/>
        </p:nvPicPr>
        <p:blipFill>
          <a:blip r:embed="rId2"/>
          <a:srcRect t="18757" b="-18757"/>
          <a:stretch>
            <a:fillRect/>
          </a:stretch>
        </p:blipFill>
        <p:spPr>
          <a:xfrm>
            <a:off x="5562890" y="2035420"/>
            <a:ext cx="2053221" cy="1360241"/>
          </a:xfrm>
          <a:prstGeom prst="rect">
            <a:avLst/>
          </a:prstGeom>
        </p:spPr>
      </p:pic>
      <p:pic>
        <p:nvPicPr>
          <p:cNvPr id="74" name="图片 73"/>
          <p:cNvPicPr>
            <a:picLocks noChangeAspect="1"/>
          </p:cNvPicPr>
          <p:nvPr/>
        </p:nvPicPr>
        <p:blipFill>
          <a:blip r:embed="rId3"/>
          <a:srcRect l="-235" t="23439" r="235" b="-23439"/>
          <a:stretch>
            <a:fillRect/>
          </a:stretch>
        </p:blipFill>
        <p:spPr>
          <a:xfrm>
            <a:off x="1489311" y="4042442"/>
            <a:ext cx="2292787" cy="1605046"/>
          </a:xfrm>
          <a:prstGeom prst="rect">
            <a:avLst/>
          </a:prstGeom>
        </p:spPr>
      </p:pic>
      <p:pic>
        <p:nvPicPr>
          <p:cNvPr id="75" name="图片 74"/>
          <p:cNvPicPr>
            <a:picLocks noChangeAspect="1"/>
          </p:cNvPicPr>
          <p:nvPr/>
        </p:nvPicPr>
        <p:blipFill>
          <a:blip r:embed="rId4"/>
          <a:srcRect l="1117" t="22118" r="-1117" b="9468"/>
          <a:stretch>
            <a:fillRect/>
          </a:stretch>
        </p:blipFill>
        <p:spPr>
          <a:xfrm rot="240000">
            <a:off x="5432390" y="4110073"/>
            <a:ext cx="2137998" cy="107209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269449" y="2908908"/>
            <a:ext cx="2463770" cy="2400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00" b="1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逛</a:t>
            </a:r>
            <a:r>
              <a:rPr lang="zh-CN" sz="1200" b="1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购</a:t>
            </a:r>
            <a:r>
              <a:rPr sz="1200" b="1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发愁</a:t>
            </a:r>
            <a:endParaRPr sz="1200" b="1" i="0">
              <a:solidFill>
                <a:srgbClr val="2C4A6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262537" y="2933198"/>
            <a:ext cx="2367086" cy="2400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00" b="1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elvetica Neue"/>
                <a:ea typeface="微软雅黑" panose="020B0503020204020204" charset="-122"/>
              </a:rPr>
              <a:t>扫</a:t>
            </a:r>
            <a:r>
              <a:rPr lang="zh-CN" sz="1200" b="1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elvetica Neue"/>
                <a:ea typeface="微软雅黑" panose="020B0503020204020204" charset="-122"/>
              </a:rPr>
              <a:t>描</a:t>
            </a:r>
            <a:r>
              <a:rPr sz="1200" b="1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elvetica Neue"/>
                <a:ea typeface="微软雅黑" panose="020B0503020204020204" charset="-122"/>
              </a:rPr>
              <a:t>上传</a:t>
            </a:r>
            <a:endParaRPr sz="1200" b="1" i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Helvetica Neue"/>
              <a:ea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88500" y="4986419"/>
            <a:ext cx="2609033" cy="2400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00" b="1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AI 一键试穿</a:t>
            </a:r>
            <a:endParaRPr sz="1200" b="1" i="0">
              <a:solidFill>
                <a:srgbClr val="2C4A6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236342" y="4957366"/>
            <a:ext cx="2512350" cy="2400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00" b="1" i="0">
                <a:solidFill>
                  <a:srgbClr val="4E729E"/>
                </a:solidFill>
                <a:latin typeface="Helvetica Neue"/>
                <a:ea typeface="微软雅黑" panose="020B0503020204020204" charset="-122"/>
              </a:rPr>
              <a:t>线上下单</a:t>
            </a:r>
            <a:endParaRPr sz="1200" b="1" i="0">
              <a:solidFill>
                <a:srgbClr val="4E729E"/>
              </a:solidFill>
              <a:latin typeface="Helvetica Neue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21537995">
            <a:off x="384068" y="393070"/>
            <a:ext cx="54867" cy="246901"/>
          </a:xfrm>
          <a:prstGeom prst="rect">
            <a:avLst/>
          </a:prstGeom>
          <a:solidFill>
            <a:srgbClr val="2C4A6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TextBox 2"/>
          <p:cNvSpPr txBox="1"/>
          <p:nvPr/>
        </p:nvSpPr>
        <p:spPr>
          <a:xfrm>
            <a:off x="493802" y="379353"/>
            <a:ext cx="6515439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242A33"/>
                </a:solidFill>
                <a:latin typeface="Helvetica Neue"/>
                <a:ea typeface="微软雅黑" panose="020B0503020204020204" charset="-122"/>
              </a:rPr>
              <a:t>2.2  服务定义 · 服务模型原型</a:t>
            </a:r>
            <a:endParaRPr b="1" i="0">
              <a:solidFill>
                <a:srgbClr val="242A33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8515" y="757828"/>
            <a:ext cx="6515439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40">
                <a:solidFill>
                  <a:srgbClr val="6A7482"/>
                </a:solidFill>
                <a:latin typeface="Helvetica Neue"/>
                <a:ea typeface="微软雅黑" panose="020B0503020204020204" charset="-122"/>
              </a:rPr>
              <a:t>SERVICE MODEL  /  3-LAYER ARCHITECTURE + DATA FLOW + KPIs</a:t>
            </a:r>
            <a:endParaRPr sz="900" b="0" i="0" spc="40">
              <a:solidFill>
                <a:srgbClr val="6A7482"/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384068" y="626254"/>
            <a:ext cx="4691116" cy="0"/>
          </a:xfrm>
          <a:prstGeom prst="line">
            <a:avLst/>
          </a:prstGeom>
          <a:ln w="9525">
            <a:solidFill>
              <a:srgbClr val="E2E8F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77210" y="6403206"/>
            <a:ext cx="5143768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AA2AE"/>
                </a:solidFill>
                <a:latin typeface="Helvetica Neue"/>
                <a:ea typeface="微软雅黑" panose="020B0503020204020204" charset="-122"/>
              </a:rPr>
              <a:t>幻衣 · 产品系统设计 · STAGE 02</a:t>
            </a:r>
            <a:endParaRPr sz="900" b="0" i="0">
              <a:solidFill>
                <a:srgbClr val="9AA2AE"/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384068" y="6375773"/>
            <a:ext cx="8380913" cy="0"/>
          </a:xfrm>
          <a:prstGeom prst="line">
            <a:avLst/>
          </a:prstGeom>
          <a:ln w="6350">
            <a:solidFill>
              <a:srgbClr val="E2E8F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41218" y="1363882"/>
            <a:ext cx="7544193" cy="2482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等轴测三层架构 + 数据流动闭环 + 全量 KPI 指标</a:t>
            </a:r>
            <a:endParaRPr sz="135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 rot="21240000">
            <a:off x="617252" y="1920161"/>
            <a:ext cx="3154844" cy="617252"/>
          </a:xfrm>
          <a:prstGeom prst="roundRect">
            <a:avLst>
              <a:gd name="adj" fmla="val 4000"/>
            </a:avLst>
          </a:prstGeom>
          <a:solidFill>
            <a:srgbClr val="4E729E">
              <a:alpha val="18000"/>
            </a:srgbClr>
          </a:solidFill>
          <a:ln w="12700">
            <a:solidFill>
              <a:srgbClr val="4E729E"/>
            </a:solidFill>
          </a:ln>
          <a:effectLst>
            <a:softEdge rad="3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251473" y="2119054"/>
            <a:ext cx="480085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 i="0">
                <a:solidFill>
                  <a:srgbClr val="4E729E"/>
                </a:solidFill>
                <a:latin typeface="Helvetica Neue"/>
                <a:ea typeface="微软雅黑" panose="020B0503020204020204" charset="-122"/>
              </a:rPr>
              <a:t>应用层</a:t>
            </a:r>
            <a:endParaRPr sz="1200" b="1" i="0">
              <a:solidFill>
                <a:srgbClr val="4E729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 rot="21420000">
            <a:off x="754419" y="2105337"/>
            <a:ext cx="612108" cy="246901"/>
          </a:xfrm>
          <a:prstGeom prst="roundRect">
            <a:avLst>
              <a:gd name="adj" fmla="val 10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4E72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754419" y="2146487"/>
            <a:ext cx="612108" cy="120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9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智能镜 App</a:t>
            </a:r>
            <a:endParaRPr sz="79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 rot="21420000">
            <a:off x="1474547" y="2105337"/>
            <a:ext cx="612108" cy="246901"/>
          </a:xfrm>
          <a:prstGeom prst="roundRect">
            <a:avLst>
              <a:gd name="adj" fmla="val 10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4E72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1474547" y="2146487"/>
            <a:ext cx="612108" cy="120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9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设计师 SaaS</a:t>
            </a:r>
            <a:endParaRPr sz="79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 rot="21420000">
            <a:off x="2194674" y="2105337"/>
            <a:ext cx="612108" cy="246901"/>
          </a:xfrm>
          <a:prstGeom prst="roundRect">
            <a:avLst>
              <a:gd name="adj" fmla="val 10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4E72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2194674" y="2146487"/>
            <a:ext cx="612108" cy="120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9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电商插件</a:t>
            </a:r>
            <a:endParaRPr sz="79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 rot="21420000">
            <a:off x="2914802" y="2105337"/>
            <a:ext cx="612108" cy="246901"/>
          </a:xfrm>
          <a:prstGeom prst="roundRect">
            <a:avLst>
              <a:gd name="adj" fmla="val 10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4E72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2914802" y="2146487"/>
            <a:ext cx="612108" cy="120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9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数据看板</a:t>
            </a:r>
            <a:endParaRPr sz="79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20" name="Freeform 19"/>
          <p:cNvSpPr/>
          <p:nvPr/>
        </p:nvSpPr>
        <p:spPr>
          <a:xfrm>
            <a:off x="2057507" y="2523697"/>
            <a:ext cx="137167" cy="336060"/>
          </a:xfrm>
          <a:custGeom>
            <a:avLst/>
            <a:gdLst/>
            <a:ahLst/>
            <a:cxnLst/>
            <a:rect l="l" t="t" r="r" b="b"/>
            <a:pathLst>
              <a:path w="182880" h="448056">
                <a:moveTo>
                  <a:pt x="182880" y="0"/>
                </a:moveTo>
                <a:lnTo>
                  <a:pt x="175803" y="6964"/>
                </a:lnTo>
                <a:lnTo>
                  <a:pt x="166270" y="15207"/>
                </a:lnTo>
                <a:lnTo>
                  <a:pt x="154684" y="24615"/>
                </a:lnTo>
                <a:lnTo>
                  <a:pt x="141446" y="35075"/>
                </a:lnTo>
                <a:lnTo>
                  <a:pt x="126957" y="46473"/>
                </a:lnTo>
                <a:lnTo>
                  <a:pt x="111621" y="58694"/>
                </a:lnTo>
                <a:lnTo>
                  <a:pt x="95837" y="71626"/>
                </a:lnTo>
                <a:lnTo>
                  <a:pt x="80010" y="85153"/>
                </a:lnTo>
                <a:lnTo>
                  <a:pt x="64539" y="99163"/>
                </a:lnTo>
                <a:lnTo>
                  <a:pt x="49827" y="113540"/>
                </a:lnTo>
                <a:lnTo>
                  <a:pt x="36276" y="128173"/>
                </a:lnTo>
                <a:lnTo>
                  <a:pt x="24288" y="142946"/>
                </a:lnTo>
                <a:lnTo>
                  <a:pt x="14265" y="157746"/>
                </a:lnTo>
                <a:lnTo>
                  <a:pt x="6607" y="172459"/>
                </a:lnTo>
                <a:lnTo>
                  <a:pt x="1718" y="186970"/>
                </a:lnTo>
                <a:lnTo>
                  <a:pt x="0" y="201168"/>
                </a:lnTo>
                <a:lnTo>
                  <a:pt x="1718" y="215794"/>
                </a:lnTo>
                <a:lnTo>
                  <a:pt x="6607" y="231528"/>
                </a:lnTo>
                <a:lnTo>
                  <a:pt x="14265" y="248156"/>
                </a:lnTo>
                <a:lnTo>
                  <a:pt x="24288" y="265461"/>
                </a:lnTo>
                <a:lnTo>
                  <a:pt x="36276" y="283231"/>
                </a:lnTo>
                <a:lnTo>
                  <a:pt x="49827" y="301251"/>
                </a:lnTo>
                <a:lnTo>
                  <a:pt x="64539" y="319307"/>
                </a:lnTo>
                <a:lnTo>
                  <a:pt x="80010" y="337185"/>
                </a:lnTo>
                <a:lnTo>
                  <a:pt x="95837" y="354669"/>
                </a:lnTo>
                <a:lnTo>
                  <a:pt x="111621" y="371546"/>
                </a:lnTo>
                <a:lnTo>
                  <a:pt x="126957" y="387602"/>
                </a:lnTo>
                <a:lnTo>
                  <a:pt x="141446" y="402621"/>
                </a:lnTo>
                <a:lnTo>
                  <a:pt x="154684" y="416391"/>
                </a:lnTo>
                <a:lnTo>
                  <a:pt x="166270" y="428696"/>
                </a:lnTo>
                <a:lnTo>
                  <a:pt x="175803" y="439322"/>
                </a:lnTo>
                <a:lnTo>
                  <a:pt x="182880" y="448056"/>
                </a:lnTo>
              </a:path>
            </a:pathLst>
          </a:custGeom>
          <a:noFill/>
          <a:ln w="12700">
            <a:solidFill>
              <a:srgbClr val="4E729E">
                <a:alpha val="100000"/>
              </a:srgb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Rounded Rectangle 20"/>
          <p:cNvSpPr/>
          <p:nvPr/>
        </p:nvSpPr>
        <p:spPr>
          <a:xfrm rot="21240000">
            <a:off x="617252" y="2846040"/>
            <a:ext cx="3154844" cy="617252"/>
          </a:xfrm>
          <a:prstGeom prst="roundRect">
            <a:avLst>
              <a:gd name="adj" fmla="val 4000"/>
            </a:avLst>
          </a:prstGeom>
          <a:solidFill>
            <a:srgbClr val="3A5E8C">
              <a:alpha val="18000"/>
            </a:srgbClr>
          </a:solidFill>
          <a:ln w="12700">
            <a:solidFill>
              <a:srgbClr val="3A5E8C"/>
            </a:solidFill>
          </a:ln>
          <a:effectLst>
            <a:softEdge rad="3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TextBox 21"/>
          <p:cNvSpPr txBox="1"/>
          <p:nvPr/>
        </p:nvSpPr>
        <p:spPr>
          <a:xfrm>
            <a:off x="251473" y="3044932"/>
            <a:ext cx="480085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 i="0">
                <a:solidFill>
                  <a:srgbClr val="3A5E8C"/>
                </a:solidFill>
                <a:latin typeface="Helvetica Neue"/>
                <a:ea typeface="微软雅黑" panose="020B0503020204020204" charset="-122"/>
              </a:rPr>
              <a:t>引擎层</a:t>
            </a:r>
            <a:endParaRPr sz="1200" b="1" i="0">
              <a:solidFill>
                <a:srgbClr val="3A5E8C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 rot="21420000">
            <a:off x="754419" y="3031215"/>
            <a:ext cx="612108" cy="246901"/>
          </a:xfrm>
          <a:prstGeom prst="roundRect">
            <a:avLst>
              <a:gd name="adj" fmla="val 10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3A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4" name="TextBox 23"/>
          <p:cNvSpPr txBox="1"/>
          <p:nvPr/>
        </p:nvSpPr>
        <p:spPr>
          <a:xfrm>
            <a:off x="754419" y="3072365"/>
            <a:ext cx="612108" cy="120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9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AI虚拟试穿</a:t>
            </a:r>
            <a:endParaRPr sz="79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 rot="21420000">
            <a:off x="1474547" y="3031215"/>
            <a:ext cx="612108" cy="246901"/>
          </a:xfrm>
          <a:prstGeom prst="roundRect">
            <a:avLst>
              <a:gd name="adj" fmla="val 10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3A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6" name="TextBox 25"/>
          <p:cNvSpPr txBox="1"/>
          <p:nvPr/>
        </p:nvSpPr>
        <p:spPr>
          <a:xfrm>
            <a:off x="1474547" y="3072365"/>
            <a:ext cx="612108" cy="120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9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尺码预测</a:t>
            </a:r>
            <a:endParaRPr sz="79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 rot="21420000">
            <a:off x="2194674" y="3031215"/>
            <a:ext cx="612108" cy="246901"/>
          </a:xfrm>
          <a:prstGeom prst="roundRect">
            <a:avLst>
              <a:gd name="adj" fmla="val 10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3A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8" name="TextBox 27"/>
          <p:cNvSpPr txBox="1"/>
          <p:nvPr/>
        </p:nvSpPr>
        <p:spPr>
          <a:xfrm>
            <a:off x="2194674" y="3072365"/>
            <a:ext cx="612108" cy="120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9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版型分析</a:t>
            </a:r>
            <a:endParaRPr sz="79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 rot="21420000">
            <a:off x="2914802" y="3031215"/>
            <a:ext cx="612108" cy="246901"/>
          </a:xfrm>
          <a:prstGeom prst="roundRect">
            <a:avLst>
              <a:gd name="adj" fmla="val 10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3A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0" name="TextBox 29"/>
          <p:cNvSpPr txBox="1"/>
          <p:nvPr/>
        </p:nvSpPr>
        <p:spPr>
          <a:xfrm>
            <a:off x="2914802" y="3072365"/>
            <a:ext cx="612108" cy="120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9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对比生成</a:t>
            </a:r>
            <a:endParaRPr sz="79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1" name="Freeform 30"/>
          <p:cNvSpPr/>
          <p:nvPr/>
        </p:nvSpPr>
        <p:spPr>
          <a:xfrm>
            <a:off x="2057507" y="3449575"/>
            <a:ext cx="137167" cy="336059"/>
          </a:xfrm>
          <a:custGeom>
            <a:avLst/>
            <a:gdLst/>
            <a:ahLst/>
            <a:cxnLst/>
            <a:rect l="l" t="t" r="r" b="b"/>
            <a:pathLst>
              <a:path w="182880" h="448055">
                <a:moveTo>
                  <a:pt x="182880" y="0"/>
                </a:moveTo>
                <a:lnTo>
                  <a:pt x="175803" y="6964"/>
                </a:lnTo>
                <a:lnTo>
                  <a:pt x="166270" y="15207"/>
                </a:lnTo>
                <a:lnTo>
                  <a:pt x="154684" y="24615"/>
                </a:lnTo>
                <a:lnTo>
                  <a:pt x="141446" y="35075"/>
                </a:lnTo>
                <a:lnTo>
                  <a:pt x="126957" y="46473"/>
                </a:lnTo>
                <a:lnTo>
                  <a:pt x="111621" y="58694"/>
                </a:lnTo>
                <a:lnTo>
                  <a:pt x="95837" y="71626"/>
                </a:lnTo>
                <a:lnTo>
                  <a:pt x="80010" y="85153"/>
                </a:lnTo>
                <a:lnTo>
                  <a:pt x="64539" y="99163"/>
                </a:lnTo>
                <a:lnTo>
                  <a:pt x="49827" y="113540"/>
                </a:lnTo>
                <a:lnTo>
                  <a:pt x="36276" y="128173"/>
                </a:lnTo>
                <a:lnTo>
                  <a:pt x="24288" y="142946"/>
                </a:lnTo>
                <a:lnTo>
                  <a:pt x="14265" y="157746"/>
                </a:lnTo>
                <a:lnTo>
                  <a:pt x="6607" y="172459"/>
                </a:lnTo>
                <a:lnTo>
                  <a:pt x="1718" y="186970"/>
                </a:lnTo>
                <a:lnTo>
                  <a:pt x="0" y="201168"/>
                </a:lnTo>
                <a:lnTo>
                  <a:pt x="1718" y="215794"/>
                </a:lnTo>
                <a:lnTo>
                  <a:pt x="6607" y="231528"/>
                </a:lnTo>
                <a:lnTo>
                  <a:pt x="14265" y="248156"/>
                </a:lnTo>
                <a:lnTo>
                  <a:pt x="24288" y="265461"/>
                </a:lnTo>
                <a:lnTo>
                  <a:pt x="36276" y="283231"/>
                </a:lnTo>
                <a:lnTo>
                  <a:pt x="49827" y="301251"/>
                </a:lnTo>
                <a:lnTo>
                  <a:pt x="64539" y="319307"/>
                </a:lnTo>
                <a:lnTo>
                  <a:pt x="80010" y="337184"/>
                </a:lnTo>
                <a:lnTo>
                  <a:pt x="95837" y="354669"/>
                </a:lnTo>
                <a:lnTo>
                  <a:pt x="111621" y="371546"/>
                </a:lnTo>
                <a:lnTo>
                  <a:pt x="126957" y="387602"/>
                </a:lnTo>
                <a:lnTo>
                  <a:pt x="141446" y="402621"/>
                </a:lnTo>
                <a:lnTo>
                  <a:pt x="154684" y="416391"/>
                </a:lnTo>
                <a:lnTo>
                  <a:pt x="166270" y="428696"/>
                </a:lnTo>
                <a:lnTo>
                  <a:pt x="175803" y="439322"/>
                </a:lnTo>
                <a:lnTo>
                  <a:pt x="182880" y="448055"/>
                </a:lnTo>
              </a:path>
            </a:pathLst>
          </a:custGeom>
          <a:noFill/>
          <a:ln w="12700">
            <a:solidFill>
              <a:srgbClr val="3A5E8C">
                <a:alpha val="100000"/>
              </a:srgb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2" name="Rounded Rectangle 31"/>
          <p:cNvSpPr/>
          <p:nvPr/>
        </p:nvSpPr>
        <p:spPr>
          <a:xfrm rot="21240000">
            <a:off x="617252" y="3771918"/>
            <a:ext cx="3154844" cy="617252"/>
          </a:xfrm>
          <a:prstGeom prst="roundRect">
            <a:avLst>
              <a:gd name="adj" fmla="val 4000"/>
            </a:avLst>
          </a:prstGeom>
          <a:solidFill>
            <a:srgbClr val="2C4A6E">
              <a:alpha val="18000"/>
            </a:srgbClr>
          </a:solidFill>
          <a:ln w="12700">
            <a:solidFill>
              <a:srgbClr val="2C4A6E"/>
            </a:solidFill>
          </a:ln>
          <a:effectLst>
            <a:softEdge rad="3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3" name="TextBox 32"/>
          <p:cNvSpPr txBox="1"/>
          <p:nvPr/>
        </p:nvSpPr>
        <p:spPr>
          <a:xfrm>
            <a:off x="251473" y="3970810"/>
            <a:ext cx="480085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数据层</a:t>
            </a:r>
            <a:endParaRPr sz="1200" b="1" i="0">
              <a:solidFill>
                <a:srgbClr val="2C4A6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 rot="21420000">
            <a:off x="754419" y="3957094"/>
            <a:ext cx="612108" cy="246901"/>
          </a:xfrm>
          <a:prstGeom prst="roundRect">
            <a:avLst>
              <a:gd name="adj" fmla="val 10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5" name="TextBox 34"/>
          <p:cNvSpPr txBox="1"/>
          <p:nvPr/>
        </p:nvSpPr>
        <p:spPr>
          <a:xfrm>
            <a:off x="754419" y="3998244"/>
            <a:ext cx="612108" cy="120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9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商品库</a:t>
            </a:r>
            <a:endParaRPr sz="79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 rot="21420000">
            <a:off x="1474547" y="3957094"/>
            <a:ext cx="612108" cy="246901"/>
          </a:xfrm>
          <a:prstGeom prst="roundRect">
            <a:avLst>
              <a:gd name="adj" fmla="val 10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7" name="TextBox 36"/>
          <p:cNvSpPr txBox="1"/>
          <p:nvPr/>
        </p:nvSpPr>
        <p:spPr>
          <a:xfrm>
            <a:off x="1474547" y="3998244"/>
            <a:ext cx="612108" cy="120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9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用户身材</a:t>
            </a:r>
            <a:endParaRPr sz="79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 rot="21420000">
            <a:off x="2194674" y="3957094"/>
            <a:ext cx="612108" cy="246901"/>
          </a:xfrm>
          <a:prstGeom prst="roundRect">
            <a:avLst>
              <a:gd name="adj" fmla="val 10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9" name="TextBox 38"/>
          <p:cNvSpPr txBox="1"/>
          <p:nvPr/>
        </p:nvSpPr>
        <p:spPr>
          <a:xfrm>
            <a:off x="2194674" y="3998244"/>
            <a:ext cx="612108" cy="120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9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试穿记录</a:t>
            </a:r>
            <a:endParaRPr sz="79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 rot="21420000">
            <a:off x="2914802" y="3957094"/>
            <a:ext cx="612108" cy="246901"/>
          </a:xfrm>
          <a:prstGeom prst="roundRect">
            <a:avLst>
              <a:gd name="adj" fmla="val 10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1" name="TextBox 40"/>
          <p:cNvSpPr txBox="1"/>
          <p:nvPr/>
        </p:nvSpPr>
        <p:spPr>
          <a:xfrm>
            <a:off x="2914802" y="3998244"/>
            <a:ext cx="612108" cy="120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9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设计数据</a:t>
            </a:r>
            <a:endParaRPr sz="79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692436" y="1851578"/>
            <a:ext cx="3154844" cy="207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242A33"/>
                </a:solidFill>
                <a:latin typeface="Helvetica Neue"/>
                <a:ea typeface="微软雅黑" panose="020B0503020204020204" charset="-122"/>
              </a:rPr>
              <a:t>数据流动闭环 · Data Flow Loop</a:t>
            </a:r>
            <a:endParaRPr sz="1350" b="1" i="0">
              <a:solidFill>
                <a:srgbClr val="242A33"/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43" name="Connector 42"/>
          <p:cNvCxnSpPr/>
          <p:nvPr/>
        </p:nvCxnSpPr>
        <p:spPr>
          <a:xfrm>
            <a:off x="5706153" y="2077904"/>
            <a:ext cx="3058827" cy="0"/>
          </a:xfrm>
          <a:prstGeom prst="line">
            <a:avLst/>
          </a:prstGeom>
          <a:ln w="7620">
            <a:solidFill>
              <a:srgbClr val="E2E8F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 rot="59238">
            <a:off x="5761020" y="2160204"/>
            <a:ext cx="260618" cy="260618"/>
          </a:xfrm>
          <a:prstGeom prst="roundRect">
            <a:avLst>
              <a:gd name="adj" fmla="val 30000"/>
            </a:avLst>
          </a:prstGeom>
          <a:solidFill>
            <a:srgbClr val="4E72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5" name="TextBox 44"/>
          <p:cNvSpPr txBox="1"/>
          <p:nvPr/>
        </p:nvSpPr>
        <p:spPr>
          <a:xfrm>
            <a:off x="5761020" y="2187637"/>
            <a:ext cx="260618" cy="161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F1F5F9"/>
                </a:solidFill>
                <a:latin typeface="Helvetica Neue"/>
                <a:ea typeface="微软雅黑" panose="020B0503020204020204" charset="-122"/>
              </a:rPr>
              <a:t>①</a:t>
            </a:r>
            <a:endParaRPr sz="1050" b="1" i="0">
              <a:solidFill>
                <a:srgbClr val="F1F5F9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 rot="21541437">
            <a:off x="6103938" y="2160204"/>
            <a:ext cx="2606176" cy="260618"/>
          </a:xfrm>
          <a:prstGeom prst="roundRect">
            <a:avLst>
              <a:gd name="adj" fmla="val 8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4E72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7" name="TextBox 46"/>
          <p:cNvSpPr txBox="1"/>
          <p:nvPr/>
        </p:nvSpPr>
        <p:spPr>
          <a:xfrm>
            <a:off x="6186238" y="2173921"/>
            <a:ext cx="617252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4E729E"/>
                </a:solidFill>
                <a:latin typeface="Helvetica Neue"/>
                <a:ea typeface="微软雅黑" panose="020B0503020204020204" charset="-122"/>
              </a:rPr>
              <a:t>消费者试穿</a:t>
            </a:r>
            <a:endParaRPr sz="900" b="1" i="0">
              <a:solidFill>
                <a:srgbClr val="4E729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858357" y="2201354"/>
            <a:ext cx="1783173" cy="120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9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产生试穿偏好与方案选择数据</a:t>
            </a:r>
            <a:endParaRPr sz="79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 rot="21577156">
            <a:off x="5761020" y="2489405"/>
            <a:ext cx="260618" cy="260618"/>
          </a:xfrm>
          <a:prstGeom prst="roundRect">
            <a:avLst>
              <a:gd name="adj" fmla="val 30000"/>
            </a:avLst>
          </a:prstGeom>
          <a:solidFill>
            <a:srgbClr val="3A5E8C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0" name="TextBox 49"/>
          <p:cNvSpPr txBox="1"/>
          <p:nvPr/>
        </p:nvSpPr>
        <p:spPr>
          <a:xfrm>
            <a:off x="5761020" y="2516838"/>
            <a:ext cx="260618" cy="161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F1F5F9"/>
                </a:solidFill>
                <a:latin typeface="Helvetica Neue"/>
                <a:ea typeface="微软雅黑" panose="020B0503020204020204" charset="-122"/>
              </a:rPr>
              <a:t>②</a:t>
            </a:r>
            <a:endParaRPr sz="1050" b="1" i="0">
              <a:solidFill>
                <a:srgbClr val="F1F5F9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 rot="21570375">
            <a:off x="6103938" y="2489405"/>
            <a:ext cx="2606176" cy="260618"/>
          </a:xfrm>
          <a:prstGeom prst="roundRect">
            <a:avLst>
              <a:gd name="adj" fmla="val 8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3A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2" name="TextBox 51"/>
          <p:cNvSpPr txBox="1"/>
          <p:nvPr/>
        </p:nvSpPr>
        <p:spPr>
          <a:xfrm>
            <a:off x="6186238" y="2503122"/>
            <a:ext cx="617252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3A5E8C"/>
                </a:solidFill>
                <a:latin typeface="Helvetica Neue"/>
                <a:ea typeface="微软雅黑" panose="020B0503020204020204" charset="-122"/>
              </a:rPr>
              <a:t>数据脱敏</a:t>
            </a:r>
            <a:endParaRPr sz="900" b="1" i="0">
              <a:solidFill>
                <a:srgbClr val="3A5E8C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858357" y="2530555"/>
            <a:ext cx="1783173" cy="120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9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保护隐私后入库, 形成脱敏数据池</a:t>
            </a:r>
            <a:endParaRPr sz="79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 rot="21587733">
            <a:off x="5761020" y="2818606"/>
            <a:ext cx="260618" cy="260618"/>
          </a:xfrm>
          <a:prstGeom prst="roundRect">
            <a:avLst>
              <a:gd name="adj" fmla="val 30000"/>
            </a:avLst>
          </a:prstGeom>
          <a:solidFill>
            <a:srgbClr val="2C4A6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5" name="TextBox 54"/>
          <p:cNvSpPr txBox="1"/>
          <p:nvPr/>
        </p:nvSpPr>
        <p:spPr>
          <a:xfrm>
            <a:off x="5761020" y="2846040"/>
            <a:ext cx="260618" cy="161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F1F5F9"/>
                </a:solidFill>
                <a:latin typeface="Helvetica Neue"/>
                <a:ea typeface="微软雅黑" panose="020B0503020204020204" charset="-122"/>
              </a:rPr>
              <a:t>③</a:t>
            </a:r>
            <a:endParaRPr sz="1050" b="1" i="0">
              <a:solidFill>
                <a:srgbClr val="F1F5F9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 rot="64126">
            <a:off x="6103938" y="2818606"/>
            <a:ext cx="2606176" cy="260618"/>
          </a:xfrm>
          <a:prstGeom prst="roundRect">
            <a:avLst>
              <a:gd name="adj" fmla="val 8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7" name="TextBox 56"/>
          <p:cNvSpPr txBox="1"/>
          <p:nvPr/>
        </p:nvSpPr>
        <p:spPr>
          <a:xfrm>
            <a:off x="6186238" y="2832323"/>
            <a:ext cx="617252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回流设计师</a:t>
            </a:r>
            <a:endParaRPr sz="900" b="1" i="0">
              <a:solidFill>
                <a:srgbClr val="2C4A6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858357" y="2859756"/>
            <a:ext cx="1783173" cy="120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9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版型/尺码偏好分析, 输出设计建议</a:t>
            </a:r>
            <a:endParaRPr sz="79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59" name="Rounded Rectangle 58"/>
          <p:cNvSpPr/>
          <p:nvPr/>
        </p:nvSpPr>
        <p:spPr>
          <a:xfrm rot="21538111">
            <a:off x="5761020" y="3147807"/>
            <a:ext cx="260618" cy="260618"/>
          </a:xfrm>
          <a:prstGeom prst="roundRect">
            <a:avLst>
              <a:gd name="adj" fmla="val 30000"/>
            </a:avLst>
          </a:prstGeom>
          <a:solidFill>
            <a:srgbClr val="4E72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0" name="TextBox 59"/>
          <p:cNvSpPr txBox="1"/>
          <p:nvPr/>
        </p:nvSpPr>
        <p:spPr>
          <a:xfrm>
            <a:off x="5761020" y="3175241"/>
            <a:ext cx="260618" cy="161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F1F5F9"/>
                </a:solidFill>
                <a:latin typeface="Helvetica Neue"/>
                <a:ea typeface="微软雅黑" panose="020B0503020204020204" charset="-122"/>
              </a:rPr>
              <a:t>④</a:t>
            </a:r>
            <a:endParaRPr sz="1050" b="1" i="0">
              <a:solidFill>
                <a:srgbClr val="F1F5F9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61" name="Rounded Rectangle 60"/>
          <p:cNvSpPr/>
          <p:nvPr/>
        </p:nvSpPr>
        <p:spPr>
          <a:xfrm rot="21538459">
            <a:off x="6103938" y="3147807"/>
            <a:ext cx="2606176" cy="260618"/>
          </a:xfrm>
          <a:prstGeom prst="roundRect">
            <a:avLst>
              <a:gd name="adj" fmla="val 8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4E72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2" name="TextBox 61"/>
          <p:cNvSpPr txBox="1"/>
          <p:nvPr/>
        </p:nvSpPr>
        <p:spPr>
          <a:xfrm>
            <a:off x="6186238" y="3161524"/>
            <a:ext cx="617252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4E729E"/>
                </a:solidFill>
                <a:latin typeface="Helvetica Neue"/>
                <a:ea typeface="微软雅黑" panose="020B0503020204020204" charset="-122"/>
              </a:rPr>
              <a:t>驱动设计</a:t>
            </a:r>
            <a:endParaRPr sz="900" b="1" i="0">
              <a:solidFill>
                <a:srgbClr val="4E729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858357" y="3188957"/>
            <a:ext cx="1783173" cy="120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9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优化版型与生产, 减少盲目打样</a:t>
            </a:r>
            <a:endParaRPr sz="79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64" name="Rounded Rectangle 63"/>
          <p:cNvSpPr/>
          <p:nvPr/>
        </p:nvSpPr>
        <p:spPr>
          <a:xfrm rot="21530771">
            <a:off x="5761020" y="3477009"/>
            <a:ext cx="260618" cy="260618"/>
          </a:xfrm>
          <a:prstGeom prst="roundRect">
            <a:avLst>
              <a:gd name="adj" fmla="val 30000"/>
            </a:avLst>
          </a:prstGeom>
          <a:solidFill>
            <a:srgbClr val="3A5E8C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5" name="TextBox 64"/>
          <p:cNvSpPr txBox="1"/>
          <p:nvPr/>
        </p:nvSpPr>
        <p:spPr>
          <a:xfrm>
            <a:off x="5761020" y="3504442"/>
            <a:ext cx="260618" cy="161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F1F5F9"/>
                </a:solidFill>
                <a:latin typeface="Helvetica Neue"/>
                <a:ea typeface="微软雅黑" panose="020B0503020204020204" charset="-122"/>
              </a:rPr>
              <a:t>⑤</a:t>
            </a:r>
            <a:endParaRPr sz="1050" b="1" i="0">
              <a:solidFill>
                <a:srgbClr val="F1F5F9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66" name="Rounded Rectangle 65"/>
          <p:cNvSpPr/>
          <p:nvPr/>
        </p:nvSpPr>
        <p:spPr>
          <a:xfrm rot="69345">
            <a:off x="6103938" y="3477009"/>
            <a:ext cx="2606176" cy="260618"/>
          </a:xfrm>
          <a:prstGeom prst="roundRect">
            <a:avLst>
              <a:gd name="adj" fmla="val 8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3A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7" name="TextBox 66"/>
          <p:cNvSpPr txBox="1"/>
          <p:nvPr/>
        </p:nvSpPr>
        <p:spPr>
          <a:xfrm>
            <a:off x="6186238" y="3490725"/>
            <a:ext cx="617252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3A5E8C"/>
                </a:solidFill>
                <a:latin typeface="Helvetica Neue"/>
                <a:ea typeface="微软雅黑" panose="020B0503020204020204" charset="-122"/>
              </a:rPr>
              <a:t>回到消费者</a:t>
            </a:r>
            <a:endParaRPr sz="900" b="1" i="0">
              <a:solidFill>
                <a:srgbClr val="3A5E8C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6858357" y="3518159"/>
            <a:ext cx="1783173" cy="120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9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更合身商品上架, 提升体验</a:t>
            </a:r>
            <a:endParaRPr sz="79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377210" y="4869255"/>
            <a:ext cx="8367196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42A33"/>
                </a:solidFill>
                <a:latin typeface="Helvetica Neue"/>
                <a:ea typeface="微软雅黑" panose="020B0503020204020204" charset="-122"/>
              </a:rPr>
              <a:t>全量 KPI 指标与解读 · KPIs &amp; Interpretation</a:t>
            </a:r>
            <a:endParaRPr sz="1200" b="1" i="0">
              <a:solidFill>
                <a:srgbClr val="242A33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70" name="Rounded Rectangle 69"/>
          <p:cNvSpPr/>
          <p:nvPr/>
        </p:nvSpPr>
        <p:spPr>
          <a:xfrm rot="16695">
            <a:off x="377210" y="5172163"/>
            <a:ext cx="1577422" cy="425218"/>
          </a:xfrm>
          <a:prstGeom prst="roundRect">
            <a:avLst>
              <a:gd name="adj" fmla="val 5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1" name="Rectangle 70"/>
          <p:cNvSpPr/>
          <p:nvPr/>
        </p:nvSpPr>
        <p:spPr>
          <a:xfrm rot="29482">
            <a:off x="377210" y="5172163"/>
            <a:ext cx="41150" cy="425218"/>
          </a:xfrm>
          <a:prstGeom prst="rect">
            <a:avLst/>
          </a:prstGeom>
          <a:solidFill>
            <a:srgbClr val="2C4A6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2" name="TextBox 71"/>
          <p:cNvSpPr txBox="1"/>
          <p:nvPr/>
        </p:nvSpPr>
        <p:spPr>
          <a:xfrm>
            <a:off x="473227" y="5199596"/>
            <a:ext cx="480085" cy="230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&lt;10s</a:t>
            </a:r>
            <a:endParaRPr sz="1500" b="1" i="0">
              <a:solidFill>
                <a:srgbClr val="2C4A6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960170" y="5185879"/>
            <a:ext cx="925878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242A33"/>
                </a:solidFill>
                <a:latin typeface="Helvetica Neue"/>
                <a:ea typeface="微软雅黑" panose="020B0503020204020204" charset="-122"/>
              </a:rPr>
              <a:t>试穿生成</a:t>
            </a:r>
            <a:endParaRPr sz="900" b="1" i="0">
              <a:solidFill>
                <a:srgbClr val="242A33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960170" y="5364197"/>
            <a:ext cx="925878" cy="230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6A7482"/>
                </a:solidFill>
                <a:latin typeface="Helvetica Neue"/>
                <a:ea typeface="微软雅黑" panose="020B0503020204020204" charset="-122"/>
              </a:rPr>
              <a:t>低于用户注意力阈值, 保证完整体验</a:t>
            </a:r>
            <a:endParaRPr sz="750" b="0" i="0">
              <a:solidFill>
                <a:srgbClr val="6A748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75" name="Rounded Rectangle 74"/>
          <p:cNvSpPr/>
          <p:nvPr/>
        </p:nvSpPr>
        <p:spPr>
          <a:xfrm rot="21562468">
            <a:off x="2023215" y="5172163"/>
            <a:ext cx="1577422" cy="425218"/>
          </a:xfrm>
          <a:prstGeom prst="roundRect">
            <a:avLst>
              <a:gd name="adj" fmla="val 5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3A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6" name="Rectangle 75"/>
          <p:cNvSpPr/>
          <p:nvPr/>
        </p:nvSpPr>
        <p:spPr>
          <a:xfrm rot="21573268">
            <a:off x="2023215" y="5172163"/>
            <a:ext cx="41150" cy="425218"/>
          </a:xfrm>
          <a:prstGeom prst="rect">
            <a:avLst/>
          </a:prstGeom>
          <a:solidFill>
            <a:srgbClr val="3A5E8C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7" name="TextBox 76"/>
          <p:cNvSpPr txBox="1"/>
          <p:nvPr/>
        </p:nvSpPr>
        <p:spPr>
          <a:xfrm>
            <a:off x="2119232" y="5199596"/>
            <a:ext cx="480085" cy="461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3A5E8C"/>
                </a:solidFill>
                <a:latin typeface="Helvetica Neue"/>
                <a:ea typeface="微软雅黑" panose="020B0503020204020204" charset="-122"/>
              </a:rPr>
              <a:t>&lt;5min</a:t>
            </a:r>
            <a:endParaRPr sz="1500" b="1" i="0">
              <a:solidFill>
                <a:srgbClr val="3A5E8C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2606176" y="5185879"/>
            <a:ext cx="925878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242A33"/>
                </a:solidFill>
                <a:latin typeface="Helvetica Neue"/>
                <a:ea typeface="微软雅黑" panose="020B0503020204020204" charset="-122"/>
              </a:rPr>
              <a:t>数据延迟</a:t>
            </a:r>
            <a:endParaRPr sz="900" b="1" i="0">
              <a:solidFill>
                <a:srgbClr val="242A33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2606176" y="5364197"/>
            <a:ext cx="925878" cy="230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6A7482"/>
                </a:solidFill>
                <a:latin typeface="Helvetica Neue"/>
                <a:ea typeface="微软雅黑" panose="020B0503020204020204" charset="-122"/>
              </a:rPr>
              <a:t>脱敏后5分钟内回流, 支撑实时迭代</a:t>
            </a:r>
            <a:endParaRPr sz="750" b="0" i="0">
              <a:solidFill>
                <a:srgbClr val="6A748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80" name="Rounded Rectangle 79"/>
          <p:cNvSpPr/>
          <p:nvPr/>
        </p:nvSpPr>
        <p:spPr>
          <a:xfrm rot="51632">
            <a:off x="3669221" y="5172163"/>
            <a:ext cx="1577422" cy="425218"/>
          </a:xfrm>
          <a:prstGeom prst="roundRect">
            <a:avLst>
              <a:gd name="adj" fmla="val 5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1" name="Rectangle 80"/>
          <p:cNvSpPr/>
          <p:nvPr/>
        </p:nvSpPr>
        <p:spPr>
          <a:xfrm rot="21534049">
            <a:off x="3669221" y="5172163"/>
            <a:ext cx="41150" cy="425218"/>
          </a:xfrm>
          <a:prstGeom prst="rect">
            <a:avLst/>
          </a:prstGeom>
          <a:solidFill>
            <a:srgbClr val="2C4A6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2" name="TextBox 81"/>
          <p:cNvSpPr txBox="1"/>
          <p:nvPr/>
        </p:nvSpPr>
        <p:spPr>
          <a:xfrm>
            <a:off x="3765237" y="5199596"/>
            <a:ext cx="480085" cy="461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&gt;85%</a:t>
            </a:r>
            <a:endParaRPr sz="1500" b="1" i="0">
              <a:solidFill>
                <a:srgbClr val="2C4A6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4252181" y="5185879"/>
            <a:ext cx="925878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242A33"/>
                </a:solidFill>
                <a:latin typeface="Helvetica Neue"/>
                <a:ea typeface="微软雅黑" panose="020B0503020204020204" charset="-122"/>
              </a:rPr>
              <a:t>尺码准确</a:t>
            </a:r>
            <a:endParaRPr sz="900" b="1" i="0">
              <a:solidFill>
                <a:srgbClr val="242A33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4252181" y="5364197"/>
            <a:ext cx="925878" cy="230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6A7482"/>
                </a:solidFill>
                <a:latin typeface="Helvetica Neue"/>
                <a:ea typeface="微软雅黑" panose="020B0503020204020204" charset="-122"/>
              </a:rPr>
              <a:t>基于身材+反馈训练, 直接降退货</a:t>
            </a:r>
            <a:endParaRPr sz="750" b="0" i="0">
              <a:solidFill>
                <a:srgbClr val="6A748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85" name="Rounded Rectangle 84"/>
          <p:cNvSpPr/>
          <p:nvPr/>
        </p:nvSpPr>
        <p:spPr>
          <a:xfrm rot="54155">
            <a:off x="5315227" y="5172163"/>
            <a:ext cx="1577422" cy="425218"/>
          </a:xfrm>
          <a:prstGeom prst="roundRect">
            <a:avLst>
              <a:gd name="adj" fmla="val 5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3A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6" name="Rectangle 85"/>
          <p:cNvSpPr/>
          <p:nvPr/>
        </p:nvSpPr>
        <p:spPr>
          <a:xfrm rot="21563566">
            <a:off x="5315227" y="5172163"/>
            <a:ext cx="41150" cy="425218"/>
          </a:xfrm>
          <a:prstGeom prst="rect">
            <a:avLst/>
          </a:prstGeom>
          <a:solidFill>
            <a:srgbClr val="3A5E8C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7" name="TextBox 86"/>
          <p:cNvSpPr txBox="1"/>
          <p:nvPr/>
        </p:nvSpPr>
        <p:spPr>
          <a:xfrm>
            <a:off x="5411244" y="5199596"/>
            <a:ext cx="480085" cy="461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3A5E8C"/>
                </a:solidFill>
                <a:latin typeface="Helvetica Neue"/>
                <a:ea typeface="微软雅黑" panose="020B0503020204020204" charset="-122"/>
              </a:rPr>
              <a:t>&gt;60%</a:t>
            </a:r>
            <a:endParaRPr sz="1500" b="1" i="0">
              <a:solidFill>
                <a:srgbClr val="3A5E8C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5898187" y="5185879"/>
            <a:ext cx="925878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242A33"/>
                </a:solidFill>
                <a:latin typeface="Helvetica Neue"/>
                <a:ea typeface="微软雅黑" panose="020B0503020204020204" charset="-122"/>
              </a:rPr>
              <a:t>数据回流</a:t>
            </a:r>
            <a:endParaRPr sz="900" b="1" i="0">
              <a:solidFill>
                <a:srgbClr val="242A33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5898187" y="5364197"/>
            <a:ext cx="925878" cy="230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6A7482"/>
                </a:solidFill>
                <a:latin typeface="Helvetica Neue"/>
                <a:ea typeface="微软雅黑" panose="020B0503020204020204" charset="-122"/>
              </a:rPr>
              <a:t>授权用户中&gt;60%同意回流, 形成闭环</a:t>
            </a:r>
            <a:endParaRPr sz="750" b="0" i="0">
              <a:solidFill>
                <a:srgbClr val="6A748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90" name="Rounded Rectangle 89"/>
          <p:cNvSpPr/>
          <p:nvPr/>
        </p:nvSpPr>
        <p:spPr>
          <a:xfrm rot="21548817">
            <a:off x="6961233" y="5172163"/>
            <a:ext cx="1577422" cy="425218"/>
          </a:xfrm>
          <a:prstGeom prst="roundRect">
            <a:avLst>
              <a:gd name="adj" fmla="val 5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4E72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1" name="Rectangle 90"/>
          <p:cNvSpPr/>
          <p:nvPr/>
        </p:nvSpPr>
        <p:spPr>
          <a:xfrm rot="21560078">
            <a:off x="6961233" y="5172163"/>
            <a:ext cx="41150" cy="425218"/>
          </a:xfrm>
          <a:prstGeom prst="rect">
            <a:avLst/>
          </a:prstGeom>
          <a:solidFill>
            <a:srgbClr val="4E72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2" name="TextBox 91"/>
          <p:cNvSpPr txBox="1"/>
          <p:nvPr/>
        </p:nvSpPr>
        <p:spPr>
          <a:xfrm>
            <a:off x="7057250" y="5199596"/>
            <a:ext cx="480085" cy="461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4E729E"/>
                </a:solidFill>
                <a:latin typeface="Helvetica Neue"/>
                <a:ea typeface="微软雅黑" panose="020B0503020204020204" charset="-122"/>
              </a:rPr>
              <a:t>&gt;90%</a:t>
            </a:r>
            <a:endParaRPr sz="1500" b="1" i="0">
              <a:solidFill>
                <a:srgbClr val="4E729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7544193" y="5185879"/>
            <a:ext cx="925878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242A33"/>
                </a:solidFill>
                <a:latin typeface="Helvetica Neue"/>
                <a:ea typeface="微软雅黑" panose="020B0503020204020204" charset="-122"/>
              </a:rPr>
              <a:t>上身还原</a:t>
            </a:r>
            <a:endParaRPr sz="900" b="1" i="0">
              <a:solidFill>
                <a:srgbClr val="242A33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7544193" y="5364197"/>
            <a:ext cx="925878" cy="230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6A7482"/>
                </a:solidFill>
                <a:latin typeface="Helvetica Neue"/>
                <a:ea typeface="微软雅黑" panose="020B0503020204020204" charset="-122"/>
              </a:rPr>
              <a:t>面料垂感与版型还原度&gt;90%, 建信任</a:t>
            </a:r>
            <a:endParaRPr sz="750" b="0" i="0">
              <a:solidFill>
                <a:srgbClr val="6A7482"/>
              </a:solidFill>
              <a:latin typeface="Helvetica Neue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22015">
            <a:off x="404388" y="290200"/>
            <a:ext cx="54867" cy="246901"/>
          </a:xfrm>
          <a:prstGeom prst="rect">
            <a:avLst/>
          </a:prstGeom>
          <a:solidFill>
            <a:srgbClr val="2C4A6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3" name="TextBox 2"/>
          <p:cNvSpPr txBox="1"/>
          <p:nvPr/>
        </p:nvSpPr>
        <p:spPr>
          <a:xfrm>
            <a:off x="514122" y="276483"/>
            <a:ext cx="6515439" cy="230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42A33"/>
                </a:solidFill>
                <a:latin typeface="Helvetica Neue"/>
                <a:ea typeface="微软雅黑" panose="020B0503020204020204" charset="-122"/>
              </a:rPr>
              <a:t>2.3  产品定义 · APP 产品机会</a:t>
            </a:r>
            <a:endParaRPr sz="1500" b="1" i="0">
              <a:solidFill>
                <a:srgbClr val="242A33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37125" y="550818"/>
            <a:ext cx="6515439" cy="120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90" b="0" i="0" spc="40">
                <a:solidFill>
                  <a:srgbClr val="6A7482"/>
                </a:solidFill>
                <a:latin typeface="Helvetica Neue"/>
                <a:ea typeface="微软雅黑" panose="020B0503020204020204" charset="-122"/>
              </a:rPr>
              <a:t>PRODUCT OPPORTUNITY  /  FUNCTION MODULE CARDS</a:t>
            </a:r>
            <a:endParaRPr sz="790" b="0" i="0" spc="40">
              <a:solidFill>
                <a:srgbClr val="6A7482"/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404388" y="523384"/>
            <a:ext cx="4691116" cy="0"/>
          </a:xfrm>
          <a:prstGeom prst="line">
            <a:avLst/>
          </a:prstGeom>
          <a:ln w="9525">
            <a:solidFill>
              <a:srgbClr val="E2E8F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97530" y="6380346"/>
            <a:ext cx="5143768" cy="114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9AA2AE"/>
                </a:solidFill>
                <a:latin typeface="Helvetica Neue"/>
                <a:ea typeface="微软雅黑" panose="020B0503020204020204" charset="-122"/>
              </a:rPr>
              <a:t>幻衣 · 产品系统设计 · STAGE 02</a:t>
            </a:r>
            <a:endParaRPr sz="750" b="0" i="0">
              <a:solidFill>
                <a:srgbClr val="9AA2AE"/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404388" y="6284333"/>
            <a:ext cx="8380913" cy="0"/>
          </a:xfrm>
          <a:prstGeom prst="line">
            <a:avLst/>
          </a:prstGeom>
          <a:ln w="6350">
            <a:solidFill>
              <a:srgbClr val="E2E8F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48" y="795557"/>
            <a:ext cx="7544193" cy="220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功能拆解 · MVP 取舍 · 用户价值 · 商业收益 · 优先级矩阵</a:t>
            </a:r>
            <a:endParaRPr sz="120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97530" y="1182921"/>
            <a:ext cx="8401488" cy="683931"/>
          </a:xfrm>
          <a:prstGeom prst="roundRect">
            <a:avLst>
              <a:gd name="adj" fmla="val 6000"/>
            </a:avLst>
          </a:prstGeom>
          <a:solidFill>
            <a:srgbClr val="2C4A6E">
              <a:alpha val="100000"/>
            </a:srgbClr>
          </a:solidFill>
          <a:ln w="762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11" name="TextBox 10"/>
          <p:cNvSpPr txBox="1"/>
          <p:nvPr/>
        </p:nvSpPr>
        <p:spPr>
          <a:xfrm>
            <a:off x="466117" y="1266493"/>
            <a:ext cx="8127153" cy="161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F1F5F9"/>
                </a:solidFill>
                <a:latin typeface="Helvetica Neue"/>
                <a:ea typeface="微软雅黑" panose="020B0503020204020204" charset="-122"/>
              </a:rPr>
              <a:t>核心产品能力 · Core Capability</a:t>
            </a:r>
            <a:endParaRPr sz="1050" b="1" i="0">
              <a:solidFill>
                <a:srgbClr val="F1F5F9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6117" y="1458527"/>
            <a:ext cx="8127153" cy="3321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E2E8F0"/>
                </a:solidFill>
                <a:latin typeface="Helvetica Neue"/>
                <a:ea typeface="微软雅黑" panose="020B0503020204020204" charset="-122"/>
              </a:rPr>
              <a:t>以 AI 虚拟试穿引擎为绝对核心, 提供「上传自拍/商品图 → 10 秒真人级上身效果」能力; 叠加尺码智能推荐、面料垂感还原、多件一键对比三大辅助能力, 构成完整的「决策依据提供」闭环。C 端免费获客, B 端 SaaS 变现, 形成 C→B 数据回流。</a:t>
            </a:r>
            <a:endParaRPr sz="900" b="0" i="0">
              <a:solidFill>
                <a:srgbClr val="E2E8F0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9760" y="2100154"/>
            <a:ext cx="4115014" cy="161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242A33"/>
                </a:solidFill>
                <a:latin typeface="Helvetica Neue"/>
                <a:ea typeface="微软雅黑" panose="020B0503020204020204" charset="-122"/>
              </a:rPr>
              <a:t>功能拆解 · Feature Modules</a:t>
            </a:r>
            <a:endParaRPr sz="1050" b="1" i="0">
              <a:solidFill>
                <a:srgbClr val="242A33"/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404388" y="2442555"/>
            <a:ext cx="3045111" cy="0"/>
          </a:xfrm>
          <a:prstGeom prst="line">
            <a:avLst/>
          </a:prstGeom>
          <a:ln w="6350">
            <a:solidFill>
              <a:srgbClr val="E2E8F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 rot="45354">
            <a:off x="397530" y="2531713"/>
            <a:ext cx="2674759" cy="425218"/>
          </a:xfrm>
          <a:prstGeom prst="roundRect">
            <a:avLst>
              <a:gd name="adj" fmla="val 6000"/>
            </a:avLst>
          </a:prstGeom>
          <a:solidFill>
            <a:srgbClr val="E4ECF4">
              <a:alpha val="100000"/>
            </a:srgbClr>
          </a:solidFill>
          <a:ln w="889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16" name="Oval 15"/>
          <p:cNvSpPr/>
          <p:nvPr/>
        </p:nvSpPr>
        <p:spPr>
          <a:xfrm rot="3566">
            <a:off x="466113" y="2614014"/>
            <a:ext cx="274334" cy="274334"/>
          </a:xfrm>
          <a:prstGeom prst="ellipse">
            <a:avLst/>
          </a:prstGeom>
          <a:solidFill>
            <a:srgbClr val="2C4A6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17" name="TextBox 16"/>
          <p:cNvSpPr txBox="1"/>
          <p:nvPr/>
        </p:nvSpPr>
        <p:spPr>
          <a:xfrm>
            <a:off x="466113" y="2655164"/>
            <a:ext cx="274334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F1F5F9"/>
                </a:solidFill>
                <a:latin typeface="Helvetica Neue"/>
                <a:ea typeface="微软雅黑" panose="020B0503020204020204" charset="-122"/>
              </a:rPr>
              <a:t>F1</a:t>
            </a:r>
            <a:endParaRPr sz="900" b="1" i="0">
              <a:solidFill>
                <a:srgbClr val="F1F5F9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09031" y="2586580"/>
            <a:ext cx="1371671" cy="161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AI 虚拟试穿生成</a:t>
            </a:r>
            <a:endParaRPr sz="1050" b="1" i="0">
              <a:solidFill>
                <a:srgbClr val="2C4A6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9031" y="2751181"/>
            <a:ext cx="1646006" cy="109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15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上传即出真人级上身效果</a:t>
            </a:r>
            <a:endParaRPr sz="715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592204" y="2655164"/>
            <a:ext cx="411501" cy="114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6A7482"/>
                </a:solidFill>
                <a:latin typeface="Helvetica Neue"/>
                <a:ea typeface="微软雅黑" panose="020B0503020204020204" charset="-122"/>
              </a:rPr>
              <a:t>核心</a:t>
            </a:r>
            <a:endParaRPr sz="750" b="0" i="0">
              <a:solidFill>
                <a:srgbClr val="6A748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 rot="21561949">
            <a:off x="3175164" y="2483705"/>
            <a:ext cx="2674759" cy="425218"/>
          </a:xfrm>
          <a:prstGeom prst="roundRect">
            <a:avLst>
              <a:gd name="adj" fmla="val 6000"/>
            </a:avLst>
          </a:prstGeom>
          <a:solidFill>
            <a:srgbClr val="E8EEF6">
              <a:alpha val="100000"/>
            </a:srgbClr>
          </a:solidFill>
          <a:ln w="8890">
            <a:solidFill>
              <a:srgbClr val="3A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22" name="Oval 21"/>
          <p:cNvSpPr/>
          <p:nvPr/>
        </p:nvSpPr>
        <p:spPr>
          <a:xfrm rot="21572703">
            <a:off x="3243747" y="2566005"/>
            <a:ext cx="274334" cy="274334"/>
          </a:xfrm>
          <a:prstGeom prst="ellipse">
            <a:avLst/>
          </a:prstGeom>
          <a:solidFill>
            <a:srgbClr val="3A5E8C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23" name="TextBox 22"/>
          <p:cNvSpPr txBox="1"/>
          <p:nvPr/>
        </p:nvSpPr>
        <p:spPr>
          <a:xfrm>
            <a:off x="3243747" y="2607155"/>
            <a:ext cx="274334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F1F5F9"/>
                </a:solidFill>
                <a:latin typeface="Helvetica Neue"/>
                <a:ea typeface="微软雅黑" panose="020B0503020204020204" charset="-122"/>
              </a:rPr>
              <a:t>F2</a:t>
            </a:r>
            <a:endParaRPr sz="900" b="1" i="0">
              <a:solidFill>
                <a:srgbClr val="F1F5F9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586665" y="2538572"/>
            <a:ext cx="1371671" cy="161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3A5E8C"/>
                </a:solidFill>
                <a:latin typeface="Helvetica Neue"/>
                <a:ea typeface="微软雅黑" panose="020B0503020204020204" charset="-122"/>
              </a:rPr>
              <a:t>多件快速对比</a:t>
            </a:r>
            <a:endParaRPr sz="1050" b="1" i="0">
              <a:solidFill>
                <a:srgbClr val="3A5E8C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586665" y="2703172"/>
            <a:ext cx="1646006" cy="109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15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一键换衣, 版型/面料/尺码同屏</a:t>
            </a:r>
            <a:endParaRPr sz="715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369839" y="2607155"/>
            <a:ext cx="411501" cy="114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6A7482"/>
                </a:solidFill>
                <a:latin typeface="Helvetica Neue"/>
                <a:ea typeface="微软雅黑" panose="020B0503020204020204" charset="-122"/>
              </a:rPr>
              <a:t>辅助</a:t>
            </a:r>
            <a:endParaRPr sz="750" b="0" i="0">
              <a:solidFill>
                <a:srgbClr val="6A748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 rot="21536803">
            <a:off x="500405" y="3080382"/>
            <a:ext cx="2674759" cy="425218"/>
          </a:xfrm>
          <a:prstGeom prst="roundRect">
            <a:avLst>
              <a:gd name="adj" fmla="val 6000"/>
            </a:avLst>
          </a:prstGeom>
          <a:solidFill>
            <a:srgbClr val="E4ECF4">
              <a:alpha val="100000"/>
            </a:srgbClr>
          </a:solidFill>
          <a:ln w="889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28" name="Oval 27"/>
          <p:cNvSpPr/>
          <p:nvPr/>
        </p:nvSpPr>
        <p:spPr>
          <a:xfrm rot="52326">
            <a:off x="568988" y="3162682"/>
            <a:ext cx="274334" cy="274334"/>
          </a:xfrm>
          <a:prstGeom prst="ellipse">
            <a:avLst/>
          </a:prstGeom>
          <a:solidFill>
            <a:srgbClr val="2C4A6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29" name="TextBox 28"/>
          <p:cNvSpPr txBox="1"/>
          <p:nvPr/>
        </p:nvSpPr>
        <p:spPr>
          <a:xfrm>
            <a:off x="568988" y="3203832"/>
            <a:ext cx="274334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F1F5F9"/>
                </a:solidFill>
                <a:latin typeface="Helvetica Neue"/>
                <a:ea typeface="微软雅黑" panose="020B0503020204020204" charset="-122"/>
              </a:rPr>
              <a:t>F3</a:t>
            </a:r>
            <a:endParaRPr sz="900" b="1" i="0">
              <a:solidFill>
                <a:srgbClr val="F1F5F9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11906" y="3135249"/>
            <a:ext cx="1371671" cy="161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尺码智能推荐</a:t>
            </a:r>
            <a:endParaRPr sz="1050" b="1" i="0">
              <a:solidFill>
                <a:srgbClr val="2C4A6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11906" y="3299849"/>
            <a:ext cx="1646006" cy="109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15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身材数据+试穿反馈预测尺码</a:t>
            </a:r>
            <a:endParaRPr sz="715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695079" y="3203832"/>
            <a:ext cx="411501" cy="114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6A7482"/>
                </a:solidFill>
                <a:latin typeface="Helvetica Neue"/>
                <a:ea typeface="微软雅黑" panose="020B0503020204020204" charset="-122"/>
              </a:rPr>
              <a:t>核心</a:t>
            </a:r>
            <a:endParaRPr sz="750" b="0" i="0">
              <a:solidFill>
                <a:srgbClr val="6A748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 rot="21560587">
            <a:off x="3278040" y="3032374"/>
            <a:ext cx="2674759" cy="425218"/>
          </a:xfrm>
          <a:prstGeom prst="roundRect">
            <a:avLst>
              <a:gd name="adj" fmla="val 6000"/>
            </a:avLst>
          </a:prstGeom>
          <a:solidFill>
            <a:srgbClr val="E8EEF6">
              <a:alpha val="100000"/>
            </a:srgbClr>
          </a:solidFill>
          <a:ln w="8890">
            <a:solidFill>
              <a:srgbClr val="3A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34" name="Oval 33"/>
          <p:cNvSpPr/>
          <p:nvPr/>
        </p:nvSpPr>
        <p:spPr>
          <a:xfrm rot="21592318">
            <a:off x="3346623" y="3114674"/>
            <a:ext cx="274334" cy="274334"/>
          </a:xfrm>
          <a:prstGeom prst="ellipse">
            <a:avLst/>
          </a:prstGeom>
          <a:solidFill>
            <a:srgbClr val="3A5E8C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35" name="TextBox 34"/>
          <p:cNvSpPr txBox="1"/>
          <p:nvPr/>
        </p:nvSpPr>
        <p:spPr>
          <a:xfrm>
            <a:off x="3346623" y="3155824"/>
            <a:ext cx="274334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F1F5F9"/>
                </a:solidFill>
                <a:latin typeface="Helvetica Neue"/>
                <a:ea typeface="微软雅黑" panose="020B0503020204020204" charset="-122"/>
              </a:rPr>
              <a:t>F4</a:t>
            </a:r>
            <a:endParaRPr sz="900" b="1" i="0">
              <a:solidFill>
                <a:srgbClr val="F1F5F9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689541" y="3087240"/>
            <a:ext cx="1371671" cy="161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3A5E8C"/>
                </a:solidFill>
                <a:latin typeface="Helvetica Neue"/>
                <a:ea typeface="微软雅黑" panose="020B0503020204020204" charset="-122"/>
              </a:rPr>
              <a:t>面料垂感展示</a:t>
            </a:r>
            <a:endParaRPr sz="1050" b="1" i="0">
              <a:solidFill>
                <a:srgbClr val="3A5E8C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689541" y="3251841"/>
            <a:ext cx="1646006" cy="109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15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厚薄/垂感真实还原</a:t>
            </a:r>
            <a:endParaRPr sz="715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472714" y="3155824"/>
            <a:ext cx="411501" cy="114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6A7482"/>
                </a:solidFill>
                <a:latin typeface="Helvetica Neue"/>
                <a:ea typeface="微软雅黑" panose="020B0503020204020204" charset="-122"/>
              </a:rPr>
              <a:t>辅助</a:t>
            </a:r>
            <a:endParaRPr sz="750" b="0" i="0">
              <a:solidFill>
                <a:srgbClr val="6A748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 rot="21544120">
            <a:off x="397530" y="3629050"/>
            <a:ext cx="2674759" cy="425218"/>
          </a:xfrm>
          <a:prstGeom prst="roundRect">
            <a:avLst>
              <a:gd name="adj" fmla="val 6000"/>
            </a:avLst>
          </a:prstGeom>
          <a:solidFill>
            <a:srgbClr val="E8EEF6">
              <a:alpha val="100000"/>
            </a:srgbClr>
          </a:solidFill>
          <a:ln w="8890">
            <a:solidFill>
              <a:srgbClr val="4E72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40" name="Oval 39"/>
          <p:cNvSpPr/>
          <p:nvPr/>
        </p:nvSpPr>
        <p:spPr>
          <a:xfrm rot="21592644">
            <a:off x="466113" y="3711351"/>
            <a:ext cx="274334" cy="274334"/>
          </a:xfrm>
          <a:prstGeom prst="ellipse">
            <a:avLst/>
          </a:prstGeom>
          <a:solidFill>
            <a:srgbClr val="4E72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41" name="TextBox 40"/>
          <p:cNvSpPr txBox="1"/>
          <p:nvPr/>
        </p:nvSpPr>
        <p:spPr>
          <a:xfrm>
            <a:off x="466113" y="3752500"/>
            <a:ext cx="274334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F1F5F9"/>
                </a:solidFill>
                <a:latin typeface="Helvetica Neue"/>
                <a:ea typeface="微软雅黑" panose="020B0503020204020204" charset="-122"/>
              </a:rPr>
              <a:t>F5</a:t>
            </a:r>
            <a:endParaRPr sz="900" b="1" i="0">
              <a:solidFill>
                <a:srgbClr val="F1F5F9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09031" y="3683917"/>
            <a:ext cx="1371671" cy="161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4E729E"/>
                </a:solidFill>
                <a:latin typeface="Helvetica Neue"/>
                <a:ea typeface="微软雅黑" panose="020B0503020204020204" charset="-122"/>
              </a:rPr>
              <a:t>搭配建议</a:t>
            </a:r>
            <a:endParaRPr sz="1050" b="1" i="0">
              <a:solidFill>
                <a:srgbClr val="4E729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09031" y="3848518"/>
            <a:ext cx="1646006" cy="109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15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基于试穿结果推荐搭配</a:t>
            </a:r>
            <a:endParaRPr sz="715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592204" y="3752500"/>
            <a:ext cx="411501" cy="114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6A7482"/>
                </a:solidFill>
                <a:latin typeface="Helvetica Neue"/>
                <a:ea typeface="微软雅黑" panose="020B0503020204020204" charset="-122"/>
              </a:rPr>
              <a:t>辅助</a:t>
            </a:r>
            <a:endParaRPr sz="750" b="0" i="0">
              <a:solidFill>
                <a:srgbClr val="6A748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 rot="16933">
            <a:off x="3175164" y="3581042"/>
            <a:ext cx="2674759" cy="425218"/>
          </a:xfrm>
          <a:prstGeom prst="roundRect">
            <a:avLst>
              <a:gd name="adj" fmla="val 6000"/>
            </a:avLst>
          </a:prstGeom>
          <a:solidFill>
            <a:srgbClr val="E8EEF6">
              <a:alpha val="100000"/>
            </a:srgbClr>
          </a:solidFill>
          <a:ln w="8890">
            <a:solidFill>
              <a:srgbClr val="4E72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46" name="Oval 45"/>
          <p:cNvSpPr/>
          <p:nvPr/>
        </p:nvSpPr>
        <p:spPr>
          <a:xfrm rot="21579737">
            <a:off x="3243747" y="3663342"/>
            <a:ext cx="274334" cy="274334"/>
          </a:xfrm>
          <a:prstGeom prst="ellipse">
            <a:avLst/>
          </a:prstGeom>
          <a:solidFill>
            <a:srgbClr val="4E72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47" name="TextBox 46"/>
          <p:cNvSpPr txBox="1"/>
          <p:nvPr/>
        </p:nvSpPr>
        <p:spPr>
          <a:xfrm>
            <a:off x="3243747" y="3704493"/>
            <a:ext cx="274334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F1F5F9"/>
                </a:solidFill>
                <a:latin typeface="Helvetica Neue"/>
                <a:ea typeface="微软雅黑" panose="020B0503020204020204" charset="-122"/>
              </a:rPr>
              <a:t>F6</a:t>
            </a:r>
            <a:endParaRPr sz="900" b="1" i="0">
              <a:solidFill>
                <a:srgbClr val="F1F5F9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586665" y="3635909"/>
            <a:ext cx="1371671" cy="161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4E729E"/>
                </a:solidFill>
                <a:latin typeface="Helvetica Neue"/>
                <a:ea typeface="微软雅黑" panose="020B0503020204020204" charset="-122"/>
              </a:rPr>
              <a:t>试穿历史收藏</a:t>
            </a:r>
            <a:endParaRPr sz="1050" b="1" i="0">
              <a:solidFill>
                <a:srgbClr val="4E729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586665" y="3800510"/>
            <a:ext cx="1646006" cy="109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15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沉淀个人数据与偏好</a:t>
            </a:r>
            <a:endParaRPr sz="715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369839" y="3704493"/>
            <a:ext cx="411501" cy="114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6A7482"/>
                </a:solidFill>
                <a:latin typeface="Helvetica Neue"/>
                <a:ea typeface="微软雅黑" panose="020B0503020204020204" charset="-122"/>
              </a:rPr>
              <a:t>辅助</a:t>
            </a:r>
            <a:endParaRPr sz="750" b="0" i="0">
              <a:solidFill>
                <a:srgbClr val="6A7482"/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53" name="Connector 52"/>
          <p:cNvCxnSpPr/>
          <p:nvPr/>
        </p:nvCxnSpPr>
        <p:spPr>
          <a:xfrm>
            <a:off x="6021383" y="2744323"/>
            <a:ext cx="2674759" cy="0"/>
          </a:xfrm>
          <a:prstGeom prst="line">
            <a:avLst/>
          </a:prstGeom>
          <a:ln w="5080">
            <a:solidFill>
              <a:srgbClr val="E2E8F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 rot="62128">
            <a:off x="5952799" y="2517901"/>
            <a:ext cx="2880510" cy="906827"/>
          </a:xfrm>
          <a:prstGeom prst="roundRect">
            <a:avLst>
              <a:gd name="adj" fmla="val 6000"/>
            </a:avLst>
          </a:prstGeom>
          <a:solidFill>
            <a:srgbClr val="E8EEF6">
              <a:alpha val="100000"/>
            </a:srgbClr>
          </a:solidFill>
          <a:ln w="7620">
            <a:solidFill>
              <a:srgbClr val="3A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56" name="TextBox 55"/>
          <p:cNvSpPr txBox="1"/>
          <p:nvPr/>
        </p:nvSpPr>
        <p:spPr>
          <a:xfrm>
            <a:off x="5987091" y="2566100"/>
            <a:ext cx="2674759" cy="161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3A5E8C"/>
                </a:solidFill>
                <a:latin typeface="Helvetica Neue"/>
                <a:ea typeface="微软雅黑" panose="020B0503020204020204" charset="-122"/>
              </a:rPr>
              <a:t>用户获得价值</a:t>
            </a:r>
            <a:endParaRPr sz="1050" b="1" i="0">
              <a:solidFill>
                <a:srgbClr val="3A5E8C"/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57" name="Connector 56"/>
          <p:cNvCxnSpPr/>
          <p:nvPr/>
        </p:nvCxnSpPr>
        <p:spPr>
          <a:xfrm>
            <a:off x="6021383" y="3601617"/>
            <a:ext cx="2674759" cy="0"/>
          </a:xfrm>
          <a:prstGeom prst="line">
            <a:avLst/>
          </a:prstGeom>
          <a:ln w="5080">
            <a:solidFill>
              <a:srgbClr val="E2E8F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987091" y="2799285"/>
            <a:ext cx="2674759" cy="5664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65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决策有依据: 不再盲买两码
省时间: 省去排队与反复换装
降退货: 尺码推荐准确率&gt;85%
真实感: 面料垂感可预期</a:t>
            </a:r>
            <a:endParaRPr sz="765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59" name="Rounded Rectangle 58"/>
          <p:cNvSpPr/>
          <p:nvPr/>
        </p:nvSpPr>
        <p:spPr>
          <a:xfrm rot="21566730">
            <a:off x="5918507" y="3580947"/>
            <a:ext cx="2880510" cy="906351"/>
          </a:xfrm>
          <a:prstGeom prst="roundRect">
            <a:avLst>
              <a:gd name="adj" fmla="val 6000"/>
            </a:avLst>
          </a:prstGeom>
          <a:solidFill>
            <a:srgbClr val="ECF0F6">
              <a:alpha val="100000"/>
            </a:srgbClr>
          </a:solidFill>
          <a:ln w="7620">
            <a:solidFill>
              <a:srgbClr val="4E72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60" name="TextBox 59"/>
          <p:cNvSpPr txBox="1"/>
          <p:nvPr/>
        </p:nvSpPr>
        <p:spPr>
          <a:xfrm>
            <a:off x="5987091" y="3629146"/>
            <a:ext cx="2674759" cy="161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4E729E"/>
                </a:solidFill>
                <a:latin typeface="Helvetica Neue"/>
                <a:ea typeface="微软雅黑" panose="020B0503020204020204" charset="-122"/>
              </a:rPr>
              <a:t>平台商业收益</a:t>
            </a:r>
            <a:endParaRPr sz="1050" b="1" i="0">
              <a:solidFill>
                <a:srgbClr val="4E729E"/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61" name="Connector 60"/>
          <p:cNvCxnSpPr/>
          <p:nvPr/>
        </p:nvCxnSpPr>
        <p:spPr>
          <a:xfrm>
            <a:off x="6021383" y="4356036"/>
            <a:ext cx="2674759" cy="0"/>
          </a:xfrm>
          <a:prstGeom prst="line">
            <a:avLst/>
          </a:prstGeom>
          <a:ln w="5080">
            <a:solidFill>
              <a:srgbClr val="E2E8F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987091" y="3862330"/>
            <a:ext cx="2674759" cy="5664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65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C 端免费获客, 沉淀试穿数据
B 端 SaaS 订阅(设计师版)
品牌方交易佣金抽成
硬件销售(智能镜/挂衣架)</a:t>
            </a:r>
            <a:endParaRPr sz="765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97530" y="4674740"/>
            <a:ext cx="5280935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242A33"/>
                </a:solidFill>
                <a:latin typeface="Helvetica Neue"/>
                <a:ea typeface="微软雅黑" panose="020B0503020204020204" charset="-122"/>
              </a:rPr>
              <a:t>功能优先级矩阵 · Priority Matrix</a:t>
            </a:r>
            <a:endParaRPr sz="900" b="1" i="0">
              <a:solidFill>
                <a:srgbClr val="242A33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64" name="Rectangle 63"/>
          <p:cNvSpPr/>
          <p:nvPr/>
        </p:nvSpPr>
        <p:spPr>
          <a:xfrm rot="21561417">
            <a:off x="397530" y="5144523"/>
            <a:ext cx="2640468" cy="342918"/>
          </a:xfrm>
          <a:prstGeom prst="rect">
            <a:avLst/>
          </a:prstGeom>
          <a:solidFill>
            <a:srgbClr val="4E729E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65" name="Rectangle 64"/>
          <p:cNvSpPr/>
          <p:nvPr/>
        </p:nvSpPr>
        <p:spPr>
          <a:xfrm rot="21590154">
            <a:off x="3037997" y="5144523"/>
            <a:ext cx="2640468" cy="342918"/>
          </a:xfrm>
          <a:prstGeom prst="rect">
            <a:avLst/>
          </a:prstGeom>
          <a:solidFill>
            <a:srgbClr val="3A5E8C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66" name="Rectangle 65"/>
          <p:cNvSpPr/>
          <p:nvPr/>
        </p:nvSpPr>
        <p:spPr>
          <a:xfrm rot="21584950">
            <a:off x="397530" y="5407426"/>
            <a:ext cx="2640468" cy="342918"/>
          </a:xfrm>
          <a:prstGeom prst="rect">
            <a:avLst/>
          </a:prstGeom>
          <a:solidFill>
            <a:srgbClr val="9AA2AE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67" name="Rectangle 66"/>
          <p:cNvSpPr/>
          <p:nvPr/>
        </p:nvSpPr>
        <p:spPr>
          <a:xfrm rot="21592806">
            <a:off x="3037997" y="5407426"/>
            <a:ext cx="2640468" cy="342918"/>
          </a:xfrm>
          <a:prstGeom prst="rect">
            <a:avLst/>
          </a:prstGeom>
          <a:solidFill>
            <a:srgbClr val="2C4A6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cxnSp>
        <p:nvCxnSpPr>
          <p:cNvPr id="68" name="Connector 67"/>
          <p:cNvCxnSpPr/>
          <p:nvPr/>
        </p:nvCxnSpPr>
        <p:spPr>
          <a:xfrm>
            <a:off x="3037997" y="5064508"/>
            <a:ext cx="0" cy="685836"/>
          </a:xfrm>
          <a:prstGeom prst="line">
            <a:avLst/>
          </a:prstGeom>
          <a:ln w="6350">
            <a:solidFill>
              <a:srgbClr val="6A748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397530" y="5487440"/>
            <a:ext cx="5280935" cy="0"/>
          </a:xfrm>
          <a:prstGeom prst="line">
            <a:avLst/>
          </a:prstGeom>
          <a:ln w="6350">
            <a:solidFill>
              <a:srgbClr val="6A748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 rot="21574633">
            <a:off x="4076352" y="5213106"/>
            <a:ext cx="246901" cy="246901"/>
          </a:xfrm>
          <a:prstGeom prst="ellipse">
            <a:avLst/>
          </a:prstGeom>
          <a:solidFill>
            <a:srgbClr val="F1F5F9">
              <a:alpha val="100000"/>
            </a:srgbClr>
          </a:solidFill>
          <a:ln w="1270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71" name="TextBox 70"/>
          <p:cNvSpPr txBox="1"/>
          <p:nvPr/>
        </p:nvSpPr>
        <p:spPr>
          <a:xfrm>
            <a:off x="4076352" y="5254256"/>
            <a:ext cx="246901" cy="109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15" b="1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F1</a:t>
            </a:r>
            <a:endParaRPr sz="715" b="1" i="0">
              <a:solidFill>
                <a:srgbClr val="2C4A6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72" name="Oval 71"/>
          <p:cNvSpPr/>
          <p:nvPr/>
        </p:nvSpPr>
        <p:spPr>
          <a:xfrm rot="21585555">
            <a:off x="4762874" y="5158239"/>
            <a:ext cx="246901" cy="246901"/>
          </a:xfrm>
          <a:prstGeom prst="ellipse">
            <a:avLst/>
          </a:prstGeom>
          <a:solidFill>
            <a:srgbClr val="F1F5F9">
              <a:alpha val="100000"/>
            </a:srgbClr>
          </a:solidFill>
          <a:ln w="1270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73" name="TextBox 72"/>
          <p:cNvSpPr txBox="1"/>
          <p:nvPr/>
        </p:nvSpPr>
        <p:spPr>
          <a:xfrm>
            <a:off x="4762874" y="5199389"/>
            <a:ext cx="246901" cy="109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15" b="1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F3</a:t>
            </a:r>
            <a:endParaRPr sz="715" b="1" i="0">
              <a:solidFill>
                <a:srgbClr val="2C4A6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74" name="Oval 73"/>
          <p:cNvSpPr/>
          <p:nvPr/>
        </p:nvSpPr>
        <p:spPr>
          <a:xfrm rot="15348">
            <a:off x="3178593" y="5181100"/>
            <a:ext cx="246901" cy="246901"/>
          </a:xfrm>
          <a:prstGeom prst="ellipse">
            <a:avLst/>
          </a:prstGeom>
          <a:solidFill>
            <a:srgbClr val="F1F5F9">
              <a:alpha val="100000"/>
            </a:srgbClr>
          </a:solidFill>
          <a:ln w="12700">
            <a:solidFill>
              <a:srgbClr val="3A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75" name="TextBox 74"/>
          <p:cNvSpPr txBox="1"/>
          <p:nvPr/>
        </p:nvSpPr>
        <p:spPr>
          <a:xfrm>
            <a:off x="3178593" y="5302265"/>
            <a:ext cx="246901" cy="109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15" b="1" i="0">
                <a:solidFill>
                  <a:srgbClr val="3A5E8C"/>
                </a:solidFill>
                <a:latin typeface="Helvetica Neue"/>
                <a:ea typeface="微软雅黑" panose="020B0503020204020204" charset="-122"/>
              </a:rPr>
              <a:t>F2</a:t>
            </a:r>
            <a:endParaRPr sz="715" b="1" i="0">
              <a:solidFill>
                <a:srgbClr val="3A5E8C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76" name="Oval 75"/>
          <p:cNvSpPr/>
          <p:nvPr/>
        </p:nvSpPr>
        <p:spPr>
          <a:xfrm rot="21529082">
            <a:off x="1963978" y="5213106"/>
            <a:ext cx="246901" cy="246901"/>
          </a:xfrm>
          <a:prstGeom prst="ellipse">
            <a:avLst/>
          </a:prstGeom>
          <a:solidFill>
            <a:srgbClr val="F1F5F9">
              <a:alpha val="100000"/>
            </a:srgbClr>
          </a:solidFill>
          <a:ln w="12700">
            <a:solidFill>
              <a:srgbClr val="3A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77" name="TextBox 76"/>
          <p:cNvSpPr txBox="1"/>
          <p:nvPr/>
        </p:nvSpPr>
        <p:spPr>
          <a:xfrm>
            <a:off x="1963978" y="5254256"/>
            <a:ext cx="246901" cy="109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15" b="1" i="0">
                <a:solidFill>
                  <a:srgbClr val="3A5E8C"/>
                </a:solidFill>
                <a:latin typeface="Helvetica Neue"/>
                <a:ea typeface="微软雅黑" panose="020B0503020204020204" charset="-122"/>
              </a:rPr>
              <a:t>F4</a:t>
            </a:r>
            <a:endParaRPr sz="715" b="1" i="0">
              <a:solidFill>
                <a:srgbClr val="3A5E8C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78" name="Oval 77"/>
          <p:cNvSpPr/>
          <p:nvPr/>
        </p:nvSpPr>
        <p:spPr>
          <a:xfrm rot="71817">
            <a:off x="4393208" y="5421143"/>
            <a:ext cx="246901" cy="246901"/>
          </a:xfrm>
          <a:prstGeom prst="ellipse">
            <a:avLst/>
          </a:prstGeom>
          <a:solidFill>
            <a:srgbClr val="F1F5F9">
              <a:alpha val="100000"/>
            </a:srgbClr>
          </a:solidFill>
          <a:ln w="12700">
            <a:solidFill>
              <a:srgbClr val="4E72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79" name="TextBox 78"/>
          <p:cNvSpPr txBox="1"/>
          <p:nvPr/>
        </p:nvSpPr>
        <p:spPr>
          <a:xfrm>
            <a:off x="4393208" y="5462293"/>
            <a:ext cx="246901" cy="109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15" b="1" i="0">
                <a:solidFill>
                  <a:srgbClr val="4E729E"/>
                </a:solidFill>
                <a:latin typeface="Helvetica Neue"/>
                <a:ea typeface="微软雅黑" panose="020B0503020204020204" charset="-122"/>
              </a:rPr>
              <a:t>F5</a:t>
            </a:r>
            <a:endParaRPr sz="715" b="1" i="0">
              <a:solidFill>
                <a:srgbClr val="4E729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80" name="Oval 79"/>
          <p:cNvSpPr/>
          <p:nvPr/>
        </p:nvSpPr>
        <p:spPr>
          <a:xfrm rot="28281">
            <a:off x="1330266" y="5434860"/>
            <a:ext cx="246901" cy="246901"/>
          </a:xfrm>
          <a:prstGeom prst="ellipse">
            <a:avLst/>
          </a:prstGeom>
          <a:solidFill>
            <a:srgbClr val="F1F5F9">
              <a:alpha val="100000"/>
            </a:srgbClr>
          </a:solidFill>
          <a:ln w="12700">
            <a:solidFill>
              <a:srgbClr val="3E4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81" name="TextBox 80"/>
          <p:cNvSpPr txBox="1"/>
          <p:nvPr/>
        </p:nvSpPr>
        <p:spPr>
          <a:xfrm>
            <a:off x="1330266" y="5476010"/>
            <a:ext cx="246901" cy="109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15" b="1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F6</a:t>
            </a:r>
            <a:endParaRPr sz="715" b="1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56459">
            <a:off x="384068" y="467365"/>
            <a:ext cx="54867" cy="246901"/>
          </a:xfrm>
          <a:prstGeom prst="rect">
            <a:avLst/>
          </a:prstGeom>
          <a:solidFill>
            <a:srgbClr val="2C4A6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3" name="TextBox 2"/>
          <p:cNvSpPr txBox="1"/>
          <p:nvPr/>
        </p:nvSpPr>
        <p:spPr>
          <a:xfrm>
            <a:off x="493802" y="453648"/>
            <a:ext cx="6515439" cy="230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42A33"/>
                </a:solidFill>
                <a:latin typeface="Helvetica Neue"/>
                <a:ea typeface="微软雅黑" panose="020B0503020204020204" charset="-122"/>
              </a:rPr>
              <a:t>2.3  产品定义 · 硬件说明</a:t>
            </a:r>
            <a:endParaRPr sz="1500" b="1" i="0">
              <a:solidFill>
                <a:srgbClr val="242A33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16805" y="727983"/>
            <a:ext cx="6515439" cy="120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90" b="0" i="0" spc="40">
                <a:solidFill>
                  <a:srgbClr val="6A7482"/>
                </a:solidFill>
                <a:latin typeface="Helvetica Neue"/>
                <a:ea typeface="微软雅黑" panose="020B0503020204020204" charset="-122"/>
              </a:rPr>
              <a:t>HARDWARE  /  SMART FITTING MIRROR</a:t>
            </a:r>
            <a:endParaRPr sz="790" b="0" i="0" spc="40">
              <a:solidFill>
                <a:srgbClr val="6A7482"/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384068" y="700549"/>
            <a:ext cx="4691116" cy="0"/>
          </a:xfrm>
          <a:prstGeom prst="line">
            <a:avLst/>
          </a:prstGeom>
          <a:ln w="9525">
            <a:solidFill>
              <a:srgbClr val="E2E8F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77210" y="6260331"/>
            <a:ext cx="5143768" cy="114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9AA2AE"/>
                </a:solidFill>
                <a:latin typeface="Helvetica Neue"/>
                <a:ea typeface="微软雅黑" panose="020B0503020204020204" charset="-122"/>
              </a:rPr>
              <a:t>幻衣 · 产品系统设计 · STAGE 02</a:t>
            </a:r>
            <a:endParaRPr sz="750" b="0" i="0">
              <a:solidFill>
                <a:srgbClr val="9AA2AE"/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384068" y="6232898"/>
            <a:ext cx="8380913" cy="0"/>
          </a:xfrm>
          <a:prstGeom prst="line">
            <a:avLst/>
          </a:prstGeom>
          <a:ln w="6350">
            <a:solidFill>
              <a:srgbClr val="E2E8F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84068" y="1171477"/>
            <a:ext cx="7544193" cy="220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智能试衣镜 · 形态 / 参数 / CMF / 交互 / 成本 / 场景 / 局限与优化</a:t>
            </a:r>
            <a:endParaRPr sz="120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 rot="63318">
            <a:off x="548669" y="2023037"/>
            <a:ext cx="1646006" cy="3154844"/>
          </a:xfrm>
          <a:prstGeom prst="roundRect">
            <a:avLst>
              <a:gd name="adj" fmla="val 4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3E4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11" name="Rounded Rectangle 10"/>
          <p:cNvSpPr/>
          <p:nvPr/>
        </p:nvSpPr>
        <p:spPr>
          <a:xfrm rot="21536559">
            <a:off x="651544" y="2146487"/>
            <a:ext cx="1440255" cy="2811926"/>
          </a:xfrm>
          <a:prstGeom prst="roundRect">
            <a:avLst>
              <a:gd name="adj" fmla="val 3000"/>
            </a:avLst>
          </a:prstGeom>
          <a:solidFill>
            <a:srgbClr val="E8EEF6">
              <a:alpha val="100000"/>
            </a:srgbClr>
          </a:solidFill>
          <a:ln w="7620">
            <a:solidFill>
              <a:srgbClr val="6A7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12" name="TextBox 11"/>
          <p:cNvSpPr txBox="1"/>
          <p:nvPr/>
        </p:nvSpPr>
        <p:spPr>
          <a:xfrm>
            <a:off x="548669" y="2242504"/>
            <a:ext cx="1646006" cy="230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幻衣</a:t>
            </a:r>
            <a:endParaRPr sz="1500" b="1" i="0">
              <a:solidFill>
                <a:srgbClr val="2C4A6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 rot="22505">
            <a:off x="823003" y="2708872"/>
            <a:ext cx="480085" cy="1783173"/>
          </a:xfrm>
          <a:prstGeom prst="roundRect">
            <a:avLst>
              <a:gd name="adj" fmla="val 5000"/>
            </a:avLst>
          </a:prstGeom>
          <a:solidFill>
            <a:srgbClr val="E4ECF4">
              <a:alpha val="100000"/>
            </a:srgbClr>
          </a:solidFill>
          <a:ln w="6350">
            <a:solidFill>
              <a:srgbClr val="4E72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14" name="Rounded Rectangle 13"/>
          <p:cNvSpPr/>
          <p:nvPr/>
        </p:nvSpPr>
        <p:spPr>
          <a:xfrm rot="21545388">
            <a:off x="1440255" y="2708872"/>
            <a:ext cx="480085" cy="1783173"/>
          </a:xfrm>
          <a:prstGeom prst="roundRect">
            <a:avLst>
              <a:gd name="adj" fmla="val 5000"/>
            </a:avLst>
          </a:prstGeom>
          <a:solidFill>
            <a:srgbClr val="3A5E8C">
              <a:alpha val="18000"/>
            </a:srgbClr>
          </a:solidFill>
          <a:ln w="6350">
            <a:solidFill>
              <a:srgbClr val="3A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cxnSp>
        <p:nvCxnSpPr>
          <p:cNvPr id="15" name="Connector 14"/>
          <p:cNvCxnSpPr/>
          <p:nvPr/>
        </p:nvCxnSpPr>
        <p:spPr>
          <a:xfrm>
            <a:off x="651544" y="4663504"/>
            <a:ext cx="1440255" cy="0"/>
          </a:xfrm>
          <a:prstGeom prst="line">
            <a:avLst/>
          </a:prstGeom>
          <a:ln w="6350">
            <a:solidFill>
              <a:srgbClr val="6A7482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69" y="4732088"/>
            <a:ext cx="1646006" cy="120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9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智能试衣镜</a:t>
            </a:r>
            <a:endParaRPr sz="79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 rot="21551766">
            <a:off x="891586" y="5109298"/>
            <a:ext cx="960170" cy="82300"/>
          </a:xfrm>
          <a:prstGeom prst="roundRect">
            <a:avLst>
              <a:gd name="adj" fmla="val 30000"/>
            </a:avLst>
          </a:prstGeom>
          <a:solidFill>
            <a:srgbClr val="3E465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18" name="Rounded Rectangle 17"/>
          <p:cNvSpPr/>
          <p:nvPr/>
        </p:nvSpPr>
        <p:spPr>
          <a:xfrm rot="21586791">
            <a:off x="617252" y="5711662"/>
            <a:ext cx="1508839" cy="68584"/>
          </a:xfrm>
          <a:prstGeom prst="roundRect">
            <a:avLst>
              <a:gd name="adj" fmla="val 30000"/>
            </a:avLst>
          </a:prstGeom>
          <a:solidFill>
            <a:srgbClr val="6A748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19" name="TextBox 18"/>
          <p:cNvSpPr txBox="1"/>
          <p:nvPr/>
        </p:nvSpPr>
        <p:spPr>
          <a:xfrm>
            <a:off x="2469009" y="1920161"/>
            <a:ext cx="5829604" cy="207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242A33"/>
                </a:solidFill>
                <a:latin typeface="Helvetica Neue"/>
                <a:ea typeface="微软雅黑" panose="020B0503020204020204" charset="-122"/>
              </a:rPr>
              <a:t>智能试衣镜 · Smart Fitting Mirror</a:t>
            </a:r>
            <a:endParaRPr sz="1350" b="1" i="0">
              <a:solidFill>
                <a:srgbClr val="242A33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469009" y="2173921"/>
            <a:ext cx="5829604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快时尚线下门店 · 全身 AI 试穿 · 千元级部署</a:t>
            </a:r>
            <a:endParaRPr sz="900" b="0" i="0">
              <a:solidFill>
                <a:srgbClr val="2C4A6E"/>
              </a:solidFill>
              <a:latin typeface="Helvetica Neue"/>
              <a:ea typeface="微软雅黑" panose="020B0503020204020204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2469009" y="2400246"/>
            <a:ext cx="5761020" cy="0"/>
          </a:xfrm>
          <a:prstGeom prst="line">
            <a:avLst/>
          </a:prstGeom>
          <a:ln w="7620">
            <a:solidFill>
              <a:srgbClr val="E2E8F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 rot="52120">
            <a:off x="2469009" y="2537414"/>
            <a:ext cx="5898187" cy="274334"/>
          </a:xfrm>
          <a:prstGeom prst="roundRect">
            <a:avLst>
              <a:gd name="adj" fmla="val 6000"/>
            </a:avLst>
          </a:prstGeom>
          <a:solidFill>
            <a:srgbClr val="F1F5F9">
              <a:alpha val="100000"/>
            </a:srgbClr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23" name="Rectangle 22"/>
          <p:cNvSpPr/>
          <p:nvPr/>
        </p:nvSpPr>
        <p:spPr>
          <a:xfrm rot="67503">
            <a:off x="2469009" y="2537414"/>
            <a:ext cx="41150" cy="274334"/>
          </a:xfrm>
          <a:prstGeom prst="rect">
            <a:avLst/>
          </a:prstGeom>
          <a:solidFill>
            <a:srgbClr val="2C4A6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24" name="TextBox 23"/>
          <p:cNvSpPr txBox="1"/>
          <p:nvPr/>
        </p:nvSpPr>
        <p:spPr>
          <a:xfrm>
            <a:off x="2592459" y="2585422"/>
            <a:ext cx="685836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形态</a:t>
            </a:r>
            <a:endParaRPr sz="900" b="1" i="0">
              <a:solidFill>
                <a:srgbClr val="2C4A6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326303" y="2599139"/>
            <a:ext cx="4938017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55 寸立式落地屏, 整机高 180cm</a:t>
            </a:r>
            <a:endParaRPr sz="81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 rot="21532000">
            <a:off x="2469009" y="2852898"/>
            <a:ext cx="5898187" cy="274334"/>
          </a:xfrm>
          <a:prstGeom prst="roundRect">
            <a:avLst>
              <a:gd name="adj" fmla="val 6000"/>
            </a:avLst>
          </a:prstGeom>
          <a:solidFill>
            <a:srgbClr val="E8EEF6">
              <a:alpha val="100000"/>
            </a:srgbClr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27" name="Rectangle 26"/>
          <p:cNvSpPr/>
          <p:nvPr/>
        </p:nvSpPr>
        <p:spPr>
          <a:xfrm rot="4078">
            <a:off x="2469009" y="2852898"/>
            <a:ext cx="41150" cy="274334"/>
          </a:xfrm>
          <a:prstGeom prst="rect">
            <a:avLst/>
          </a:prstGeom>
          <a:solidFill>
            <a:srgbClr val="3A5E8C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28" name="TextBox 27"/>
          <p:cNvSpPr txBox="1"/>
          <p:nvPr/>
        </p:nvSpPr>
        <p:spPr>
          <a:xfrm>
            <a:off x="2592459" y="2900906"/>
            <a:ext cx="685836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3A5E8C"/>
                </a:solidFill>
                <a:latin typeface="Helvetica Neue"/>
                <a:ea typeface="微软雅黑" panose="020B0503020204020204" charset="-122"/>
              </a:rPr>
              <a:t>硬件参数</a:t>
            </a:r>
            <a:endParaRPr sz="900" b="1" i="0">
              <a:solidFill>
                <a:srgbClr val="3A5E8C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326303" y="2914623"/>
            <a:ext cx="4938017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4K 半透显示屏 · RGB+深度摄像头 · 6 核处理器 · 8GB 内存</a:t>
            </a:r>
            <a:endParaRPr sz="81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 rot="49871">
            <a:off x="2469009" y="3168382"/>
            <a:ext cx="5898187" cy="274334"/>
          </a:xfrm>
          <a:prstGeom prst="roundRect">
            <a:avLst>
              <a:gd name="adj" fmla="val 6000"/>
            </a:avLst>
          </a:prstGeom>
          <a:solidFill>
            <a:srgbClr val="F1F5F9">
              <a:alpha val="100000"/>
            </a:srgbClr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31" name="Rectangle 30"/>
          <p:cNvSpPr/>
          <p:nvPr/>
        </p:nvSpPr>
        <p:spPr>
          <a:xfrm rot="38198">
            <a:off x="2469009" y="3168382"/>
            <a:ext cx="41150" cy="274334"/>
          </a:xfrm>
          <a:prstGeom prst="rect">
            <a:avLst/>
          </a:prstGeom>
          <a:solidFill>
            <a:srgbClr val="2C4A6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32" name="TextBox 31"/>
          <p:cNvSpPr txBox="1"/>
          <p:nvPr/>
        </p:nvSpPr>
        <p:spPr>
          <a:xfrm>
            <a:off x="2592459" y="3216391"/>
            <a:ext cx="685836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CMF</a:t>
            </a:r>
            <a:endParaRPr sz="900" b="1" i="0">
              <a:solidFill>
                <a:srgbClr val="2C4A6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326303" y="3230108"/>
            <a:ext cx="4938017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哑光白机身 + 蓝灰磨砂操作面板, 阳极氧化铝边框</a:t>
            </a:r>
            <a:endParaRPr sz="81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 rot="21530450">
            <a:off x="2469009" y="3483867"/>
            <a:ext cx="5898187" cy="274334"/>
          </a:xfrm>
          <a:prstGeom prst="roundRect">
            <a:avLst>
              <a:gd name="adj" fmla="val 6000"/>
            </a:avLst>
          </a:prstGeom>
          <a:solidFill>
            <a:srgbClr val="E8EEF6">
              <a:alpha val="100000"/>
            </a:srgbClr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35" name="Rectangle 34"/>
          <p:cNvSpPr/>
          <p:nvPr/>
        </p:nvSpPr>
        <p:spPr>
          <a:xfrm rot="13934">
            <a:off x="2469009" y="3483867"/>
            <a:ext cx="41150" cy="274334"/>
          </a:xfrm>
          <a:prstGeom prst="rect">
            <a:avLst/>
          </a:prstGeom>
          <a:solidFill>
            <a:srgbClr val="3A5E8C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36" name="TextBox 35"/>
          <p:cNvSpPr txBox="1"/>
          <p:nvPr/>
        </p:nvSpPr>
        <p:spPr>
          <a:xfrm>
            <a:off x="2592459" y="3531875"/>
            <a:ext cx="685836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3A5E8C"/>
                </a:solidFill>
                <a:latin typeface="Helvetica Neue"/>
                <a:ea typeface="微软雅黑" panose="020B0503020204020204" charset="-122"/>
              </a:rPr>
              <a:t>交互方式</a:t>
            </a:r>
            <a:endParaRPr sz="900" b="1" i="0">
              <a:solidFill>
                <a:srgbClr val="3A5E8C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326303" y="3545592"/>
            <a:ext cx="4938017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手势识别 + 语音指令 + 触屏三重交互</a:t>
            </a:r>
            <a:endParaRPr sz="81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 rot="59891">
            <a:off x="2469009" y="3799351"/>
            <a:ext cx="5898187" cy="274334"/>
          </a:xfrm>
          <a:prstGeom prst="roundRect">
            <a:avLst>
              <a:gd name="adj" fmla="val 6000"/>
            </a:avLst>
          </a:prstGeom>
          <a:solidFill>
            <a:srgbClr val="F1F5F9">
              <a:alpha val="100000"/>
            </a:srgbClr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39" name="Rectangle 38"/>
          <p:cNvSpPr/>
          <p:nvPr/>
        </p:nvSpPr>
        <p:spPr>
          <a:xfrm rot="12256">
            <a:off x="2469009" y="3799351"/>
            <a:ext cx="41150" cy="274334"/>
          </a:xfrm>
          <a:prstGeom prst="rect">
            <a:avLst/>
          </a:prstGeom>
          <a:solidFill>
            <a:srgbClr val="2C4A6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40" name="TextBox 39"/>
          <p:cNvSpPr txBox="1"/>
          <p:nvPr/>
        </p:nvSpPr>
        <p:spPr>
          <a:xfrm>
            <a:off x="2592459" y="3847360"/>
            <a:ext cx="685836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部署成本</a:t>
            </a:r>
            <a:endParaRPr sz="900" b="1" i="0">
              <a:solidFill>
                <a:srgbClr val="2C4A6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326303" y="3861077"/>
            <a:ext cx="4938017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&lt; 1000 元 / 台(对比立式机柜 6–9K)</a:t>
            </a:r>
            <a:endParaRPr sz="81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 rot="21554714">
            <a:off x="2469009" y="4114836"/>
            <a:ext cx="5898187" cy="274334"/>
          </a:xfrm>
          <a:prstGeom prst="roundRect">
            <a:avLst>
              <a:gd name="adj" fmla="val 6000"/>
            </a:avLst>
          </a:prstGeom>
          <a:solidFill>
            <a:srgbClr val="E8EEF6">
              <a:alpha val="100000"/>
            </a:srgbClr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43" name="Rectangle 42"/>
          <p:cNvSpPr/>
          <p:nvPr/>
        </p:nvSpPr>
        <p:spPr>
          <a:xfrm rot="49809">
            <a:off x="2469009" y="4114836"/>
            <a:ext cx="41150" cy="274334"/>
          </a:xfrm>
          <a:prstGeom prst="rect">
            <a:avLst/>
          </a:prstGeom>
          <a:solidFill>
            <a:srgbClr val="3A5E8C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44" name="TextBox 43"/>
          <p:cNvSpPr txBox="1"/>
          <p:nvPr/>
        </p:nvSpPr>
        <p:spPr>
          <a:xfrm>
            <a:off x="2592459" y="4162844"/>
            <a:ext cx="685836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3A5E8C"/>
                </a:solidFill>
                <a:latin typeface="Helvetica Neue"/>
                <a:ea typeface="微软雅黑" panose="020B0503020204020204" charset="-122"/>
              </a:rPr>
              <a:t>适用场景</a:t>
            </a:r>
            <a:endParaRPr sz="900" b="1" i="0">
              <a:solidFill>
                <a:srgbClr val="3A5E8C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326303" y="4176561"/>
            <a:ext cx="4938017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快时尚线下门店、商场中庭、品牌快闪店</a:t>
            </a:r>
            <a:endParaRPr sz="81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 rot="5733">
            <a:off x="2469009" y="4430320"/>
            <a:ext cx="5898187" cy="274334"/>
          </a:xfrm>
          <a:prstGeom prst="roundRect">
            <a:avLst>
              <a:gd name="adj" fmla="val 6000"/>
            </a:avLst>
          </a:prstGeom>
          <a:solidFill>
            <a:srgbClr val="F1F5F9">
              <a:alpha val="100000"/>
            </a:srgbClr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47" name="Rectangle 46"/>
          <p:cNvSpPr/>
          <p:nvPr/>
        </p:nvSpPr>
        <p:spPr>
          <a:xfrm rot="69556">
            <a:off x="2469009" y="4430320"/>
            <a:ext cx="41150" cy="274334"/>
          </a:xfrm>
          <a:prstGeom prst="rect">
            <a:avLst/>
          </a:prstGeom>
          <a:solidFill>
            <a:srgbClr val="3E465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48" name="TextBox 47"/>
          <p:cNvSpPr txBox="1"/>
          <p:nvPr/>
        </p:nvSpPr>
        <p:spPr>
          <a:xfrm>
            <a:off x="2592459" y="4478329"/>
            <a:ext cx="685836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局限</a:t>
            </a:r>
            <a:endParaRPr sz="900" b="1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326303" y="4492045"/>
            <a:ext cx="4938017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立式形态占地大, 无法进卧室; 需门店网络稳定</a:t>
            </a:r>
            <a:endParaRPr sz="81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 rot="21582724">
            <a:off x="2469009" y="4745805"/>
            <a:ext cx="5898187" cy="274334"/>
          </a:xfrm>
          <a:prstGeom prst="roundRect">
            <a:avLst>
              <a:gd name="adj" fmla="val 6000"/>
            </a:avLst>
          </a:prstGeom>
          <a:solidFill>
            <a:srgbClr val="E8EEF6">
              <a:alpha val="100000"/>
            </a:srgbClr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51" name="Rectangle 50"/>
          <p:cNvSpPr/>
          <p:nvPr/>
        </p:nvSpPr>
        <p:spPr>
          <a:xfrm rot="21589099">
            <a:off x="2469009" y="4745805"/>
            <a:ext cx="41150" cy="274334"/>
          </a:xfrm>
          <a:prstGeom prst="rect">
            <a:avLst/>
          </a:prstGeom>
          <a:solidFill>
            <a:srgbClr val="2C4A6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52" name="TextBox 51"/>
          <p:cNvSpPr txBox="1"/>
          <p:nvPr/>
        </p:nvSpPr>
        <p:spPr>
          <a:xfrm>
            <a:off x="2592459" y="4793813"/>
            <a:ext cx="685836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优化方向</a:t>
            </a:r>
            <a:endParaRPr sz="900" b="1" i="0">
              <a:solidFill>
                <a:srgbClr val="2C4A6E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326303" y="4807530"/>
            <a:ext cx="4938017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0" b="0" i="0">
                <a:solidFill>
                  <a:srgbClr val="3E4652"/>
                </a:solidFill>
                <a:latin typeface="Helvetica Neue"/>
                <a:ea typeface="微软雅黑" panose="020B0503020204020204" charset="-122"/>
              </a:rPr>
              <a:t>推出桌面款缩小形态, 增加离线缓存能力</a:t>
            </a:r>
            <a:endParaRPr sz="810" b="0" i="0">
              <a:solidFill>
                <a:srgbClr val="3E4652"/>
              </a:solidFill>
              <a:latin typeface="Helvetica Neue"/>
              <a:ea typeface="微软雅黑" panose="020B0503020204020204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 rot="14763">
            <a:off x="377210" y="5766530"/>
            <a:ext cx="8401488" cy="377210"/>
          </a:xfrm>
          <a:prstGeom prst="roundRect">
            <a:avLst>
              <a:gd name="adj" fmla="val 6000"/>
            </a:avLst>
          </a:prstGeom>
          <a:solidFill>
            <a:srgbClr val="E4ECF4">
              <a:alpha val="100000"/>
            </a:srgbClr>
          </a:solidFill>
          <a:ln w="6350">
            <a:solidFill>
              <a:srgbClr val="4E72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55" name="TextBox 54"/>
          <p:cNvSpPr txBox="1"/>
          <p:nvPr/>
        </p:nvSpPr>
        <p:spPr>
          <a:xfrm>
            <a:off x="514377" y="5821397"/>
            <a:ext cx="8127153" cy="325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2C4A6E"/>
                </a:solidFill>
                <a:latin typeface="Helvetica Neue"/>
                <a:ea typeface="微软雅黑" panose="020B0503020204020204" charset="-122"/>
              </a:rPr>
              <a:t>落地可行性: 硬件成本控制在千元级以内, 远低于现有立式机柜(6–9K); RFID+视觉识别技术成熟, 供应链可在珠三角 3 个月内量产; 隐私合规通过数据脱敏与用户授权机制满足; 建议先在快时尚门店试点验证, 再向工作室与居家场景扩展。</a:t>
            </a:r>
            <a:endParaRPr sz="900" b="1" i="0">
              <a:solidFill>
                <a:srgbClr val="2C4A6E"/>
              </a:solidFill>
              <a:latin typeface="Helvetica Neue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7801</Words>
  <Application>WPS 演示</Application>
  <PresentationFormat>On-screen Show (4:3)</PresentationFormat>
  <Paragraphs>1195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7" baseType="lpstr">
      <vt:lpstr>Arial</vt:lpstr>
      <vt:lpstr>宋体</vt:lpstr>
      <vt:lpstr>Wingdings</vt:lpstr>
      <vt:lpstr>Arial</vt:lpstr>
      <vt:lpstr>微软雅黑</vt:lpstr>
      <vt:lpstr>Helvetica Neue</vt:lpstr>
      <vt:lpstr>Helvetica</vt:lpstr>
      <vt:lpstr>Bodoni 72</vt:lpstr>
      <vt:lpstr>Source Han Serif SC</vt:lpstr>
      <vt:lpstr>Calibri</vt:lpstr>
      <vt:lpstr>Arial Unicode MS</vt:lpstr>
      <vt:lpstr>KSOFF895EEBB</vt:lpstr>
      <vt:lpstr>AMGDT</vt:lpstr>
      <vt:lpstr>KSOFF8957A5C</vt:lpstr>
      <vt:lpstr>KSOFB4AB0A6B</vt:lpstr>
      <vt:lpstr>KSOF7FC4CF2A</vt:lpstr>
      <vt:lpstr>Source Han Serif SC Heavy</vt:lpstr>
      <vt:lpstr>MS PGothic</vt:lpstr>
      <vt:lpstr>KSOFF896631A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GAWDLS℡</cp:lastModifiedBy>
  <cp:revision>10</cp:revision>
  <dcterms:created xsi:type="dcterms:W3CDTF">2013-01-27T09:14:00Z</dcterms:created>
  <dcterms:modified xsi:type="dcterms:W3CDTF">2026-10-10T01:53:14Z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6EC6214F80584F6699941DE1CF8CEA2C_13</vt:lpwstr>
  </property>
</Properties>
</file>